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4" r:id="rId4"/>
    <p:sldId id="265" r:id="rId5"/>
    <p:sldId id="266" r:id="rId6"/>
    <p:sldId id="276" r:id="rId7"/>
    <p:sldId id="260" r:id="rId8"/>
    <p:sldId id="262" r:id="rId9"/>
    <p:sldId id="268" r:id="rId10"/>
    <p:sldId id="263" r:id="rId11"/>
    <p:sldId id="271" r:id="rId12"/>
    <p:sldId id="27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37" autoAdjust="0"/>
    <p:restoredTop sz="94660"/>
  </p:normalViewPr>
  <p:slideViewPr>
    <p:cSldViewPr snapToGrid="0">
      <p:cViewPr varScale="1">
        <p:scale>
          <a:sx n="83" d="100"/>
          <a:sy n="83" d="100"/>
        </p:scale>
        <p:origin x="2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8DA70-F013-23F8-15CA-FD393BC8AF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9D4D18-3371-4927-CD7A-3810C0739A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9E278B-056F-0062-FA6B-CCCDB710A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6AE1-06FC-40A2-A00E-0D3C522C088E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9EB53-E38C-9543-F8CD-BBCADBF72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FC639C-4872-CE7B-10A6-9CD8C10B2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FAA2E-6E4C-4CA8-A8CA-73D5BF13C57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8616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4FB1F-C345-7CDD-E449-120DE0B7F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AE9B3-242C-5EF0-94C5-936DB28DB2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6034C-F770-6CE7-A511-BD37D38B4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6AE1-06FC-40A2-A00E-0D3C522C088E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364C5E-7EAF-8786-F756-40BCC878B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16F5A-8D7C-FB3C-5446-43B76732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FAA2E-6E4C-4CA8-A8CA-73D5BF13C57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7850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6152E-217D-834B-7E0C-BA121E2A0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8425A-CA99-7393-3BBC-1248DFF84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E7065-B899-DA75-F1EE-BFB85BDC3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6AE1-06FC-40A2-A00E-0D3C522C088E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1C598-A9B1-6178-0927-9A64879CB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A4BD7-5378-C37E-45EE-B91336FE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FAA2E-6E4C-4CA8-A8CA-73D5BF13C57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4540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374A5-3AC4-0A4A-400D-E5361853E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42DD0-14B9-6173-DBDA-E350FCCB92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D1C825-7C51-4E7F-974B-902896897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8C9AB0-8384-B8CD-1170-EB2AAAEFC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6AE1-06FC-40A2-A00E-0D3C522C088E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AB6BAC-BF1E-6DCA-9F4B-43E39F3CF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CFD2F3-1D0A-C1F7-9BB5-CF88AD890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FAA2E-6E4C-4CA8-A8CA-73D5BF13C57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774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CB21B-C93E-8C55-D9E9-17A153B8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53566B-8138-A44B-7390-87AB2CC0E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58B19D-9AE3-39DE-2544-284F902A1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1792C3-E6DD-21FD-CEBA-5F3C06B5C3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C0319D-95ED-6C69-99BC-18E8260C9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67D0D0-CC87-0B62-38DD-131CA219D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6AE1-06FC-40A2-A00E-0D3C522C088E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09480E-D12A-4E39-E93F-18724ED28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279C7-5F3D-348F-EA67-9351C3480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FAA2E-6E4C-4CA8-A8CA-73D5BF13C57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9822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A2556-1A0F-41A5-5494-3236D2094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ECB10C-1043-19EC-0184-2D62AEA47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6AE1-06FC-40A2-A00E-0D3C522C088E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4AC93-7D2A-B3BF-6A8C-E619D731B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19FA53-AFE9-62ED-1FEF-DA811CA6F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FAA2E-6E4C-4CA8-A8CA-73D5BF13C57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66254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714DC6-0266-44C2-6250-5062E2C57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6AE1-06FC-40A2-A00E-0D3C522C088E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8F0EBD-FBE8-9849-0367-8EC34BE5F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61AAE-DA7F-5126-31D9-58662CBF4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FAA2E-6E4C-4CA8-A8CA-73D5BF13C57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31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94DC9-863A-5CC9-55B8-9F7E20F54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DA324-A5C4-5D0F-3F02-2F4EB277D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F0F18-B9FA-EEA0-4E71-5CAAD3FB9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8E46F7-9D3D-CE8F-5C2F-9DEA7A3A5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6AE1-06FC-40A2-A00E-0D3C522C088E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05736-4196-4AE8-3BEF-C43D3A9B2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77CF5C-67C0-5543-A317-4DFB74883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FAA2E-6E4C-4CA8-A8CA-73D5BF13C57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34951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62590-79A5-10BC-E6CA-C2D22C661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3FD5A1-FE15-461F-BF70-F8ABCA4BE2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A198-382D-818E-DC0A-248BE12A7B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5F694-53F3-9BB6-0378-A0BD8BD0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6AE1-06FC-40A2-A00E-0D3C522C088E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F54D90-3C4C-0BB2-53D5-B3E713857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40B55-86AD-7DA5-8146-5EF631739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FAA2E-6E4C-4CA8-A8CA-73D5BF13C57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31926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0945E-0722-320A-6A6D-96D2B1999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E8EBBB-AEE8-C311-7033-A2E3138EDE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94C80-F03F-00A9-96DC-84853B78F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6AE1-06FC-40A2-A00E-0D3C522C088E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B9B07B-3851-27E2-33D7-AC2E2029B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8CD2A-7BCC-6082-7298-F30C6B7E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FAA2E-6E4C-4CA8-A8CA-73D5BF13C57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842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ADF93B-527A-7DAA-BFC9-699947DED4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B3A2B-4D7B-54AD-7C95-FA1D49CB1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69BAA-9DCA-8BE3-2FCD-1A7836B2F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B66AE1-06FC-40A2-A00E-0D3C522C088E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A4629-7A85-3FC1-BB91-AFC7D3666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2A380-A93B-86BB-CD39-82720501D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CFAA2E-6E4C-4CA8-A8CA-73D5BF13C57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5113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501AF8-83C5-CFF5-86DC-F49F0FB23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72BF7-61E7-0399-1EC4-49DC2C6B00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91C94D-443D-0DD6-3965-5291AE065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B66AE1-06FC-40A2-A00E-0D3C522C088E}" type="datetimeFigureOut">
              <a:rPr lang="en-CA" smtClean="0"/>
              <a:t>2026-02-04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F789EE-6791-F0C1-2FE9-C3BEF0D5F1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CD555-31FA-500D-6C9C-6480E7AB2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CFAA2E-6E4C-4CA8-A8CA-73D5BF13C57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66673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cbi.nlm.nih.gov/books/NBK3932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D2E05-0EEC-B61B-9F19-6676FDF02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My Current Implementation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0CD7F9-0E2D-941D-6FC8-27141B207C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8801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FB847-B415-9A34-58BD-41594ED36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Parts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7EBCF-5189-A71E-C72D-16AC815DE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770"/>
            <a:ext cx="10515600" cy="4904105"/>
          </a:xfrm>
        </p:spPr>
        <p:txBody>
          <a:bodyPr>
            <a:normAutofit/>
          </a:bodyPr>
          <a:lstStyle/>
          <a:p>
            <a:r>
              <a:rPr lang="en-CA" dirty="0"/>
              <a:t>System Verilog</a:t>
            </a:r>
          </a:p>
          <a:p>
            <a:pPr lvl="1"/>
            <a:r>
              <a:rPr lang="en-CA" dirty="0"/>
              <a:t>GRU Cell Parallel</a:t>
            </a:r>
          </a:p>
          <a:p>
            <a:pPr lvl="1"/>
            <a:r>
              <a:rPr lang="en-CA" dirty="0"/>
              <a:t>GRU Hidden State Element</a:t>
            </a:r>
          </a:p>
          <a:p>
            <a:pPr lvl="1"/>
            <a:r>
              <a:rPr lang="en-CA" dirty="0"/>
              <a:t>GRU New Gate Element</a:t>
            </a:r>
          </a:p>
          <a:p>
            <a:pPr lvl="1"/>
            <a:r>
              <a:rPr lang="en-CA" dirty="0"/>
              <a:t>GRU Reset Gate Element</a:t>
            </a:r>
          </a:p>
          <a:p>
            <a:pPr lvl="1"/>
            <a:r>
              <a:rPr lang="en-CA" dirty="0"/>
              <a:t>GRU Update Gate Element</a:t>
            </a:r>
          </a:p>
          <a:p>
            <a:r>
              <a:rPr lang="en-CA" dirty="0"/>
              <a:t>Python</a:t>
            </a:r>
          </a:p>
          <a:p>
            <a:pPr lvl="1"/>
            <a:r>
              <a:rPr lang="en-CA" dirty="0"/>
              <a:t>Generate Ground Truth</a:t>
            </a:r>
          </a:p>
          <a:p>
            <a:pPr lvl="1"/>
            <a:r>
              <a:rPr lang="en-CA" dirty="0"/>
              <a:t>Generate Testbench</a:t>
            </a:r>
          </a:p>
          <a:p>
            <a:pPr lvl="1"/>
            <a:r>
              <a:rPr lang="en-CA" dirty="0"/>
              <a:t>Extract Metrics</a:t>
            </a:r>
          </a:p>
        </p:txBody>
      </p:sp>
    </p:spTree>
    <p:extLst>
      <p:ext uri="{BB962C8B-B14F-4D97-AF65-F5344CB8AC3E}">
        <p14:creationId xmlns:p14="http://schemas.microsoft.com/office/powerpoint/2010/main" val="1771048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A643F-52DE-77DA-C3F8-79398991B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GRU Cell Parallel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A24B6-32D6-41EA-DAAC-EF8D73D75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FSM that processes in four stages: reset gates, update gates, new gates, and hidden state</a:t>
            </a:r>
          </a:p>
          <a:p>
            <a:r>
              <a:rPr lang="en-CA" dirty="0"/>
              <a:t>For each stage, go through three stages: initialize, compute, and wait</a:t>
            </a:r>
          </a:p>
          <a:p>
            <a:r>
              <a:rPr lang="en-CA" dirty="0"/>
              <a:t>Parallel processes N elements simultaneously</a:t>
            </a:r>
          </a:p>
          <a:p>
            <a:r>
              <a:rPr lang="en-CA" dirty="0"/>
              <a:t>Cycle through batches until H elements are processed</a:t>
            </a:r>
          </a:p>
          <a:p>
            <a:r>
              <a:rPr lang="en-CA" dirty="0"/>
              <a:t>If H=10 and N=4, processes [0-3], [4-7], then [8-9]</a:t>
            </a:r>
          </a:p>
        </p:txBody>
      </p:sp>
    </p:spTree>
    <p:extLst>
      <p:ext uri="{BB962C8B-B14F-4D97-AF65-F5344CB8AC3E}">
        <p14:creationId xmlns:p14="http://schemas.microsoft.com/office/powerpoint/2010/main" val="3597601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EDD3D-1C4F-7A18-30D4-C723CF0DC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3A37-0754-9090-51FB-CE40DAB9A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GRU * Element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03C57-23F3-E2F5-B990-04A8E3371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770"/>
            <a:ext cx="10515600" cy="4904105"/>
          </a:xfrm>
        </p:spPr>
        <p:txBody>
          <a:bodyPr>
            <a:normAutofit/>
          </a:bodyPr>
          <a:lstStyle/>
          <a:p>
            <a:r>
              <a:rPr lang="en-CA" dirty="0"/>
              <a:t>Each module computes 1 element of a specific equations:</a:t>
            </a:r>
          </a:p>
          <a:p>
            <a:pPr lvl="1"/>
            <a:r>
              <a:rPr lang="en-CA" dirty="0"/>
              <a:t>GRU Hidden State Element</a:t>
            </a:r>
          </a:p>
          <a:p>
            <a:pPr lvl="1"/>
            <a:r>
              <a:rPr lang="en-CA" dirty="0"/>
              <a:t>GRU New Gate Element</a:t>
            </a:r>
          </a:p>
          <a:p>
            <a:pPr lvl="1"/>
            <a:r>
              <a:rPr lang="en-CA" dirty="0"/>
              <a:t>GRU Reset Gate Element</a:t>
            </a:r>
          </a:p>
          <a:p>
            <a:pPr lvl="1"/>
            <a:r>
              <a:rPr lang="en-CA" dirty="0"/>
              <a:t>GRU Update Gate Element</a:t>
            </a:r>
          </a:p>
          <a:p>
            <a:r>
              <a:rPr lang="en-CA" dirty="0"/>
              <a:t>Allows parallelization by generating an amount of modules</a:t>
            </a:r>
          </a:p>
        </p:txBody>
      </p:sp>
    </p:spTree>
    <p:extLst>
      <p:ext uri="{BB962C8B-B14F-4D97-AF65-F5344CB8AC3E}">
        <p14:creationId xmlns:p14="http://schemas.microsoft.com/office/powerpoint/2010/main" val="1470928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B7173-EF7A-5698-6132-8530471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D3889-5D26-0F8C-A9C6-8E82ECE3C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Generate Ground Truth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22594-2E87-9560-AB8B-4912642C8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770"/>
            <a:ext cx="10515600" cy="4904105"/>
          </a:xfrm>
        </p:spPr>
        <p:txBody>
          <a:bodyPr>
            <a:normAutofit/>
          </a:bodyPr>
          <a:lstStyle/>
          <a:p>
            <a:r>
              <a:rPr lang="en-CA" dirty="0"/>
              <a:t>Python: Load same weights and biases as used in the GRU</a:t>
            </a:r>
          </a:p>
          <a:p>
            <a:r>
              <a:rPr lang="en-CA" dirty="0"/>
              <a:t>Python: Run all the test vectors through a GRU implemented with NumPy to create a ground truth</a:t>
            </a:r>
          </a:p>
          <a:p>
            <a:r>
              <a:rPr lang="en-CA" dirty="0"/>
              <a:t>SystemVerilog: Run GRU hardware simulation via Vivado</a:t>
            </a:r>
          </a:p>
          <a:p>
            <a:r>
              <a:rPr lang="en-CA" dirty="0"/>
              <a:t>SystemVerilog: Save simulation outputs to a text file</a:t>
            </a:r>
          </a:p>
          <a:p>
            <a:r>
              <a:rPr lang="en-CA" dirty="0"/>
              <a:t>Python: Convert simulation outputs from fixed point to floating point</a:t>
            </a:r>
          </a:p>
          <a:p>
            <a:r>
              <a:rPr lang="en-CA" dirty="0"/>
              <a:t>Python: Compare simulation outputs to NumPy outputs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29847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5BF45-0DB5-8558-52CE-D41F1AE0A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13180B-0BA0-6306-1AFA-D4A25BADD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050" y="1466835"/>
            <a:ext cx="12042840" cy="4453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72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EF0FB-6D24-E9E9-C3AC-E5185877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4A86A-FC7F-87DA-CDC2-00212E176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Thermal and Power Things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BF90CB-ED57-F083-CA5D-B8F2FB690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0989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D8BB4-40DC-C75F-6D77-F1CDA0C85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How Thermal and Power Is Calculated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AE618-766B-7595-2B8A-ABAC49966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Thermals are first calculated based on input parameters</a:t>
            </a:r>
          </a:p>
          <a:p>
            <a:r>
              <a:rPr lang="en-CA" dirty="0"/>
              <a:t>Power is calculated based on thermals and input parameters</a:t>
            </a:r>
          </a:p>
          <a:p>
            <a:r>
              <a:rPr lang="en-CA" dirty="0"/>
              <a:t>Parameters:</a:t>
            </a:r>
          </a:p>
          <a:p>
            <a:pPr lvl="1"/>
            <a:r>
              <a:rPr lang="en-CA" dirty="0"/>
              <a:t>Toggle Rate</a:t>
            </a:r>
          </a:p>
          <a:p>
            <a:pPr lvl="1"/>
            <a:r>
              <a:rPr lang="en-CA" dirty="0"/>
              <a:t>Static Probability</a:t>
            </a:r>
          </a:p>
          <a:p>
            <a:pPr lvl="1"/>
            <a:r>
              <a:rPr lang="en-CA" dirty="0"/>
              <a:t>Ambient temperature</a:t>
            </a:r>
          </a:p>
          <a:p>
            <a:pPr lvl="1"/>
            <a:r>
              <a:rPr lang="en-CA" dirty="0"/>
              <a:t>Airflow</a:t>
            </a:r>
          </a:p>
          <a:p>
            <a:pPr lvl="1"/>
            <a:r>
              <a:rPr lang="en-CA" dirty="0"/>
              <a:t>Voltage Used</a:t>
            </a:r>
          </a:p>
          <a:p>
            <a:pPr lvl="1"/>
            <a:r>
              <a:rPr lang="en-CA" dirty="0"/>
              <a:t>Heat sink type</a:t>
            </a:r>
          </a:p>
          <a:p>
            <a:pPr lvl="1"/>
            <a:r>
              <a:rPr lang="en-CA" dirty="0"/>
              <a:t>And many others</a:t>
            </a:r>
          </a:p>
        </p:txBody>
      </p:sp>
    </p:spTree>
    <p:extLst>
      <p:ext uri="{BB962C8B-B14F-4D97-AF65-F5344CB8AC3E}">
        <p14:creationId xmlns:p14="http://schemas.microsoft.com/office/powerpoint/2010/main" val="3689563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906CA-1000-8139-6829-D23C6A666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85026-EF55-2CB0-1B2F-F2952415B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Thermal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67AF0-CD55-FBB4-CF7E-6A824C5E1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Researched based on implantable placed right on the brain</a:t>
            </a:r>
          </a:p>
          <a:p>
            <a:r>
              <a:rPr lang="en-CA" dirty="0"/>
              <a:t>For I</a:t>
            </a:r>
            <a:r>
              <a:rPr lang="en-US" dirty="0" err="1"/>
              <a:t>mplanted</a:t>
            </a:r>
            <a:r>
              <a:rPr lang="en-US" dirty="0"/>
              <a:t> Cortical BCIs there are limits of </a:t>
            </a:r>
            <a:r>
              <a:rPr lang="en-CA" dirty="0"/>
              <a:t>a 2°C temperature increase, of 40 </a:t>
            </a:r>
            <a:r>
              <a:rPr lang="en-CA" dirty="0" err="1"/>
              <a:t>mW</a:t>
            </a:r>
            <a:r>
              <a:rPr lang="en-CA" dirty="0"/>
              <a:t>/cm</a:t>
            </a:r>
            <a:r>
              <a:rPr lang="en-CA" baseline="30000" dirty="0"/>
              <a:t>2</a:t>
            </a:r>
            <a:r>
              <a:rPr lang="en-CA" dirty="0"/>
              <a:t> heat flux, and of 1.6 </a:t>
            </a:r>
            <a:r>
              <a:rPr lang="en-CA" dirty="0" err="1"/>
              <a:t>mW</a:t>
            </a:r>
            <a:r>
              <a:rPr lang="en-CA" dirty="0"/>
              <a:t>/g of SAR for devices</a:t>
            </a:r>
          </a:p>
          <a:p>
            <a:pPr lvl="1"/>
            <a:r>
              <a:rPr lang="en-CA" dirty="0">
                <a:hlinkClick r:id="rId2"/>
              </a:rPr>
              <a:t>https://www.ncbi.nlm.nih.gov/books/NBK3932</a:t>
            </a:r>
            <a:r>
              <a:rPr lang="en-CA">
                <a:hlinkClick r:id="rId2"/>
              </a:rPr>
              <a:t>/</a:t>
            </a:r>
            <a:r>
              <a:rPr lang="en-CA"/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67908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8F591-9A46-C973-368E-5CDD4199E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925FD-EAE0-605A-530C-A7746D7CE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Simulation Testing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6EB29-2BA2-9E56-9308-279B990CEC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86893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B40-0413-EB60-5E5E-5E21DA64C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Simulation Testing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2D34D-A159-1B5F-2651-7CB7E7C5A6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Independent Variables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CE8AD2-6846-D611-0864-BA01BDF3F74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Different sized FPGAs: Largest Possible and Test FPGA</a:t>
            </a:r>
          </a:p>
          <a:p>
            <a:r>
              <a:rPr lang="en-CA" dirty="0"/>
              <a:t>Clock Period: Test clock speed vs power usage</a:t>
            </a:r>
          </a:p>
          <a:p>
            <a:r>
              <a:rPr lang="en-CA" dirty="0"/>
              <a:t>Number of Parallel Units: Test hardware area vs speed</a:t>
            </a:r>
          </a:p>
          <a:p>
            <a:r>
              <a:rPr lang="en-CA" dirty="0"/>
              <a:t>BRAM power optimization: Should help power optimization at the cost of more hardware used</a:t>
            </a:r>
          </a:p>
          <a:p>
            <a:endParaRPr lang="en-C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6D431A-E6BA-CBF4-C38D-71BA03A1B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CA" dirty="0"/>
              <a:t>Dependent Variables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8255AC-DA00-BDF5-04D9-4F6DA6F973F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dirty="0"/>
              <a:t>Power Characteristics</a:t>
            </a:r>
          </a:p>
          <a:p>
            <a:r>
              <a:rPr lang="en-CA" dirty="0"/>
              <a:t>Timing metrics</a:t>
            </a:r>
          </a:p>
          <a:p>
            <a:r>
              <a:rPr lang="en-CA" dirty="0"/>
              <a:t>Hardware usage</a:t>
            </a:r>
          </a:p>
          <a:p>
            <a:r>
              <a:rPr lang="en-CA" dirty="0"/>
              <a:t>Accuracy 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629458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A0D8B-49E8-CCBE-0780-D4C9F7D3A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Physical Testing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5973A-5F52-D633-E612-381DEFC9F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Choose design from simulation design space</a:t>
            </a:r>
          </a:p>
          <a:p>
            <a:r>
              <a:rPr lang="en-CA" dirty="0"/>
              <a:t>Implement the design so that it can take in data and use the GRU</a:t>
            </a:r>
          </a:p>
          <a:p>
            <a:r>
              <a:rPr lang="en-CA" dirty="0"/>
              <a:t>Run on FPGA to determine</a:t>
            </a:r>
          </a:p>
          <a:p>
            <a:pPr lvl="1"/>
            <a:r>
              <a:rPr lang="en-CA" dirty="0"/>
              <a:t>Power characteristics</a:t>
            </a:r>
          </a:p>
          <a:p>
            <a:pPr lvl="1"/>
            <a:r>
              <a:rPr lang="en-CA" dirty="0"/>
              <a:t>Thermal characteristics</a:t>
            </a:r>
          </a:p>
        </p:txBody>
      </p:sp>
    </p:spTree>
    <p:extLst>
      <p:ext uri="{BB962C8B-B14F-4D97-AF65-F5344CB8AC3E}">
        <p14:creationId xmlns:p14="http://schemas.microsoft.com/office/powerpoint/2010/main" val="369747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407</Words>
  <Application>Microsoft Office PowerPoint</Application>
  <PresentationFormat>Widescreen</PresentationFormat>
  <Paragraphs>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My Current Implementation</vt:lpstr>
      <vt:lpstr>Parts</vt:lpstr>
      <vt:lpstr>GRU Cell Parallel</vt:lpstr>
      <vt:lpstr>GRU * Element</vt:lpstr>
      <vt:lpstr>Generate Ground Truth</vt:lpstr>
      <vt:lpstr>Results</vt:lpstr>
      <vt:lpstr>Thermal and Power Things</vt:lpstr>
      <vt:lpstr>How Thermal and Power Is Calculated</vt:lpstr>
      <vt:lpstr>Thermal Goals</vt:lpstr>
      <vt:lpstr>Simulation Testing Plan</vt:lpstr>
      <vt:lpstr>Simulation Testing Plan</vt:lpstr>
      <vt:lpstr>Physical Testing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Aleksander Berezowski</dc:creator>
  <cp:lastModifiedBy>Aleksander Berezowski</cp:lastModifiedBy>
  <cp:revision>7</cp:revision>
  <dcterms:created xsi:type="dcterms:W3CDTF">2026-01-30T19:48:19Z</dcterms:created>
  <dcterms:modified xsi:type="dcterms:W3CDTF">2026-02-04T23:59:49Z</dcterms:modified>
</cp:coreProperties>
</file>