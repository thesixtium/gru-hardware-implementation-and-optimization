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3"/>
  </p:notesMasterIdLst>
  <p:sldIdLst>
    <p:sldId id="348" r:id="rId2"/>
    <p:sldId id="351" r:id="rId3"/>
    <p:sldId id="353" r:id="rId4"/>
    <p:sldId id="355" r:id="rId5"/>
    <p:sldId id="352" r:id="rId6"/>
    <p:sldId id="354" r:id="rId7"/>
    <p:sldId id="349" r:id="rId8"/>
    <p:sldId id="356" r:id="rId9"/>
    <p:sldId id="374" r:id="rId10"/>
    <p:sldId id="358" r:id="rId11"/>
    <p:sldId id="359" r:id="rId12"/>
    <p:sldId id="375" r:id="rId13"/>
    <p:sldId id="376" r:id="rId14"/>
    <p:sldId id="377" r:id="rId15"/>
    <p:sldId id="360" r:id="rId16"/>
    <p:sldId id="378" r:id="rId17"/>
    <p:sldId id="361" r:id="rId18"/>
    <p:sldId id="362" r:id="rId19"/>
    <p:sldId id="379" r:id="rId20"/>
    <p:sldId id="380" r:id="rId21"/>
    <p:sldId id="363" r:id="rId22"/>
    <p:sldId id="381" r:id="rId23"/>
    <p:sldId id="364" r:id="rId24"/>
    <p:sldId id="365" r:id="rId25"/>
    <p:sldId id="366" r:id="rId26"/>
    <p:sldId id="367" r:id="rId27"/>
    <p:sldId id="368" r:id="rId28"/>
    <p:sldId id="369" r:id="rId29"/>
    <p:sldId id="370" r:id="rId30"/>
    <p:sldId id="371" r:id="rId31"/>
    <p:sldId id="373"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6" autoAdjust="0"/>
    <p:restoredTop sz="94660"/>
  </p:normalViewPr>
  <p:slideViewPr>
    <p:cSldViewPr snapToGrid="0">
      <p:cViewPr>
        <p:scale>
          <a:sx n="83" d="100"/>
          <a:sy n="83" d="100"/>
        </p:scale>
        <p:origin x="390" y="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F82122-9EC8-42EF-9500-4E8E723804F6}" type="datetimeFigureOut">
              <a:rPr lang="en-CA" smtClean="0"/>
              <a:t>2026-03-18</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E9BFCB-2526-4EFF-8F31-0452FAD5960B}" type="slidenum">
              <a:rPr lang="en-CA" smtClean="0"/>
              <a:t>‹#›</a:t>
            </a:fld>
            <a:endParaRPr lang="en-CA"/>
          </a:p>
        </p:txBody>
      </p:sp>
    </p:spTree>
    <p:extLst>
      <p:ext uri="{BB962C8B-B14F-4D97-AF65-F5344CB8AC3E}">
        <p14:creationId xmlns:p14="http://schemas.microsoft.com/office/powerpoint/2010/main" val="22855050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p:cNvGrpSpPr/>
        <p:nvPr/>
      </p:nvGrpSpPr>
      <p:grpSpPr>
        <a:xfrm>
          <a:off x="0" y="0"/>
          <a:ext cx="0" cy="0"/>
          <a:chOff x="0" y="0"/>
          <a:chExt cx="0" cy="0"/>
        </a:xfrm>
      </p:grpSpPr>
      <p:sp>
        <p:nvSpPr>
          <p:cNvPr id="39" name="Google Shape;39;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 name="Google Shape;4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a:extLst>
            <a:ext uri="{FF2B5EF4-FFF2-40B4-BE49-F238E27FC236}">
              <a16:creationId xmlns:a16="http://schemas.microsoft.com/office/drawing/2014/main" id="{6577C919-2268-95D3-1174-102027E6429E}"/>
            </a:ext>
          </a:extLst>
        </p:cNvPr>
        <p:cNvGrpSpPr/>
        <p:nvPr/>
      </p:nvGrpSpPr>
      <p:grpSpPr>
        <a:xfrm>
          <a:off x="0" y="0"/>
          <a:ext cx="0" cy="0"/>
          <a:chOff x="0" y="0"/>
          <a:chExt cx="0" cy="0"/>
        </a:xfrm>
      </p:grpSpPr>
      <p:sp>
        <p:nvSpPr>
          <p:cNvPr id="47" name="Google Shape;47;g346bd409b32_4_0:notes">
            <a:extLst>
              <a:ext uri="{FF2B5EF4-FFF2-40B4-BE49-F238E27FC236}">
                <a16:creationId xmlns:a16="http://schemas.microsoft.com/office/drawing/2014/main" id="{F228D5DD-0ACA-0398-03EC-0081279AE14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 name="Google Shape;48;g346bd409b32_4_0:notes">
            <a:extLst>
              <a:ext uri="{FF2B5EF4-FFF2-40B4-BE49-F238E27FC236}">
                <a16:creationId xmlns:a16="http://schemas.microsoft.com/office/drawing/2014/main" id="{FAB34D71-8ABE-72F8-C0D6-6504D477361C}"/>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g346bd409b32_4_0:notes">
            <a:extLst>
              <a:ext uri="{FF2B5EF4-FFF2-40B4-BE49-F238E27FC236}">
                <a16:creationId xmlns:a16="http://schemas.microsoft.com/office/drawing/2014/main" id="{4D3B9390-BE89-F420-9DED-1775872BA41C}"/>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170142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a:extLst>
            <a:ext uri="{FF2B5EF4-FFF2-40B4-BE49-F238E27FC236}">
              <a16:creationId xmlns:a16="http://schemas.microsoft.com/office/drawing/2014/main" id="{B68847C3-37E4-DCCA-DA4F-8DFBCD2E1F18}"/>
            </a:ext>
          </a:extLst>
        </p:cNvPr>
        <p:cNvGrpSpPr/>
        <p:nvPr/>
      </p:nvGrpSpPr>
      <p:grpSpPr>
        <a:xfrm>
          <a:off x="0" y="0"/>
          <a:ext cx="0" cy="0"/>
          <a:chOff x="0" y="0"/>
          <a:chExt cx="0" cy="0"/>
        </a:xfrm>
      </p:grpSpPr>
      <p:sp>
        <p:nvSpPr>
          <p:cNvPr id="47" name="Google Shape;47;g346bd409b32_4_0:notes">
            <a:extLst>
              <a:ext uri="{FF2B5EF4-FFF2-40B4-BE49-F238E27FC236}">
                <a16:creationId xmlns:a16="http://schemas.microsoft.com/office/drawing/2014/main" id="{C869D33D-7C58-A398-76D9-81580FBA15D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 name="Google Shape;48;g346bd409b32_4_0:notes">
            <a:extLst>
              <a:ext uri="{FF2B5EF4-FFF2-40B4-BE49-F238E27FC236}">
                <a16:creationId xmlns:a16="http://schemas.microsoft.com/office/drawing/2014/main" id="{E8A91AB4-F3A6-EE54-BEAA-1FF66FF4BB79}"/>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g346bd409b32_4_0:notes">
            <a:extLst>
              <a:ext uri="{FF2B5EF4-FFF2-40B4-BE49-F238E27FC236}">
                <a16:creationId xmlns:a16="http://schemas.microsoft.com/office/drawing/2014/main" id="{0766269C-8333-06C2-5DC3-A02151E0DDDE}"/>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18061276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a:extLst>
            <a:ext uri="{FF2B5EF4-FFF2-40B4-BE49-F238E27FC236}">
              <a16:creationId xmlns:a16="http://schemas.microsoft.com/office/drawing/2014/main" id="{3AF6050F-06DE-9C58-9289-6894D6E2CA43}"/>
            </a:ext>
          </a:extLst>
        </p:cNvPr>
        <p:cNvGrpSpPr/>
        <p:nvPr/>
      </p:nvGrpSpPr>
      <p:grpSpPr>
        <a:xfrm>
          <a:off x="0" y="0"/>
          <a:ext cx="0" cy="0"/>
          <a:chOff x="0" y="0"/>
          <a:chExt cx="0" cy="0"/>
        </a:xfrm>
      </p:grpSpPr>
      <p:sp>
        <p:nvSpPr>
          <p:cNvPr id="47" name="Google Shape;47;g346bd409b32_4_0:notes">
            <a:extLst>
              <a:ext uri="{FF2B5EF4-FFF2-40B4-BE49-F238E27FC236}">
                <a16:creationId xmlns:a16="http://schemas.microsoft.com/office/drawing/2014/main" id="{50EEFC8B-6F8E-F9E8-57B1-B37FAE10830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 name="Google Shape;48;g346bd409b32_4_0:notes">
            <a:extLst>
              <a:ext uri="{FF2B5EF4-FFF2-40B4-BE49-F238E27FC236}">
                <a16:creationId xmlns:a16="http://schemas.microsoft.com/office/drawing/2014/main" id="{D32335B5-3A37-21CD-A862-30557C4C5C93}"/>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g346bd409b32_4_0:notes">
            <a:extLst>
              <a:ext uri="{FF2B5EF4-FFF2-40B4-BE49-F238E27FC236}">
                <a16:creationId xmlns:a16="http://schemas.microsoft.com/office/drawing/2014/main" id="{02BD9238-C6D4-924A-CA61-3FE43835A904}"/>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21198761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a:extLst>
            <a:ext uri="{FF2B5EF4-FFF2-40B4-BE49-F238E27FC236}">
              <a16:creationId xmlns:a16="http://schemas.microsoft.com/office/drawing/2014/main" id="{56836AF1-A75B-9E3C-36DE-9271C910405B}"/>
            </a:ext>
          </a:extLst>
        </p:cNvPr>
        <p:cNvGrpSpPr/>
        <p:nvPr/>
      </p:nvGrpSpPr>
      <p:grpSpPr>
        <a:xfrm>
          <a:off x="0" y="0"/>
          <a:ext cx="0" cy="0"/>
          <a:chOff x="0" y="0"/>
          <a:chExt cx="0" cy="0"/>
        </a:xfrm>
      </p:grpSpPr>
      <p:sp>
        <p:nvSpPr>
          <p:cNvPr id="47" name="Google Shape;47;g346bd409b32_4_0:notes">
            <a:extLst>
              <a:ext uri="{FF2B5EF4-FFF2-40B4-BE49-F238E27FC236}">
                <a16:creationId xmlns:a16="http://schemas.microsoft.com/office/drawing/2014/main" id="{FEF67877-62CA-8712-0F71-FDC26258D0E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 name="Google Shape;48;g346bd409b32_4_0:notes">
            <a:extLst>
              <a:ext uri="{FF2B5EF4-FFF2-40B4-BE49-F238E27FC236}">
                <a16:creationId xmlns:a16="http://schemas.microsoft.com/office/drawing/2014/main" id="{FB26D13D-CDE2-256F-32AE-75E7B9134D09}"/>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g346bd409b32_4_0:notes">
            <a:extLst>
              <a:ext uri="{FF2B5EF4-FFF2-40B4-BE49-F238E27FC236}">
                <a16:creationId xmlns:a16="http://schemas.microsoft.com/office/drawing/2014/main" id="{4527B0E2-1B5A-A2C9-D117-23E2A817E66A}"/>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Tree>
    <p:extLst>
      <p:ext uri="{BB962C8B-B14F-4D97-AF65-F5344CB8AC3E}">
        <p14:creationId xmlns:p14="http://schemas.microsoft.com/office/powerpoint/2010/main" val="18484192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a:extLst>
            <a:ext uri="{FF2B5EF4-FFF2-40B4-BE49-F238E27FC236}">
              <a16:creationId xmlns:a16="http://schemas.microsoft.com/office/drawing/2014/main" id="{128BBD95-F95C-9393-D9FA-6D56493B4AED}"/>
            </a:ext>
          </a:extLst>
        </p:cNvPr>
        <p:cNvGrpSpPr/>
        <p:nvPr/>
      </p:nvGrpSpPr>
      <p:grpSpPr>
        <a:xfrm>
          <a:off x="0" y="0"/>
          <a:ext cx="0" cy="0"/>
          <a:chOff x="0" y="0"/>
          <a:chExt cx="0" cy="0"/>
        </a:xfrm>
      </p:grpSpPr>
      <p:sp>
        <p:nvSpPr>
          <p:cNvPr id="47" name="Google Shape;47;g346bd409b32_4_0:notes">
            <a:extLst>
              <a:ext uri="{FF2B5EF4-FFF2-40B4-BE49-F238E27FC236}">
                <a16:creationId xmlns:a16="http://schemas.microsoft.com/office/drawing/2014/main" id="{B88BFF60-EE39-770D-8E08-E5DDB7F366A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 name="Google Shape;48;g346bd409b32_4_0:notes">
            <a:extLst>
              <a:ext uri="{FF2B5EF4-FFF2-40B4-BE49-F238E27FC236}">
                <a16:creationId xmlns:a16="http://schemas.microsoft.com/office/drawing/2014/main" id="{7E42B067-B159-BFD7-FEE6-E8C40E2D19A3}"/>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g346bd409b32_4_0:notes">
            <a:extLst>
              <a:ext uri="{FF2B5EF4-FFF2-40B4-BE49-F238E27FC236}">
                <a16:creationId xmlns:a16="http://schemas.microsoft.com/office/drawing/2014/main" id="{0631DEAF-DAD2-466F-4585-3180BEA7FB8D}"/>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42085507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a:extLst>
            <a:ext uri="{FF2B5EF4-FFF2-40B4-BE49-F238E27FC236}">
              <a16:creationId xmlns:a16="http://schemas.microsoft.com/office/drawing/2014/main" id="{5B8CA69A-B0A0-BC8E-7EA2-CA0569F20632}"/>
            </a:ext>
          </a:extLst>
        </p:cNvPr>
        <p:cNvGrpSpPr/>
        <p:nvPr/>
      </p:nvGrpSpPr>
      <p:grpSpPr>
        <a:xfrm>
          <a:off x="0" y="0"/>
          <a:ext cx="0" cy="0"/>
          <a:chOff x="0" y="0"/>
          <a:chExt cx="0" cy="0"/>
        </a:xfrm>
      </p:grpSpPr>
      <p:sp>
        <p:nvSpPr>
          <p:cNvPr id="47" name="Google Shape;47;g346bd409b32_4_0:notes">
            <a:extLst>
              <a:ext uri="{FF2B5EF4-FFF2-40B4-BE49-F238E27FC236}">
                <a16:creationId xmlns:a16="http://schemas.microsoft.com/office/drawing/2014/main" id="{0EC8C24D-6854-9956-59D4-509CA44E682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 name="Google Shape;48;g346bd409b32_4_0:notes">
            <a:extLst>
              <a:ext uri="{FF2B5EF4-FFF2-40B4-BE49-F238E27FC236}">
                <a16:creationId xmlns:a16="http://schemas.microsoft.com/office/drawing/2014/main" id="{0DBDC310-8115-4019-BDF3-6B9E7E1B247C}"/>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g346bd409b32_4_0:notes">
            <a:extLst>
              <a:ext uri="{FF2B5EF4-FFF2-40B4-BE49-F238E27FC236}">
                <a16:creationId xmlns:a16="http://schemas.microsoft.com/office/drawing/2014/main" id="{D4ED7D61-C3E8-129E-31DD-9AB71B90E5EC}"/>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5079170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a:extLst>
            <a:ext uri="{FF2B5EF4-FFF2-40B4-BE49-F238E27FC236}">
              <a16:creationId xmlns:a16="http://schemas.microsoft.com/office/drawing/2014/main" id="{4867EFAE-A8E9-BCFC-AD73-2FC5265E250D}"/>
            </a:ext>
          </a:extLst>
        </p:cNvPr>
        <p:cNvGrpSpPr/>
        <p:nvPr/>
      </p:nvGrpSpPr>
      <p:grpSpPr>
        <a:xfrm>
          <a:off x="0" y="0"/>
          <a:ext cx="0" cy="0"/>
          <a:chOff x="0" y="0"/>
          <a:chExt cx="0" cy="0"/>
        </a:xfrm>
      </p:grpSpPr>
      <p:sp>
        <p:nvSpPr>
          <p:cNvPr id="47" name="Google Shape;47;g346bd409b32_4_0:notes">
            <a:extLst>
              <a:ext uri="{FF2B5EF4-FFF2-40B4-BE49-F238E27FC236}">
                <a16:creationId xmlns:a16="http://schemas.microsoft.com/office/drawing/2014/main" id="{20158836-DDF9-C6E4-B761-E69D4A4A2D6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 name="Google Shape;48;g346bd409b32_4_0:notes">
            <a:extLst>
              <a:ext uri="{FF2B5EF4-FFF2-40B4-BE49-F238E27FC236}">
                <a16:creationId xmlns:a16="http://schemas.microsoft.com/office/drawing/2014/main" id="{14270E9F-A1CE-A521-EAF5-FF297FD89F14}"/>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g346bd409b32_4_0:notes">
            <a:extLst>
              <a:ext uri="{FF2B5EF4-FFF2-40B4-BE49-F238E27FC236}">
                <a16:creationId xmlns:a16="http://schemas.microsoft.com/office/drawing/2014/main" id="{9CAA0C2C-B1E9-7315-852C-3429FAF16205}"/>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39110772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a:extLst>
            <a:ext uri="{FF2B5EF4-FFF2-40B4-BE49-F238E27FC236}">
              <a16:creationId xmlns:a16="http://schemas.microsoft.com/office/drawing/2014/main" id="{D1B7FFEE-9FB3-0F42-24FA-3D5A8B4E4A8C}"/>
            </a:ext>
          </a:extLst>
        </p:cNvPr>
        <p:cNvGrpSpPr/>
        <p:nvPr/>
      </p:nvGrpSpPr>
      <p:grpSpPr>
        <a:xfrm>
          <a:off x="0" y="0"/>
          <a:ext cx="0" cy="0"/>
          <a:chOff x="0" y="0"/>
          <a:chExt cx="0" cy="0"/>
        </a:xfrm>
      </p:grpSpPr>
      <p:sp>
        <p:nvSpPr>
          <p:cNvPr id="47" name="Google Shape;47;g346bd409b32_4_0:notes">
            <a:extLst>
              <a:ext uri="{FF2B5EF4-FFF2-40B4-BE49-F238E27FC236}">
                <a16:creationId xmlns:a16="http://schemas.microsoft.com/office/drawing/2014/main" id="{F888C051-A03D-CFB9-AC7B-994DF6B7493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 name="Google Shape;48;g346bd409b32_4_0:notes">
            <a:extLst>
              <a:ext uri="{FF2B5EF4-FFF2-40B4-BE49-F238E27FC236}">
                <a16:creationId xmlns:a16="http://schemas.microsoft.com/office/drawing/2014/main" id="{282FF49A-CEB1-2D28-8EEB-3EE64CC1D4F0}"/>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g346bd409b32_4_0:notes">
            <a:extLst>
              <a:ext uri="{FF2B5EF4-FFF2-40B4-BE49-F238E27FC236}">
                <a16:creationId xmlns:a16="http://schemas.microsoft.com/office/drawing/2014/main" id="{83B9D57C-7495-42B5-25CB-06FF3E250EC0}"/>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68266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a:extLst>
            <a:ext uri="{FF2B5EF4-FFF2-40B4-BE49-F238E27FC236}">
              <a16:creationId xmlns:a16="http://schemas.microsoft.com/office/drawing/2014/main" id="{CDC77E90-C5F3-C802-766E-205FAF0B627D}"/>
            </a:ext>
          </a:extLst>
        </p:cNvPr>
        <p:cNvGrpSpPr/>
        <p:nvPr/>
      </p:nvGrpSpPr>
      <p:grpSpPr>
        <a:xfrm>
          <a:off x="0" y="0"/>
          <a:ext cx="0" cy="0"/>
          <a:chOff x="0" y="0"/>
          <a:chExt cx="0" cy="0"/>
        </a:xfrm>
      </p:grpSpPr>
      <p:sp>
        <p:nvSpPr>
          <p:cNvPr id="47" name="Google Shape;47;g346bd409b32_4_0:notes">
            <a:extLst>
              <a:ext uri="{FF2B5EF4-FFF2-40B4-BE49-F238E27FC236}">
                <a16:creationId xmlns:a16="http://schemas.microsoft.com/office/drawing/2014/main" id="{7326F405-EBF7-C70D-29FD-96BAB75D1CD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 name="Google Shape;48;g346bd409b32_4_0:notes">
            <a:extLst>
              <a:ext uri="{FF2B5EF4-FFF2-40B4-BE49-F238E27FC236}">
                <a16:creationId xmlns:a16="http://schemas.microsoft.com/office/drawing/2014/main" id="{13BABDBC-1157-384F-6CA0-58D189B447EE}"/>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g346bd409b32_4_0:notes">
            <a:extLst>
              <a:ext uri="{FF2B5EF4-FFF2-40B4-BE49-F238E27FC236}">
                <a16:creationId xmlns:a16="http://schemas.microsoft.com/office/drawing/2014/main" id="{CE008A7A-1853-7F86-49FD-352ED619F68B}"/>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2043193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a:extLst>
            <a:ext uri="{FF2B5EF4-FFF2-40B4-BE49-F238E27FC236}">
              <a16:creationId xmlns:a16="http://schemas.microsoft.com/office/drawing/2014/main" id="{53429B62-8DA0-1F51-A5DD-B31A6A7D59D1}"/>
            </a:ext>
          </a:extLst>
        </p:cNvPr>
        <p:cNvGrpSpPr/>
        <p:nvPr/>
      </p:nvGrpSpPr>
      <p:grpSpPr>
        <a:xfrm>
          <a:off x="0" y="0"/>
          <a:ext cx="0" cy="0"/>
          <a:chOff x="0" y="0"/>
          <a:chExt cx="0" cy="0"/>
        </a:xfrm>
      </p:grpSpPr>
      <p:sp>
        <p:nvSpPr>
          <p:cNvPr id="47" name="Google Shape;47;g346bd409b32_4_0:notes">
            <a:extLst>
              <a:ext uri="{FF2B5EF4-FFF2-40B4-BE49-F238E27FC236}">
                <a16:creationId xmlns:a16="http://schemas.microsoft.com/office/drawing/2014/main" id="{4C51CD63-BC87-5AFA-503A-054F6085A9E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 name="Google Shape;48;g346bd409b32_4_0:notes">
            <a:extLst>
              <a:ext uri="{FF2B5EF4-FFF2-40B4-BE49-F238E27FC236}">
                <a16:creationId xmlns:a16="http://schemas.microsoft.com/office/drawing/2014/main" id="{353A77AD-9346-B4D2-2B89-04441F90AE69}"/>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g346bd409b32_4_0:notes">
            <a:extLst>
              <a:ext uri="{FF2B5EF4-FFF2-40B4-BE49-F238E27FC236}">
                <a16:creationId xmlns:a16="http://schemas.microsoft.com/office/drawing/2014/main" id="{CE013C94-A338-B9DD-B153-91ADB7AD74D9}"/>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8062205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a:extLst>
            <a:ext uri="{FF2B5EF4-FFF2-40B4-BE49-F238E27FC236}">
              <a16:creationId xmlns:a16="http://schemas.microsoft.com/office/drawing/2014/main" id="{C81C3774-4172-4413-E7EC-2C027C637130}"/>
            </a:ext>
          </a:extLst>
        </p:cNvPr>
        <p:cNvGrpSpPr/>
        <p:nvPr/>
      </p:nvGrpSpPr>
      <p:grpSpPr>
        <a:xfrm>
          <a:off x="0" y="0"/>
          <a:ext cx="0" cy="0"/>
          <a:chOff x="0" y="0"/>
          <a:chExt cx="0" cy="0"/>
        </a:xfrm>
      </p:grpSpPr>
      <p:sp>
        <p:nvSpPr>
          <p:cNvPr id="47" name="Google Shape;47;g346bd409b32_4_0:notes">
            <a:extLst>
              <a:ext uri="{FF2B5EF4-FFF2-40B4-BE49-F238E27FC236}">
                <a16:creationId xmlns:a16="http://schemas.microsoft.com/office/drawing/2014/main" id="{D35FFE29-46CA-13A5-1336-11999F86602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 name="Google Shape;48;g346bd409b32_4_0:notes">
            <a:extLst>
              <a:ext uri="{FF2B5EF4-FFF2-40B4-BE49-F238E27FC236}">
                <a16:creationId xmlns:a16="http://schemas.microsoft.com/office/drawing/2014/main" id="{6409591C-112E-6785-49AF-2591D6216CF2}"/>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g346bd409b32_4_0:notes">
            <a:extLst>
              <a:ext uri="{FF2B5EF4-FFF2-40B4-BE49-F238E27FC236}">
                <a16:creationId xmlns:a16="http://schemas.microsoft.com/office/drawing/2014/main" id="{BDE3A65B-2CC1-278C-1166-7AC60D4E1CFA}"/>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7363272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a:extLst>
            <a:ext uri="{FF2B5EF4-FFF2-40B4-BE49-F238E27FC236}">
              <a16:creationId xmlns:a16="http://schemas.microsoft.com/office/drawing/2014/main" id="{63C9E08C-31E8-2436-CE6F-CE5C16F13013}"/>
            </a:ext>
          </a:extLst>
        </p:cNvPr>
        <p:cNvGrpSpPr/>
        <p:nvPr/>
      </p:nvGrpSpPr>
      <p:grpSpPr>
        <a:xfrm>
          <a:off x="0" y="0"/>
          <a:ext cx="0" cy="0"/>
          <a:chOff x="0" y="0"/>
          <a:chExt cx="0" cy="0"/>
        </a:xfrm>
      </p:grpSpPr>
      <p:sp>
        <p:nvSpPr>
          <p:cNvPr id="47" name="Google Shape;47;g346bd409b32_4_0:notes">
            <a:extLst>
              <a:ext uri="{FF2B5EF4-FFF2-40B4-BE49-F238E27FC236}">
                <a16:creationId xmlns:a16="http://schemas.microsoft.com/office/drawing/2014/main" id="{52FA7304-5117-6922-09B3-9B3185C7870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 name="Google Shape;48;g346bd409b32_4_0:notes">
            <a:extLst>
              <a:ext uri="{FF2B5EF4-FFF2-40B4-BE49-F238E27FC236}">
                <a16:creationId xmlns:a16="http://schemas.microsoft.com/office/drawing/2014/main" id="{C5C0D5EA-5159-DC1D-EB7C-2B9650AA89D4}"/>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g346bd409b32_4_0:notes">
            <a:extLst>
              <a:ext uri="{FF2B5EF4-FFF2-40B4-BE49-F238E27FC236}">
                <a16:creationId xmlns:a16="http://schemas.microsoft.com/office/drawing/2014/main" id="{507760A6-6611-9A05-BA21-85E776257FEC}"/>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5339006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a:extLst>
            <a:ext uri="{FF2B5EF4-FFF2-40B4-BE49-F238E27FC236}">
              <a16:creationId xmlns:a16="http://schemas.microsoft.com/office/drawing/2014/main" id="{9486E6B2-C3BD-7224-6708-DF8262EA0343}"/>
            </a:ext>
          </a:extLst>
        </p:cNvPr>
        <p:cNvGrpSpPr/>
        <p:nvPr/>
      </p:nvGrpSpPr>
      <p:grpSpPr>
        <a:xfrm>
          <a:off x="0" y="0"/>
          <a:ext cx="0" cy="0"/>
          <a:chOff x="0" y="0"/>
          <a:chExt cx="0" cy="0"/>
        </a:xfrm>
      </p:grpSpPr>
      <p:sp>
        <p:nvSpPr>
          <p:cNvPr id="47" name="Google Shape;47;g346bd409b32_4_0:notes">
            <a:extLst>
              <a:ext uri="{FF2B5EF4-FFF2-40B4-BE49-F238E27FC236}">
                <a16:creationId xmlns:a16="http://schemas.microsoft.com/office/drawing/2014/main" id="{54AD5C9D-691C-1582-73A6-20C44FB8838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 name="Google Shape;48;g346bd409b32_4_0:notes">
            <a:extLst>
              <a:ext uri="{FF2B5EF4-FFF2-40B4-BE49-F238E27FC236}">
                <a16:creationId xmlns:a16="http://schemas.microsoft.com/office/drawing/2014/main" id="{9CBBB15B-2DD3-A3CF-BF51-3A5B1CBDB070}"/>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g346bd409b32_4_0:notes">
            <a:extLst>
              <a:ext uri="{FF2B5EF4-FFF2-40B4-BE49-F238E27FC236}">
                <a16:creationId xmlns:a16="http://schemas.microsoft.com/office/drawing/2014/main" id="{BBCD55D5-40CE-F25A-F1B3-07686B14426F}"/>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42847276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a:extLst>
            <a:ext uri="{FF2B5EF4-FFF2-40B4-BE49-F238E27FC236}">
              <a16:creationId xmlns:a16="http://schemas.microsoft.com/office/drawing/2014/main" id="{DCE1E79C-0183-2C3F-1217-365597A3B6D9}"/>
            </a:ext>
          </a:extLst>
        </p:cNvPr>
        <p:cNvGrpSpPr/>
        <p:nvPr/>
      </p:nvGrpSpPr>
      <p:grpSpPr>
        <a:xfrm>
          <a:off x="0" y="0"/>
          <a:ext cx="0" cy="0"/>
          <a:chOff x="0" y="0"/>
          <a:chExt cx="0" cy="0"/>
        </a:xfrm>
      </p:grpSpPr>
      <p:sp>
        <p:nvSpPr>
          <p:cNvPr id="47" name="Google Shape;47;g346bd409b32_4_0:notes">
            <a:extLst>
              <a:ext uri="{FF2B5EF4-FFF2-40B4-BE49-F238E27FC236}">
                <a16:creationId xmlns:a16="http://schemas.microsoft.com/office/drawing/2014/main" id="{3C6E2C27-465F-92EF-F361-CFF6D0B8F01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 name="Google Shape;48;g346bd409b32_4_0:notes">
            <a:extLst>
              <a:ext uri="{FF2B5EF4-FFF2-40B4-BE49-F238E27FC236}">
                <a16:creationId xmlns:a16="http://schemas.microsoft.com/office/drawing/2014/main" id="{BE82BA9E-F373-8BD3-E163-C60253A01A1A}"/>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g346bd409b32_4_0:notes">
            <a:extLst>
              <a:ext uri="{FF2B5EF4-FFF2-40B4-BE49-F238E27FC236}">
                <a16:creationId xmlns:a16="http://schemas.microsoft.com/office/drawing/2014/main" id="{49D49847-6EE6-8085-79C6-C0489D311860}"/>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6971542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a:extLst>
            <a:ext uri="{FF2B5EF4-FFF2-40B4-BE49-F238E27FC236}">
              <a16:creationId xmlns:a16="http://schemas.microsoft.com/office/drawing/2014/main" id="{1D2019FA-A559-F105-1A4F-9EE4D96DAC79}"/>
            </a:ext>
          </a:extLst>
        </p:cNvPr>
        <p:cNvGrpSpPr/>
        <p:nvPr/>
      </p:nvGrpSpPr>
      <p:grpSpPr>
        <a:xfrm>
          <a:off x="0" y="0"/>
          <a:ext cx="0" cy="0"/>
          <a:chOff x="0" y="0"/>
          <a:chExt cx="0" cy="0"/>
        </a:xfrm>
      </p:grpSpPr>
      <p:sp>
        <p:nvSpPr>
          <p:cNvPr id="47" name="Google Shape;47;g346bd409b32_4_0:notes">
            <a:extLst>
              <a:ext uri="{FF2B5EF4-FFF2-40B4-BE49-F238E27FC236}">
                <a16:creationId xmlns:a16="http://schemas.microsoft.com/office/drawing/2014/main" id="{834132A9-FB1E-EDA5-D354-29C8B3F85D1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 name="Google Shape;48;g346bd409b32_4_0:notes">
            <a:extLst>
              <a:ext uri="{FF2B5EF4-FFF2-40B4-BE49-F238E27FC236}">
                <a16:creationId xmlns:a16="http://schemas.microsoft.com/office/drawing/2014/main" id="{AFD6497C-ACA0-B5D3-C9EE-53DB0FE38B28}"/>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g346bd409b32_4_0:notes">
            <a:extLst>
              <a:ext uri="{FF2B5EF4-FFF2-40B4-BE49-F238E27FC236}">
                <a16:creationId xmlns:a16="http://schemas.microsoft.com/office/drawing/2014/main" id="{A99CE898-FCA7-9C38-E888-4CFBB83F5B8F}"/>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3150085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a:extLst>
            <a:ext uri="{FF2B5EF4-FFF2-40B4-BE49-F238E27FC236}">
              <a16:creationId xmlns:a16="http://schemas.microsoft.com/office/drawing/2014/main" id="{E082940F-50E1-ED02-5217-A39EC1AC5EA0}"/>
            </a:ext>
          </a:extLst>
        </p:cNvPr>
        <p:cNvGrpSpPr/>
        <p:nvPr/>
      </p:nvGrpSpPr>
      <p:grpSpPr>
        <a:xfrm>
          <a:off x="0" y="0"/>
          <a:ext cx="0" cy="0"/>
          <a:chOff x="0" y="0"/>
          <a:chExt cx="0" cy="0"/>
        </a:xfrm>
      </p:grpSpPr>
      <p:sp>
        <p:nvSpPr>
          <p:cNvPr id="47" name="Google Shape;47;g346bd409b32_4_0:notes">
            <a:extLst>
              <a:ext uri="{FF2B5EF4-FFF2-40B4-BE49-F238E27FC236}">
                <a16:creationId xmlns:a16="http://schemas.microsoft.com/office/drawing/2014/main" id="{B4371B52-5307-8988-446B-131A88FFC2B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 name="Google Shape;48;g346bd409b32_4_0:notes">
            <a:extLst>
              <a:ext uri="{FF2B5EF4-FFF2-40B4-BE49-F238E27FC236}">
                <a16:creationId xmlns:a16="http://schemas.microsoft.com/office/drawing/2014/main" id="{8DBF35B6-01F2-75E1-A37B-3031612E365F}"/>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g346bd409b32_4_0:notes">
            <a:extLst>
              <a:ext uri="{FF2B5EF4-FFF2-40B4-BE49-F238E27FC236}">
                <a16:creationId xmlns:a16="http://schemas.microsoft.com/office/drawing/2014/main" id="{AC0FB009-0C2C-5689-F38A-5591E5D84217}"/>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8572339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a:extLst>
            <a:ext uri="{FF2B5EF4-FFF2-40B4-BE49-F238E27FC236}">
              <a16:creationId xmlns:a16="http://schemas.microsoft.com/office/drawing/2014/main" id="{E0D33A9B-039C-928E-FD4C-838A6500AEF9}"/>
            </a:ext>
          </a:extLst>
        </p:cNvPr>
        <p:cNvGrpSpPr/>
        <p:nvPr/>
      </p:nvGrpSpPr>
      <p:grpSpPr>
        <a:xfrm>
          <a:off x="0" y="0"/>
          <a:ext cx="0" cy="0"/>
          <a:chOff x="0" y="0"/>
          <a:chExt cx="0" cy="0"/>
        </a:xfrm>
      </p:grpSpPr>
      <p:sp>
        <p:nvSpPr>
          <p:cNvPr id="47" name="Google Shape;47;g346bd409b32_4_0:notes">
            <a:extLst>
              <a:ext uri="{FF2B5EF4-FFF2-40B4-BE49-F238E27FC236}">
                <a16:creationId xmlns:a16="http://schemas.microsoft.com/office/drawing/2014/main" id="{76CE496D-D27F-B307-07B9-869063A891B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 name="Google Shape;48;g346bd409b32_4_0:notes">
            <a:extLst>
              <a:ext uri="{FF2B5EF4-FFF2-40B4-BE49-F238E27FC236}">
                <a16:creationId xmlns:a16="http://schemas.microsoft.com/office/drawing/2014/main" id="{5791719C-251E-49E4-D2B5-642C0A2C823C}"/>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g346bd409b32_4_0:notes">
            <a:extLst>
              <a:ext uri="{FF2B5EF4-FFF2-40B4-BE49-F238E27FC236}">
                <a16:creationId xmlns:a16="http://schemas.microsoft.com/office/drawing/2014/main" id="{BCCADE7C-BB9B-F3C9-C8B1-4C7320292CE4}"/>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7272312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a:extLst>
            <a:ext uri="{FF2B5EF4-FFF2-40B4-BE49-F238E27FC236}">
              <a16:creationId xmlns:a16="http://schemas.microsoft.com/office/drawing/2014/main" id="{A8A9EF90-C361-AFEE-76C4-6A4D3716E1E8}"/>
            </a:ext>
          </a:extLst>
        </p:cNvPr>
        <p:cNvGrpSpPr/>
        <p:nvPr/>
      </p:nvGrpSpPr>
      <p:grpSpPr>
        <a:xfrm>
          <a:off x="0" y="0"/>
          <a:ext cx="0" cy="0"/>
          <a:chOff x="0" y="0"/>
          <a:chExt cx="0" cy="0"/>
        </a:xfrm>
      </p:grpSpPr>
      <p:sp>
        <p:nvSpPr>
          <p:cNvPr id="47" name="Google Shape;47;g346bd409b32_4_0:notes">
            <a:extLst>
              <a:ext uri="{FF2B5EF4-FFF2-40B4-BE49-F238E27FC236}">
                <a16:creationId xmlns:a16="http://schemas.microsoft.com/office/drawing/2014/main" id="{188AAF5A-DA13-B756-2F7A-41524E81237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 name="Google Shape;48;g346bd409b32_4_0:notes">
            <a:extLst>
              <a:ext uri="{FF2B5EF4-FFF2-40B4-BE49-F238E27FC236}">
                <a16:creationId xmlns:a16="http://schemas.microsoft.com/office/drawing/2014/main" id="{BB02D82C-00AB-D284-9438-068BC0E1B7AF}"/>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g346bd409b32_4_0:notes">
            <a:extLst>
              <a:ext uri="{FF2B5EF4-FFF2-40B4-BE49-F238E27FC236}">
                <a16:creationId xmlns:a16="http://schemas.microsoft.com/office/drawing/2014/main" id="{AC0CC433-A2C2-7F9D-DE64-F919B3512CFF}"/>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5997266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a:extLst>
            <a:ext uri="{FF2B5EF4-FFF2-40B4-BE49-F238E27FC236}">
              <a16:creationId xmlns:a16="http://schemas.microsoft.com/office/drawing/2014/main" id="{238759F9-0637-C78C-D14B-6154F1471ACA}"/>
            </a:ext>
          </a:extLst>
        </p:cNvPr>
        <p:cNvGrpSpPr/>
        <p:nvPr/>
      </p:nvGrpSpPr>
      <p:grpSpPr>
        <a:xfrm>
          <a:off x="0" y="0"/>
          <a:ext cx="0" cy="0"/>
          <a:chOff x="0" y="0"/>
          <a:chExt cx="0" cy="0"/>
        </a:xfrm>
      </p:grpSpPr>
      <p:sp>
        <p:nvSpPr>
          <p:cNvPr id="47" name="Google Shape;47;g346bd409b32_4_0:notes">
            <a:extLst>
              <a:ext uri="{FF2B5EF4-FFF2-40B4-BE49-F238E27FC236}">
                <a16:creationId xmlns:a16="http://schemas.microsoft.com/office/drawing/2014/main" id="{D8BC0CA6-1C9F-B13D-00BA-48E5B05EC95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 name="Google Shape;48;g346bd409b32_4_0:notes">
            <a:extLst>
              <a:ext uri="{FF2B5EF4-FFF2-40B4-BE49-F238E27FC236}">
                <a16:creationId xmlns:a16="http://schemas.microsoft.com/office/drawing/2014/main" id="{F205AB0F-0ED5-D247-28C9-33A14EE7B73F}"/>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g346bd409b32_4_0:notes">
            <a:extLst>
              <a:ext uri="{FF2B5EF4-FFF2-40B4-BE49-F238E27FC236}">
                <a16:creationId xmlns:a16="http://schemas.microsoft.com/office/drawing/2014/main" id="{6AE84896-8FD2-3A09-C367-B2E5855D439F}"/>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32778575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a:extLst>
            <a:ext uri="{FF2B5EF4-FFF2-40B4-BE49-F238E27FC236}">
              <a16:creationId xmlns:a16="http://schemas.microsoft.com/office/drawing/2014/main" id="{3E8EF95A-7805-77B8-5AAB-2FDAA3EBB276}"/>
            </a:ext>
          </a:extLst>
        </p:cNvPr>
        <p:cNvGrpSpPr/>
        <p:nvPr/>
      </p:nvGrpSpPr>
      <p:grpSpPr>
        <a:xfrm>
          <a:off x="0" y="0"/>
          <a:ext cx="0" cy="0"/>
          <a:chOff x="0" y="0"/>
          <a:chExt cx="0" cy="0"/>
        </a:xfrm>
      </p:grpSpPr>
      <p:sp>
        <p:nvSpPr>
          <p:cNvPr id="47" name="Google Shape;47;g346bd409b32_4_0:notes">
            <a:extLst>
              <a:ext uri="{FF2B5EF4-FFF2-40B4-BE49-F238E27FC236}">
                <a16:creationId xmlns:a16="http://schemas.microsoft.com/office/drawing/2014/main" id="{91D7AE52-EED0-CDF8-95C4-B1938EEE9A8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 name="Google Shape;48;g346bd409b32_4_0:notes">
            <a:extLst>
              <a:ext uri="{FF2B5EF4-FFF2-40B4-BE49-F238E27FC236}">
                <a16:creationId xmlns:a16="http://schemas.microsoft.com/office/drawing/2014/main" id="{137039F6-FF97-B63E-C4EA-BB4D85513CC0}"/>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g346bd409b32_4_0:notes">
            <a:extLst>
              <a:ext uri="{FF2B5EF4-FFF2-40B4-BE49-F238E27FC236}">
                <a16:creationId xmlns:a16="http://schemas.microsoft.com/office/drawing/2014/main" id="{72C2184B-D1EA-569A-5D42-8D3779DC05D7}"/>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3653853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a:extLst>
            <a:ext uri="{FF2B5EF4-FFF2-40B4-BE49-F238E27FC236}">
              <a16:creationId xmlns:a16="http://schemas.microsoft.com/office/drawing/2014/main" id="{A46E501F-9A4F-B4F3-B8C8-56013FB7DF10}"/>
            </a:ext>
          </a:extLst>
        </p:cNvPr>
        <p:cNvGrpSpPr/>
        <p:nvPr/>
      </p:nvGrpSpPr>
      <p:grpSpPr>
        <a:xfrm>
          <a:off x="0" y="0"/>
          <a:ext cx="0" cy="0"/>
          <a:chOff x="0" y="0"/>
          <a:chExt cx="0" cy="0"/>
        </a:xfrm>
      </p:grpSpPr>
      <p:sp>
        <p:nvSpPr>
          <p:cNvPr id="47" name="Google Shape;47;g346bd409b32_4_0:notes">
            <a:extLst>
              <a:ext uri="{FF2B5EF4-FFF2-40B4-BE49-F238E27FC236}">
                <a16:creationId xmlns:a16="http://schemas.microsoft.com/office/drawing/2014/main" id="{BBDFA82C-2E25-A817-BC58-2ED1C4CAB54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 name="Google Shape;48;g346bd409b32_4_0:notes">
            <a:extLst>
              <a:ext uri="{FF2B5EF4-FFF2-40B4-BE49-F238E27FC236}">
                <a16:creationId xmlns:a16="http://schemas.microsoft.com/office/drawing/2014/main" id="{16A56B22-908E-EE76-AC0C-6CE44FBC98AC}"/>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g346bd409b32_4_0:notes">
            <a:extLst>
              <a:ext uri="{FF2B5EF4-FFF2-40B4-BE49-F238E27FC236}">
                <a16:creationId xmlns:a16="http://schemas.microsoft.com/office/drawing/2014/main" id="{E5FD7F0F-6BA3-F653-4ECC-DF672C90BE4E}"/>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2231348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a:extLst>
            <a:ext uri="{FF2B5EF4-FFF2-40B4-BE49-F238E27FC236}">
              <a16:creationId xmlns:a16="http://schemas.microsoft.com/office/drawing/2014/main" id="{A031E7D3-AD18-BCBB-76D3-B57777DB0625}"/>
            </a:ext>
          </a:extLst>
        </p:cNvPr>
        <p:cNvGrpSpPr/>
        <p:nvPr/>
      </p:nvGrpSpPr>
      <p:grpSpPr>
        <a:xfrm>
          <a:off x="0" y="0"/>
          <a:ext cx="0" cy="0"/>
          <a:chOff x="0" y="0"/>
          <a:chExt cx="0" cy="0"/>
        </a:xfrm>
      </p:grpSpPr>
      <p:sp>
        <p:nvSpPr>
          <p:cNvPr id="47" name="Google Shape;47;g346bd409b32_4_0:notes">
            <a:extLst>
              <a:ext uri="{FF2B5EF4-FFF2-40B4-BE49-F238E27FC236}">
                <a16:creationId xmlns:a16="http://schemas.microsoft.com/office/drawing/2014/main" id="{5C4729C3-67E0-712D-BB2F-9989DD27C17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 name="Google Shape;48;g346bd409b32_4_0:notes">
            <a:extLst>
              <a:ext uri="{FF2B5EF4-FFF2-40B4-BE49-F238E27FC236}">
                <a16:creationId xmlns:a16="http://schemas.microsoft.com/office/drawing/2014/main" id="{D96FE906-7EB8-5C6F-6A3A-E38CDF2E1237}"/>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g346bd409b32_4_0:notes">
            <a:extLst>
              <a:ext uri="{FF2B5EF4-FFF2-40B4-BE49-F238E27FC236}">
                <a16:creationId xmlns:a16="http://schemas.microsoft.com/office/drawing/2014/main" id="{252917C4-D81E-1D8E-9A95-BBC720BF9BAF}"/>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8460193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a:extLst>
            <a:ext uri="{FF2B5EF4-FFF2-40B4-BE49-F238E27FC236}">
              <a16:creationId xmlns:a16="http://schemas.microsoft.com/office/drawing/2014/main" id="{6082C6F2-960F-ADF7-8F53-98EB9F4AD0DE}"/>
            </a:ext>
          </a:extLst>
        </p:cNvPr>
        <p:cNvGrpSpPr/>
        <p:nvPr/>
      </p:nvGrpSpPr>
      <p:grpSpPr>
        <a:xfrm>
          <a:off x="0" y="0"/>
          <a:ext cx="0" cy="0"/>
          <a:chOff x="0" y="0"/>
          <a:chExt cx="0" cy="0"/>
        </a:xfrm>
      </p:grpSpPr>
      <p:sp>
        <p:nvSpPr>
          <p:cNvPr id="47" name="Google Shape;47;g346bd409b32_4_0:notes">
            <a:extLst>
              <a:ext uri="{FF2B5EF4-FFF2-40B4-BE49-F238E27FC236}">
                <a16:creationId xmlns:a16="http://schemas.microsoft.com/office/drawing/2014/main" id="{9E92E758-A5DD-A4F0-CE2C-181C477440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 name="Google Shape;48;g346bd409b32_4_0:notes">
            <a:extLst>
              <a:ext uri="{FF2B5EF4-FFF2-40B4-BE49-F238E27FC236}">
                <a16:creationId xmlns:a16="http://schemas.microsoft.com/office/drawing/2014/main" id="{ACE463D0-68FC-614B-1FA0-063D7E858E13}"/>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g346bd409b32_4_0:notes">
            <a:extLst>
              <a:ext uri="{FF2B5EF4-FFF2-40B4-BE49-F238E27FC236}">
                <a16:creationId xmlns:a16="http://schemas.microsoft.com/office/drawing/2014/main" id="{FB78440B-BEDF-3175-4621-FB6FFA85D8A7}"/>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42836486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a:extLst>
            <a:ext uri="{FF2B5EF4-FFF2-40B4-BE49-F238E27FC236}">
              <a16:creationId xmlns:a16="http://schemas.microsoft.com/office/drawing/2014/main" id="{9D3D2360-1D12-46E9-CFD2-FA597693D571}"/>
            </a:ext>
          </a:extLst>
        </p:cNvPr>
        <p:cNvGrpSpPr/>
        <p:nvPr/>
      </p:nvGrpSpPr>
      <p:grpSpPr>
        <a:xfrm>
          <a:off x="0" y="0"/>
          <a:ext cx="0" cy="0"/>
          <a:chOff x="0" y="0"/>
          <a:chExt cx="0" cy="0"/>
        </a:xfrm>
      </p:grpSpPr>
      <p:sp>
        <p:nvSpPr>
          <p:cNvPr id="47" name="Google Shape;47;g346bd409b32_4_0:notes">
            <a:extLst>
              <a:ext uri="{FF2B5EF4-FFF2-40B4-BE49-F238E27FC236}">
                <a16:creationId xmlns:a16="http://schemas.microsoft.com/office/drawing/2014/main" id="{A7578166-BF80-1AA6-A7C6-A9D374B1EA1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 name="Google Shape;48;g346bd409b32_4_0:notes">
            <a:extLst>
              <a:ext uri="{FF2B5EF4-FFF2-40B4-BE49-F238E27FC236}">
                <a16:creationId xmlns:a16="http://schemas.microsoft.com/office/drawing/2014/main" id="{B0496EA4-3E6B-D1B4-6D8B-E6A1945C3A29}"/>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g346bd409b32_4_0:notes">
            <a:extLst>
              <a:ext uri="{FF2B5EF4-FFF2-40B4-BE49-F238E27FC236}">
                <a16:creationId xmlns:a16="http://schemas.microsoft.com/office/drawing/2014/main" id="{23269168-9347-D7FB-4081-B44C7B14A94D}"/>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8670065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a:extLst>
            <a:ext uri="{FF2B5EF4-FFF2-40B4-BE49-F238E27FC236}">
              <a16:creationId xmlns:a16="http://schemas.microsoft.com/office/drawing/2014/main" id="{5DE90263-CE83-1989-A194-E0493FE127DB}"/>
            </a:ext>
          </a:extLst>
        </p:cNvPr>
        <p:cNvGrpSpPr/>
        <p:nvPr/>
      </p:nvGrpSpPr>
      <p:grpSpPr>
        <a:xfrm>
          <a:off x="0" y="0"/>
          <a:ext cx="0" cy="0"/>
          <a:chOff x="0" y="0"/>
          <a:chExt cx="0" cy="0"/>
        </a:xfrm>
      </p:grpSpPr>
      <p:sp>
        <p:nvSpPr>
          <p:cNvPr id="47" name="Google Shape;47;g346bd409b32_4_0:notes">
            <a:extLst>
              <a:ext uri="{FF2B5EF4-FFF2-40B4-BE49-F238E27FC236}">
                <a16:creationId xmlns:a16="http://schemas.microsoft.com/office/drawing/2014/main" id="{BEFB4939-63AE-C403-00AB-841847E59C7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 name="Google Shape;48;g346bd409b32_4_0:notes">
            <a:extLst>
              <a:ext uri="{FF2B5EF4-FFF2-40B4-BE49-F238E27FC236}">
                <a16:creationId xmlns:a16="http://schemas.microsoft.com/office/drawing/2014/main" id="{72BBFA34-607B-9CAA-7DBC-2134C392B2E5}"/>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g346bd409b32_4_0:notes">
            <a:extLst>
              <a:ext uri="{FF2B5EF4-FFF2-40B4-BE49-F238E27FC236}">
                <a16:creationId xmlns:a16="http://schemas.microsoft.com/office/drawing/2014/main" id="{5E886F76-DDF2-6B2C-DD81-9FA690446641}"/>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42303198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a:extLst>
            <a:ext uri="{FF2B5EF4-FFF2-40B4-BE49-F238E27FC236}">
              <a16:creationId xmlns:a16="http://schemas.microsoft.com/office/drawing/2014/main" id="{55711E1D-CF93-1532-9BC4-EAB3778D0242}"/>
            </a:ext>
          </a:extLst>
        </p:cNvPr>
        <p:cNvGrpSpPr/>
        <p:nvPr/>
      </p:nvGrpSpPr>
      <p:grpSpPr>
        <a:xfrm>
          <a:off x="0" y="0"/>
          <a:ext cx="0" cy="0"/>
          <a:chOff x="0" y="0"/>
          <a:chExt cx="0" cy="0"/>
        </a:xfrm>
      </p:grpSpPr>
      <p:sp>
        <p:nvSpPr>
          <p:cNvPr id="47" name="Google Shape;47;g346bd409b32_4_0:notes">
            <a:extLst>
              <a:ext uri="{FF2B5EF4-FFF2-40B4-BE49-F238E27FC236}">
                <a16:creationId xmlns:a16="http://schemas.microsoft.com/office/drawing/2014/main" id="{090AD4C3-6427-BD83-D485-582F8AECF12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 name="Google Shape;48;g346bd409b32_4_0:notes">
            <a:extLst>
              <a:ext uri="{FF2B5EF4-FFF2-40B4-BE49-F238E27FC236}">
                <a16:creationId xmlns:a16="http://schemas.microsoft.com/office/drawing/2014/main" id="{67ED74D3-7DDB-6336-2B50-6F538942BC3C}"/>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g346bd409b32_4_0:notes">
            <a:extLst>
              <a:ext uri="{FF2B5EF4-FFF2-40B4-BE49-F238E27FC236}">
                <a16:creationId xmlns:a16="http://schemas.microsoft.com/office/drawing/2014/main" id="{FBDB935F-3217-D836-799B-DB77F1EE5362}"/>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9424290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a:extLst>
            <a:ext uri="{FF2B5EF4-FFF2-40B4-BE49-F238E27FC236}">
              <a16:creationId xmlns:a16="http://schemas.microsoft.com/office/drawing/2014/main" id="{A6FB0918-AC7E-EF32-309D-36E1B35D4F65}"/>
            </a:ext>
          </a:extLst>
        </p:cNvPr>
        <p:cNvGrpSpPr/>
        <p:nvPr/>
      </p:nvGrpSpPr>
      <p:grpSpPr>
        <a:xfrm>
          <a:off x="0" y="0"/>
          <a:ext cx="0" cy="0"/>
          <a:chOff x="0" y="0"/>
          <a:chExt cx="0" cy="0"/>
        </a:xfrm>
      </p:grpSpPr>
      <p:sp>
        <p:nvSpPr>
          <p:cNvPr id="47" name="Google Shape;47;g346bd409b32_4_0:notes">
            <a:extLst>
              <a:ext uri="{FF2B5EF4-FFF2-40B4-BE49-F238E27FC236}">
                <a16:creationId xmlns:a16="http://schemas.microsoft.com/office/drawing/2014/main" id="{ACBDEA2F-AC0D-3091-AE72-1C2A17B202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 name="Google Shape;48;g346bd409b32_4_0:notes">
            <a:extLst>
              <a:ext uri="{FF2B5EF4-FFF2-40B4-BE49-F238E27FC236}">
                <a16:creationId xmlns:a16="http://schemas.microsoft.com/office/drawing/2014/main" id="{8E438F8A-DC9F-3D9D-8E80-524888CC58A9}"/>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g346bd409b32_4_0:notes">
            <a:extLst>
              <a:ext uri="{FF2B5EF4-FFF2-40B4-BE49-F238E27FC236}">
                <a16:creationId xmlns:a16="http://schemas.microsoft.com/office/drawing/2014/main" id="{DDB53B0C-6B86-D63A-663A-93E05738A91C}"/>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7205386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a:extLst>
            <a:ext uri="{FF2B5EF4-FFF2-40B4-BE49-F238E27FC236}">
              <a16:creationId xmlns:a16="http://schemas.microsoft.com/office/drawing/2014/main" id="{25A2393C-39C3-484F-5541-C08199784BC2}"/>
            </a:ext>
          </a:extLst>
        </p:cNvPr>
        <p:cNvGrpSpPr/>
        <p:nvPr/>
      </p:nvGrpSpPr>
      <p:grpSpPr>
        <a:xfrm>
          <a:off x="0" y="0"/>
          <a:ext cx="0" cy="0"/>
          <a:chOff x="0" y="0"/>
          <a:chExt cx="0" cy="0"/>
        </a:xfrm>
      </p:grpSpPr>
      <p:sp>
        <p:nvSpPr>
          <p:cNvPr id="47" name="Google Shape;47;g346bd409b32_4_0:notes">
            <a:extLst>
              <a:ext uri="{FF2B5EF4-FFF2-40B4-BE49-F238E27FC236}">
                <a16:creationId xmlns:a16="http://schemas.microsoft.com/office/drawing/2014/main" id="{D244DF49-807F-818E-2E28-862B7C1A0A9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 name="Google Shape;48;g346bd409b32_4_0:notes">
            <a:extLst>
              <a:ext uri="{FF2B5EF4-FFF2-40B4-BE49-F238E27FC236}">
                <a16:creationId xmlns:a16="http://schemas.microsoft.com/office/drawing/2014/main" id="{723AC95B-6FBE-8904-89D5-B774EF76913B}"/>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g346bd409b32_4_0:notes">
            <a:extLst>
              <a:ext uri="{FF2B5EF4-FFF2-40B4-BE49-F238E27FC236}">
                <a16:creationId xmlns:a16="http://schemas.microsoft.com/office/drawing/2014/main" id="{2665E1EE-8D5A-C4E0-199F-E67F009E2C27}"/>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28228128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a:extLst>
            <a:ext uri="{FF2B5EF4-FFF2-40B4-BE49-F238E27FC236}">
              <a16:creationId xmlns:a16="http://schemas.microsoft.com/office/drawing/2014/main" id="{B8C4EE41-B56C-E4D8-E2E4-F2E831C2A62D}"/>
            </a:ext>
          </a:extLst>
        </p:cNvPr>
        <p:cNvGrpSpPr/>
        <p:nvPr/>
      </p:nvGrpSpPr>
      <p:grpSpPr>
        <a:xfrm>
          <a:off x="0" y="0"/>
          <a:ext cx="0" cy="0"/>
          <a:chOff x="0" y="0"/>
          <a:chExt cx="0" cy="0"/>
        </a:xfrm>
      </p:grpSpPr>
      <p:sp>
        <p:nvSpPr>
          <p:cNvPr id="47" name="Google Shape;47;g346bd409b32_4_0:notes">
            <a:extLst>
              <a:ext uri="{FF2B5EF4-FFF2-40B4-BE49-F238E27FC236}">
                <a16:creationId xmlns:a16="http://schemas.microsoft.com/office/drawing/2014/main" id="{213D339A-E05A-3867-3AAF-21CC430C831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 name="Google Shape;48;g346bd409b32_4_0:notes">
            <a:extLst>
              <a:ext uri="{FF2B5EF4-FFF2-40B4-BE49-F238E27FC236}">
                <a16:creationId xmlns:a16="http://schemas.microsoft.com/office/drawing/2014/main" id="{4F00D022-45B6-15BD-A939-721A025E6DE4}"/>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g346bd409b32_4_0:notes">
            <a:extLst>
              <a:ext uri="{FF2B5EF4-FFF2-40B4-BE49-F238E27FC236}">
                <a16:creationId xmlns:a16="http://schemas.microsoft.com/office/drawing/2014/main" id="{84409994-BB85-2CA7-6D0C-B73D5937E66B}"/>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Tree>
    <p:extLst>
      <p:ext uri="{BB962C8B-B14F-4D97-AF65-F5344CB8AC3E}">
        <p14:creationId xmlns:p14="http://schemas.microsoft.com/office/powerpoint/2010/main" val="3276053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a:extLst>
            <a:ext uri="{FF2B5EF4-FFF2-40B4-BE49-F238E27FC236}">
              <a16:creationId xmlns:a16="http://schemas.microsoft.com/office/drawing/2014/main" id="{0BC472E4-098B-906B-94FF-C9BB2179F729}"/>
            </a:ext>
          </a:extLst>
        </p:cNvPr>
        <p:cNvGrpSpPr/>
        <p:nvPr/>
      </p:nvGrpSpPr>
      <p:grpSpPr>
        <a:xfrm>
          <a:off x="0" y="0"/>
          <a:ext cx="0" cy="0"/>
          <a:chOff x="0" y="0"/>
          <a:chExt cx="0" cy="0"/>
        </a:xfrm>
      </p:grpSpPr>
      <p:sp>
        <p:nvSpPr>
          <p:cNvPr id="47" name="Google Shape;47;g346bd409b32_4_0:notes">
            <a:extLst>
              <a:ext uri="{FF2B5EF4-FFF2-40B4-BE49-F238E27FC236}">
                <a16:creationId xmlns:a16="http://schemas.microsoft.com/office/drawing/2014/main" id="{12ABBDDD-B64A-EECE-C829-F461EAC0EC2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 name="Google Shape;48;g346bd409b32_4_0:notes">
            <a:extLst>
              <a:ext uri="{FF2B5EF4-FFF2-40B4-BE49-F238E27FC236}">
                <a16:creationId xmlns:a16="http://schemas.microsoft.com/office/drawing/2014/main" id="{B009E354-82CF-84A6-CD39-D370C3A6237D}"/>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g346bd409b32_4_0:notes">
            <a:extLst>
              <a:ext uri="{FF2B5EF4-FFF2-40B4-BE49-F238E27FC236}">
                <a16:creationId xmlns:a16="http://schemas.microsoft.com/office/drawing/2014/main" id="{AB574735-1AD3-4755-1B03-6D59049F685F}"/>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31</a:t>
            </a:fld>
            <a:endParaRPr/>
          </a:p>
        </p:txBody>
      </p:sp>
    </p:spTree>
    <p:extLst>
      <p:ext uri="{BB962C8B-B14F-4D97-AF65-F5344CB8AC3E}">
        <p14:creationId xmlns:p14="http://schemas.microsoft.com/office/powerpoint/2010/main" val="5276915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DC0CA-C5AC-3ADD-4247-2057AB4ABB5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262BBC5F-22C0-6EEB-898C-E2B6E9A7F1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9ED1EAD1-172B-F090-F3D6-216A5104C2B4}"/>
              </a:ext>
            </a:extLst>
          </p:cNvPr>
          <p:cNvSpPr>
            <a:spLocks noGrp="1"/>
          </p:cNvSpPr>
          <p:nvPr>
            <p:ph type="dt" sz="half" idx="10"/>
          </p:nvPr>
        </p:nvSpPr>
        <p:spPr/>
        <p:txBody>
          <a:bodyPr/>
          <a:lstStyle/>
          <a:p>
            <a:endParaRPr lang="en-CA"/>
          </a:p>
        </p:txBody>
      </p:sp>
      <p:sp>
        <p:nvSpPr>
          <p:cNvPr id="5" name="Footer Placeholder 4">
            <a:extLst>
              <a:ext uri="{FF2B5EF4-FFF2-40B4-BE49-F238E27FC236}">
                <a16:creationId xmlns:a16="http://schemas.microsoft.com/office/drawing/2014/main" id="{877C0E45-60BF-C127-35BC-B7915A35C45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EFD16BE0-58CC-9789-2AE8-39BCCEA0BFF9}"/>
              </a:ext>
            </a:extLst>
          </p:cNvPr>
          <p:cNvSpPr>
            <a:spLocks noGrp="1"/>
          </p:cNvSpPr>
          <p:nvPr>
            <p:ph type="sldNum" sz="quarter" idx="12"/>
          </p:nvPr>
        </p:nvSpPr>
        <p:spPr/>
        <p:txBody>
          <a:bodyPr/>
          <a:lstStyle/>
          <a:p>
            <a:fld id="{AA8DD216-8863-4E8F-BFE9-249C6989CB78}" type="slidenum">
              <a:rPr lang="en-CA" smtClean="0"/>
              <a:t>‹#›</a:t>
            </a:fld>
            <a:endParaRPr lang="en-CA"/>
          </a:p>
        </p:txBody>
      </p:sp>
    </p:spTree>
    <p:extLst>
      <p:ext uri="{BB962C8B-B14F-4D97-AF65-F5344CB8AC3E}">
        <p14:creationId xmlns:p14="http://schemas.microsoft.com/office/powerpoint/2010/main" val="20191418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6A26F-28EE-1638-1519-07149439D19A}"/>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AACB1A6A-40FC-BD22-9EDE-8A16DCCFC7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C9FB9AF1-4272-A3F7-F9E2-3F99E1036CF5}"/>
              </a:ext>
            </a:extLst>
          </p:cNvPr>
          <p:cNvSpPr>
            <a:spLocks noGrp="1"/>
          </p:cNvSpPr>
          <p:nvPr>
            <p:ph type="dt" sz="half" idx="10"/>
          </p:nvPr>
        </p:nvSpPr>
        <p:spPr/>
        <p:txBody>
          <a:bodyPr/>
          <a:lstStyle/>
          <a:p>
            <a:endParaRPr lang="en-CA"/>
          </a:p>
        </p:txBody>
      </p:sp>
      <p:sp>
        <p:nvSpPr>
          <p:cNvPr id="5" name="Footer Placeholder 4">
            <a:extLst>
              <a:ext uri="{FF2B5EF4-FFF2-40B4-BE49-F238E27FC236}">
                <a16:creationId xmlns:a16="http://schemas.microsoft.com/office/drawing/2014/main" id="{7BA9BB27-5ED8-3DF9-DB26-B5F2E199BED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E4CDE32A-E4AC-2FB8-D7A1-276D9938BD57}"/>
              </a:ext>
            </a:extLst>
          </p:cNvPr>
          <p:cNvSpPr>
            <a:spLocks noGrp="1"/>
          </p:cNvSpPr>
          <p:nvPr>
            <p:ph type="sldNum" sz="quarter" idx="12"/>
          </p:nvPr>
        </p:nvSpPr>
        <p:spPr/>
        <p:txBody>
          <a:bodyPr/>
          <a:lstStyle/>
          <a:p>
            <a:fld id="{AA8DD216-8863-4E8F-BFE9-249C6989CB78}" type="slidenum">
              <a:rPr lang="en-CA" smtClean="0"/>
              <a:t>‹#›</a:t>
            </a:fld>
            <a:endParaRPr lang="en-CA"/>
          </a:p>
        </p:txBody>
      </p:sp>
    </p:spTree>
    <p:extLst>
      <p:ext uri="{BB962C8B-B14F-4D97-AF65-F5344CB8AC3E}">
        <p14:creationId xmlns:p14="http://schemas.microsoft.com/office/powerpoint/2010/main" val="26403749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11653-5EF9-4A54-5AF4-EB7CC22B318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0F7DD41B-78A5-B5A2-450F-CCE8DB46A5B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01AA548-857E-B567-D6A1-B2F3A5F6360B}"/>
              </a:ext>
            </a:extLst>
          </p:cNvPr>
          <p:cNvSpPr>
            <a:spLocks noGrp="1"/>
          </p:cNvSpPr>
          <p:nvPr>
            <p:ph type="dt" sz="half" idx="10"/>
          </p:nvPr>
        </p:nvSpPr>
        <p:spPr/>
        <p:txBody>
          <a:bodyPr/>
          <a:lstStyle/>
          <a:p>
            <a:endParaRPr lang="en-CA"/>
          </a:p>
        </p:txBody>
      </p:sp>
      <p:sp>
        <p:nvSpPr>
          <p:cNvPr id="5" name="Footer Placeholder 4">
            <a:extLst>
              <a:ext uri="{FF2B5EF4-FFF2-40B4-BE49-F238E27FC236}">
                <a16:creationId xmlns:a16="http://schemas.microsoft.com/office/drawing/2014/main" id="{B39A3F44-A534-7D33-A51B-2E566655E6BB}"/>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ACC8FD12-C5C1-BC1A-F561-DA4F9DEB836A}"/>
              </a:ext>
            </a:extLst>
          </p:cNvPr>
          <p:cNvSpPr>
            <a:spLocks noGrp="1"/>
          </p:cNvSpPr>
          <p:nvPr>
            <p:ph type="sldNum" sz="quarter" idx="12"/>
          </p:nvPr>
        </p:nvSpPr>
        <p:spPr/>
        <p:txBody>
          <a:bodyPr/>
          <a:lstStyle/>
          <a:p>
            <a:fld id="{AA8DD216-8863-4E8F-BFE9-249C6989CB78}" type="slidenum">
              <a:rPr lang="en-CA" smtClean="0"/>
              <a:t>‹#›</a:t>
            </a:fld>
            <a:endParaRPr lang="en-CA"/>
          </a:p>
        </p:txBody>
      </p:sp>
    </p:spTree>
    <p:extLst>
      <p:ext uri="{BB962C8B-B14F-4D97-AF65-F5344CB8AC3E}">
        <p14:creationId xmlns:p14="http://schemas.microsoft.com/office/powerpoint/2010/main" val="98440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8E4CA-687F-B09C-406E-144B46C2DF0E}"/>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B9213657-5857-6820-15F7-44A10DA5262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70735534-4C6C-A4A6-B52A-9387B27ADEB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37B51B9F-490F-E9FA-804C-DD1F16B0AF77}"/>
              </a:ext>
            </a:extLst>
          </p:cNvPr>
          <p:cNvSpPr>
            <a:spLocks noGrp="1"/>
          </p:cNvSpPr>
          <p:nvPr>
            <p:ph type="dt" sz="half" idx="10"/>
          </p:nvPr>
        </p:nvSpPr>
        <p:spPr/>
        <p:txBody>
          <a:bodyPr/>
          <a:lstStyle/>
          <a:p>
            <a:endParaRPr lang="en-CA"/>
          </a:p>
        </p:txBody>
      </p:sp>
      <p:sp>
        <p:nvSpPr>
          <p:cNvPr id="6" name="Footer Placeholder 5">
            <a:extLst>
              <a:ext uri="{FF2B5EF4-FFF2-40B4-BE49-F238E27FC236}">
                <a16:creationId xmlns:a16="http://schemas.microsoft.com/office/drawing/2014/main" id="{730DF88A-2662-CE41-C397-E7E82BBC1CA6}"/>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37D3783D-14E8-110F-3D32-9AB8327362FA}"/>
              </a:ext>
            </a:extLst>
          </p:cNvPr>
          <p:cNvSpPr>
            <a:spLocks noGrp="1"/>
          </p:cNvSpPr>
          <p:nvPr>
            <p:ph type="sldNum" sz="quarter" idx="12"/>
          </p:nvPr>
        </p:nvSpPr>
        <p:spPr/>
        <p:txBody>
          <a:bodyPr/>
          <a:lstStyle/>
          <a:p>
            <a:fld id="{AA8DD216-8863-4E8F-BFE9-249C6989CB78}" type="slidenum">
              <a:rPr lang="en-CA" smtClean="0"/>
              <a:t>‹#›</a:t>
            </a:fld>
            <a:endParaRPr lang="en-CA"/>
          </a:p>
        </p:txBody>
      </p:sp>
    </p:spTree>
    <p:extLst>
      <p:ext uri="{BB962C8B-B14F-4D97-AF65-F5344CB8AC3E}">
        <p14:creationId xmlns:p14="http://schemas.microsoft.com/office/powerpoint/2010/main" val="9793031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A4356-0114-04D7-0275-FFDBC79640D5}"/>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16739B6F-2E0B-8AEB-F930-DDDC446D52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25AA91C-5340-07E2-0152-91220E20F55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356EE69D-88D5-D560-A2C6-FA22AA7593B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9C60FAD-8029-E918-A03E-2D0B930E84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34760771-481D-593C-E0E3-D583ACB62094}"/>
              </a:ext>
            </a:extLst>
          </p:cNvPr>
          <p:cNvSpPr>
            <a:spLocks noGrp="1"/>
          </p:cNvSpPr>
          <p:nvPr>
            <p:ph type="dt" sz="half" idx="10"/>
          </p:nvPr>
        </p:nvSpPr>
        <p:spPr/>
        <p:txBody>
          <a:bodyPr/>
          <a:lstStyle/>
          <a:p>
            <a:endParaRPr lang="en-CA"/>
          </a:p>
        </p:txBody>
      </p:sp>
      <p:sp>
        <p:nvSpPr>
          <p:cNvPr id="8" name="Footer Placeholder 7">
            <a:extLst>
              <a:ext uri="{FF2B5EF4-FFF2-40B4-BE49-F238E27FC236}">
                <a16:creationId xmlns:a16="http://schemas.microsoft.com/office/drawing/2014/main" id="{BD8E15B2-888F-C58F-C959-FE321A6C6065}"/>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7B26240F-5DEA-50F3-AA35-208775E054F7}"/>
              </a:ext>
            </a:extLst>
          </p:cNvPr>
          <p:cNvSpPr>
            <a:spLocks noGrp="1"/>
          </p:cNvSpPr>
          <p:nvPr>
            <p:ph type="sldNum" sz="quarter" idx="12"/>
          </p:nvPr>
        </p:nvSpPr>
        <p:spPr/>
        <p:txBody>
          <a:bodyPr/>
          <a:lstStyle/>
          <a:p>
            <a:fld id="{AA8DD216-8863-4E8F-BFE9-249C6989CB78}" type="slidenum">
              <a:rPr lang="en-CA" smtClean="0"/>
              <a:t>‹#›</a:t>
            </a:fld>
            <a:endParaRPr lang="en-CA"/>
          </a:p>
        </p:txBody>
      </p:sp>
    </p:spTree>
    <p:extLst>
      <p:ext uri="{BB962C8B-B14F-4D97-AF65-F5344CB8AC3E}">
        <p14:creationId xmlns:p14="http://schemas.microsoft.com/office/powerpoint/2010/main" val="629891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D6222-4A9D-D1CD-2690-8A73D95C1D47}"/>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0734B197-7141-634F-5128-881A3A04D4AA}"/>
              </a:ext>
            </a:extLst>
          </p:cNvPr>
          <p:cNvSpPr>
            <a:spLocks noGrp="1"/>
          </p:cNvSpPr>
          <p:nvPr>
            <p:ph type="dt" sz="half" idx="10"/>
          </p:nvPr>
        </p:nvSpPr>
        <p:spPr/>
        <p:txBody>
          <a:bodyPr/>
          <a:lstStyle/>
          <a:p>
            <a:endParaRPr lang="en-CA"/>
          </a:p>
        </p:txBody>
      </p:sp>
      <p:sp>
        <p:nvSpPr>
          <p:cNvPr id="4" name="Footer Placeholder 3">
            <a:extLst>
              <a:ext uri="{FF2B5EF4-FFF2-40B4-BE49-F238E27FC236}">
                <a16:creationId xmlns:a16="http://schemas.microsoft.com/office/drawing/2014/main" id="{E5DE5D28-E455-623C-4083-148279E82A5C}"/>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06B0B023-E744-3ECA-CD91-9441FB628CEB}"/>
              </a:ext>
            </a:extLst>
          </p:cNvPr>
          <p:cNvSpPr>
            <a:spLocks noGrp="1"/>
          </p:cNvSpPr>
          <p:nvPr>
            <p:ph type="sldNum" sz="quarter" idx="12"/>
          </p:nvPr>
        </p:nvSpPr>
        <p:spPr/>
        <p:txBody>
          <a:bodyPr/>
          <a:lstStyle/>
          <a:p>
            <a:fld id="{AA8DD216-8863-4E8F-BFE9-249C6989CB78}" type="slidenum">
              <a:rPr lang="en-CA" smtClean="0"/>
              <a:t>‹#›</a:t>
            </a:fld>
            <a:endParaRPr lang="en-CA"/>
          </a:p>
        </p:txBody>
      </p:sp>
    </p:spTree>
    <p:extLst>
      <p:ext uri="{BB962C8B-B14F-4D97-AF65-F5344CB8AC3E}">
        <p14:creationId xmlns:p14="http://schemas.microsoft.com/office/powerpoint/2010/main" val="35690721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4ED9B1-9489-E814-EDD9-FDA310FDF582}"/>
              </a:ext>
            </a:extLst>
          </p:cNvPr>
          <p:cNvSpPr>
            <a:spLocks noGrp="1"/>
          </p:cNvSpPr>
          <p:nvPr>
            <p:ph type="dt" sz="half" idx="10"/>
          </p:nvPr>
        </p:nvSpPr>
        <p:spPr/>
        <p:txBody>
          <a:bodyPr/>
          <a:lstStyle/>
          <a:p>
            <a:endParaRPr lang="en-CA"/>
          </a:p>
        </p:txBody>
      </p:sp>
      <p:sp>
        <p:nvSpPr>
          <p:cNvPr id="3" name="Footer Placeholder 2">
            <a:extLst>
              <a:ext uri="{FF2B5EF4-FFF2-40B4-BE49-F238E27FC236}">
                <a16:creationId xmlns:a16="http://schemas.microsoft.com/office/drawing/2014/main" id="{F34C585B-6261-21E6-BBDE-C944C3F439C8}"/>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9C8A6661-ED2B-7232-2381-7E0A0F0FBD80}"/>
              </a:ext>
            </a:extLst>
          </p:cNvPr>
          <p:cNvSpPr>
            <a:spLocks noGrp="1"/>
          </p:cNvSpPr>
          <p:nvPr>
            <p:ph type="sldNum" sz="quarter" idx="12"/>
          </p:nvPr>
        </p:nvSpPr>
        <p:spPr/>
        <p:txBody>
          <a:bodyPr/>
          <a:lstStyle/>
          <a:p>
            <a:fld id="{AA8DD216-8863-4E8F-BFE9-249C6989CB78}" type="slidenum">
              <a:rPr lang="en-CA" smtClean="0"/>
              <a:t>‹#›</a:t>
            </a:fld>
            <a:endParaRPr lang="en-CA"/>
          </a:p>
        </p:txBody>
      </p:sp>
    </p:spTree>
    <p:extLst>
      <p:ext uri="{BB962C8B-B14F-4D97-AF65-F5344CB8AC3E}">
        <p14:creationId xmlns:p14="http://schemas.microsoft.com/office/powerpoint/2010/main" val="29307273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AB0E2-7D5A-16C1-6B37-C79F3E2B18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CF26472D-C2B5-D7C5-9EB4-56E17B5B60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35AA2262-A5B6-36C5-2A89-F6A617CF76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A95F83-77C1-E011-D041-01A9B1CBB74C}"/>
              </a:ext>
            </a:extLst>
          </p:cNvPr>
          <p:cNvSpPr>
            <a:spLocks noGrp="1"/>
          </p:cNvSpPr>
          <p:nvPr>
            <p:ph type="dt" sz="half" idx="10"/>
          </p:nvPr>
        </p:nvSpPr>
        <p:spPr/>
        <p:txBody>
          <a:bodyPr/>
          <a:lstStyle/>
          <a:p>
            <a:endParaRPr lang="en-CA"/>
          </a:p>
        </p:txBody>
      </p:sp>
      <p:sp>
        <p:nvSpPr>
          <p:cNvPr id="6" name="Footer Placeholder 5">
            <a:extLst>
              <a:ext uri="{FF2B5EF4-FFF2-40B4-BE49-F238E27FC236}">
                <a16:creationId xmlns:a16="http://schemas.microsoft.com/office/drawing/2014/main" id="{EF97DA26-62EB-8267-BFF7-B25B2FA762F5}"/>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EA1ED80B-1263-D42B-A7EF-7CDA30DF1BC2}"/>
              </a:ext>
            </a:extLst>
          </p:cNvPr>
          <p:cNvSpPr>
            <a:spLocks noGrp="1"/>
          </p:cNvSpPr>
          <p:nvPr>
            <p:ph type="sldNum" sz="quarter" idx="12"/>
          </p:nvPr>
        </p:nvSpPr>
        <p:spPr/>
        <p:txBody>
          <a:bodyPr/>
          <a:lstStyle/>
          <a:p>
            <a:fld id="{AA8DD216-8863-4E8F-BFE9-249C6989CB78}" type="slidenum">
              <a:rPr lang="en-CA" smtClean="0"/>
              <a:t>‹#›</a:t>
            </a:fld>
            <a:endParaRPr lang="en-CA"/>
          </a:p>
        </p:txBody>
      </p:sp>
    </p:spTree>
    <p:extLst>
      <p:ext uri="{BB962C8B-B14F-4D97-AF65-F5344CB8AC3E}">
        <p14:creationId xmlns:p14="http://schemas.microsoft.com/office/powerpoint/2010/main" val="21835286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156FE-B3A3-1244-6C96-93A87A5DFD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3C891F2F-AB42-593C-B6C5-586CE62651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AE7AB7A1-2D0A-3129-B3F5-B1B6283E1D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0F223B-DFC6-4597-1792-EDF29799DDD5}"/>
              </a:ext>
            </a:extLst>
          </p:cNvPr>
          <p:cNvSpPr>
            <a:spLocks noGrp="1"/>
          </p:cNvSpPr>
          <p:nvPr>
            <p:ph type="dt" sz="half" idx="10"/>
          </p:nvPr>
        </p:nvSpPr>
        <p:spPr/>
        <p:txBody>
          <a:bodyPr/>
          <a:lstStyle/>
          <a:p>
            <a:endParaRPr lang="en-CA"/>
          </a:p>
        </p:txBody>
      </p:sp>
      <p:sp>
        <p:nvSpPr>
          <p:cNvPr id="6" name="Footer Placeholder 5">
            <a:extLst>
              <a:ext uri="{FF2B5EF4-FFF2-40B4-BE49-F238E27FC236}">
                <a16:creationId xmlns:a16="http://schemas.microsoft.com/office/drawing/2014/main" id="{0549AB87-EE7E-73CD-F7B6-832408CB39A3}"/>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0FB9D35-77E4-1426-749F-63692A74FF9D}"/>
              </a:ext>
            </a:extLst>
          </p:cNvPr>
          <p:cNvSpPr>
            <a:spLocks noGrp="1"/>
          </p:cNvSpPr>
          <p:nvPr>
            <p:ph type="sldNum" sz="quarter" idx="12"/>
          </p:nvPr>
        </p:nvSpPr>
        <p:spPr/>
        <p:txBody>
          <a:bodyPr/>
          <a:lstStyle/>
          <a:p>
            <a:fld id="{AA8DD216-8863-4E8F-BFE9-249C6989CB78}" type="slidenum">
              <a:rPr lang="en-CA" smtClean="0"/>
              <a:t>‹#›</a:t>
            </a:fld>
            <a:endParaRPr lang="en-CA"/>
          </a:p>
        </p:txBody>
      </p:sp>
    </p:spTree>
    <p:extLst>
      <p:ext uri="{BB962C8B-B14F-4D97-AF65-F5344CB8AC3E}">
        <p14:creationId xmlns:p14="http://schemas.microsoft.com/office/powerpoint/2010/main" val="1685925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A7327-2702-2F62-1C3E-ABF62AE6DAA2}"/>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3D9E6C1D-CC22-6374-D25C-C90D0364908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12F81467-F1A1-8B4F-0A2B-0CA0D5EB6BB4}"/>
              </a:ext>
            </a:extLst>
          </p:cNvPr>
          <p:cNvSpPr>
            <a:spLocks noGrp="1"/>
          </p:cNvSpPr>
          <p:nvPr>
            <p:ph type="dt" sz="half" idx="10"/>
          </p:nvPr>
        </p:nvSpPr>
        <p:spPr/>
        <p:txBody>
          <a:bodyPr/>
          <a:lstStyle/>
          <a:p>
            <a:endParaRPr lang="en-CA"/>
          </a:p>
        </p:txBody>
      </p:sp>
      <p:sp>
        <p:nvSpPr>
          <p:cNvPr id="5" name="Footer Placeholder 4">
            <a:extLst>
              <a:ext uri="{FF2B5EF4-FFF2-40B4-BE49-F238E27FC236}">
                <a16:creationId xmlns:a16="http://schemas.microsoft.com/office/drawing/2014/main" id="{99CC4692-3D6C-EE86-8F9C-E68C934463CB}"/>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021DD0A2-C027-AB2F-3C12-34F569DE3DBC}"/>
              </a:ext>
            </a:extLst>
          </p:cNvPr>
          <p:cNvSpPr>
            <a:spLocks noGrp="1"/>
          </p:cNvSpPr>
          <p:nvPr>
            <p:ph type="sldNum" sz="quarter" idx="12"/>
          </p:nvPr>
        </p:nvSpPr>
        <p:spPr/>
        <p:txBody>
          <a:bodyPr/>
          <a:lstStyle/>
          <a:p>
            <a:fld id="{AA8DD216-8863-4E8F-BFE9-249C6989CB78}" type="slidenum">
              <a:rPr lang="en-CA" smtClean="0"/>
              <a:t>‹#›</a:t>
            </a:fld>
            <a:endParaRPr lang="en-CA"/>
          </a:p>
        </p:txBody>
      </p:sp>
    </p:spTree>
    <p:extLst>
      <p:ext uri="{BB962C8B-B14F-4D97-AF65-F5344CB8AC3E}">
        <p14:creationId xmlns:p14="http://schemas.microsoft.com/office/powerpoint/2010/main" val="37189790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1925EC-9317-863E-CDAF-8895F7F0850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BE563FBD-BB9A-07C6-B716-7A460262745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79FDFF3-E069-CB9F-2E81-C0AF9CAD54C7}"/>
              </a:ext>
            </a:extLst>
          </p:cNvPr>
          <p:cNvSpPr>
            <a:spLocks noGrp="1"/>
          </p:cNvSpPr>
          <p:nvPr>
            <p:ph type="dt" sz="half" idx="10"/>
          </p:nvPr>
        </p:nvSpPr>
        <p:spPr/>
        <p:txBody>
          <a:bodyPr/>
          <a:lstStyle/>
          <a:p>
            <a:endParaRPr lang="en-CA"/>
          </a:p>
        </p:txBody>
      </p:sp>
      <p:sp>
        <p:nvSpPr>
          <p:cNvPr id="5" name="Footer Placeholder 4">
            <a:extLst>
              <a:ext uri="{FF2B5EF4-FFF2-40B4-BE49-F238E27FC236}">
                <a16:creationId xmlns:a16="http://schemas.microsoft.com/office/drawing/2014/main" id="{619481D8-20BE-7342-27C3-B143D7D73B06}"/>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4446B4CB-4698-15A2-12D6-99F06075CD3F}"/>
              </a:ext>
            </a:extLst>
          </p:cNvPr>
          <p:cNvSpPr>
            <a:spLocks noGrp="1"/>
          </p:cNvSpPr>
          <p:nvPr>
            <p:ph type="sldNum" sz="quarter" idx="12"/>
          </p:nvPr>
        </p:nvSpPr>
        <p:spPr/>
        <p:txBody>
          <a:bodyPr/>
          <a:lstStyle/>
          <a:p>
            <a:fld id="{AA8DD216-8863-4E8F-BFE9-249C6989CB78}" type="slidenum">
              <a:rPr lang="en-CA" smtClean="0"/>
              <a:t>‹#›</a:t>
            </a:fld>
            <a:endParaRPr lang="en-CA"/>
          </a:p>
        </p:txBody>
      </p:sp>
    </p:spTree>
    <p:extLst>
      <p:ext uri="{BB962C8B-B14F-4D97-AF65-F5344CB8AC3E}">
        <p14:creationId xmlns:p14="http://schemas.microsoft.com/office/powerpoint/2010/main" val="41663864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p:cSld name="1_Title Slide">
    <p:bg>
      <p:bgPr>
        <a:blipFill>
          <a:blip r:embed="rId2">
            <a:alphaModFix/>
          </a:blip>
          <a:stretch>
            <a:fillRect/>
          </a:stretch>
        </a:blipFill>
        <a:effectLst/>
      </p:bgPr>
    </p:bg>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1191909" y="1051240"/>
            <a:ext cx="6896023" cy="2342688"/>
          </a:xfrm>
          <a:prstGeom prst="rect">
            <a:avLst/>
          </a:prstGeom>
          <a:noFill/>
          <a:ln>
            <a:noFill/>
          </a:ln>
        </p:spPr>
        <p:txBody>
          <a:bodyPr spcFirstLastPara="1" wrap="square" lIns="91425" tIns="45700" rIns="91425" bIns="45700" anchor="b" anchorCtr="0">
            <a:normAutofit/>
          </a:bodyPr>
          <a:lstStyle>
            <a:lvl1pPr marR="0" lvl="0" algn="l" rtl="0">
              <a:lnSpc>
                <a:spcPct val="93333"/>
              </a:lnSpc>
              <a:spcBef>
                <a:spcPts val="0"/>
              </a:spcBef>
              <a:spcAft>
                <a:spcPts val="0"/>
              </a:spcAft>
              <a:buClr>
                <a:schemeClr val="accent1"/>
              </a:buClr>
              <a:buSzPts val="6000"/>
              <a:buFont typeface="Calibri"/>
              <a:buNone/>
              <a:defRPr sz="6000" b="1" i="0" u="none" strike="noStrike" cap="none">
                <a:solidFill>
                  <a:schemeClr val="accen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2"/>
          <p:cNvSpPr txBox="1">
            <a:spLocks noGrp="1"/>
          </p:cNvSpPr>
          <p:nvPr>
            <p:ph type="subTitle" idx="1"/>
          </p:nvPr>
        </p:nvSpPr>
        <p:spPr>
          <a:xfrm>
            <a:off x="1191909" y="3393929"/>
            <a:ext cx="7841294" cy="714931"/>
          </a:xfrm>
          <a:prstGeom prst="rect">
            <a:avLst/>
          </a:prstGeom>
          <a:noFill/>
          <a:ln>
            <a:noFill/>
          </a:ln>
        </p:spPr>
        <p:txBody>
          <a:bodyPr spcFirstLastPara="1" wrap="square" lIns="91425" tIns="45700" rIns="91425" bIns="45700" anchor="t" anchorCtr="0">
            <a:noAutofit/>
          </a:bodyPr>
          <a:lstStyle>
            <a:lvl1pPr marR="0" lvl="0" algn="l" rtl="0">
              <a:lnSpc>
                <a:spcPct val="108333"/>
              </a:lnSpc>
              <a:spcBef>
                <a:spcPts val="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3" name="Google Shape;13;p2"/>
          <p:cNvSpPr txBox="1">
            <a:spLocks noGrp="1"/>
          </p:cNvSpPr>
          <p:nvPr>
            <p:ph type="body" idx="2"/>
          </p:nvPr>
        </p:nvSpPr>
        <p:spPr>
          <a:xfrm>
            <a:off x="1191909" y="4398461"/>
            <a:ext cx="7841294" cy="1125689"/>
          </a:xfrm>
          <a:prstGeom prst="rect">
            <a:avLst/>
          </a:prstGeom>
          <a:noFill/>
          <a:ln>
            <a:noFill/>
          </a:ln>
        </p:spPr>
        <p:txBody>
          <a:bodyPr spcFirstLastPara="1" wrap="square" lIns="91425" tIns="45700" rIns="91425" bIns="45700" anchor="b" anchorCtr="0">
            <a:noAutofit/>
          </a:bodyPr>
          <a:lstStyle>
            <a:lvl1pPr marL="457200" marR="0" lvl="0" indent="-228600" algn="l" rtl="0">
              <a:lnSpc>
                <a:spcPct val="111111"/>
              </a:lnSpc>
              <a:spcBef>
                <a:spcPts val="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4" name="Google Shape;14;p2"/>
          <p:cNvSpPr txBox="1">
            <a:spLocks noGrp="1"/>
          </p:cNvSpPr>
          <p:nvPr>
            <p:ph type="body" idx="3"/>
          </p:nvPr>
        </p:nvSpPr>
        <p:spPr>
          <a:xfrm>
            <a:off x="1191909" y="5530413"/>
            <a:ext cx="6586081" cy="521874"/>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0"/>
              </a:spcBef>
              <a:spcAft>
                <a:spcPts val="0"/>
              </a:spcAft>
              <a:buClr>
                <a:schemeClr val="accent3"/>
              </a:buClr>
              <a:buSzPts val="1400"/>
              <a:buFont typeface="Arial"/>
              <a:buNone/>
              <a:defRPr sz="1400" b="1" i="0" u="none" strike="noStrike" cap="none">
                <a:solidFill>
                  <a:schemeClr val="accent3"/>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476382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ncluding slide">
  <p:cSld name="Concluding slide">
    <p:bg>
      <p:bgPr>
        <a:blipFill>
          <a:blip r:embed="rId2">
            <a:alphaModFix/>
          </a:blip>
          <a:stretch>
            <a:fillRect/>
          </a:stretch>
        </a:blipFill>
        <a:effectLst/>
      </p:bgPr>
    </p:bg>
    <p:spTree>
      <p:nvGrpSpPr>
        <p:cNvPr id="1" name="Shape 34"/>
        <p:cNvGrpSpPr/>
        <p:nvPr/>
      </p:nvGrpSpPr>
      <p:grpSpPr>
        <a:xfrm>
          <a:off x="0" y="0"/>
          <a:ext cx="0" cy="0"/>
          <a:chOff x="0" y="0"/>
          <a:chExt cx="0" cy="0"/>
        </a:xfrm>
      </p:grpSpPr>
      <p:sp>
        <p:nvSpPr>
          <p:cNvPr id="35" name="Google Shape;35;p7"/>
          <p:cNvSpPr txBox="1">
            <a:spLocks noGrp="1"/>
          </p:cNvSpPr>
          <p:nvPr>
            <p:ph type="ctrTitle"/>
          </p:nvPr>
        </p:nvSpPr>
        <p:spPr>
          <a:xfrm>
            <a:off x="1578279" y="1577649"/>
            <a:ext cx="8418337" cy="1928468"/>
          </a:xfrm>
          <a:prstGeom prst="rect">
            <a:avLst/>
          </a:prstGeom>
          <a:noFill/>
          <a:ln>
            <a:noFill/>
          </a:ln>
        </p:spPr>
        <p:txBody>
          <a:bodyPr spcFirstLastPara="1" wrap="square" lIns="91425" tIns="45700" rIns="91425" bIns="45700" anchor="b" anchorCtr="0">
            <a:normAutofit/>
          </a:bodyPr>
          <a:lstStyle>
            <a:lvl1pPr marR="0" lvl="0" algn="l" rtl="0">
              <a:lnSpc>
                <a:spcPct val="105555"/>
              </a:lnSpc>
              <a:spcBef>
                <a:spcPts val="0"/>
              </a:spcBef>
              <a:spcAft>
                <a:spcPts val="0"/>
              </a:spcAft>
              <a:buClr>
                <a:schemeClr val="accent1"/>
              </a:buClr>
              <a:buSzPts val="3600"/>
              <a:buFont typeface="Calibri"/>
              <a:buNone/>
              <a:defRPr sz="3600" b="1" i="0" u="none" strike="noStrike" cap="none">
                <a:solidFill>
                  <a:schemeClr val="accen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6" name="Google Shape;36;p7"/>
          <p:cNvSpPr txBox="1">
            <a:spLocks noGrp="1"/>
          </p:cNvSpPr>
          <p:nvPr>
            <p:ph type="subTitle" idx="1"/>
          </p:nvPr>
        </p:nvSpPr>
        <p:spPr>
          <a:xfrm>
            <a:off x="1578279" y="3521318"/>
            <a:ext cx="8418337" cy="780997"/>
          </a:xfrm>
          <a:prstGeom prst="rect">
            <a:avLst/>
          </a:prstGeom>
          <a:noFill/>
          <a:ln>
            <a:noFill/>
          </a:ln>
        </p:spPr>
        <p:txBody>
          <a:bodyPr spcFirstLastPara="1" wrap="square" lIns="91425" tIns="45700" rIns="91425" bIns="45700" anchor="t" anchorCtr="0">
            <a:noAutofit/>
          </a:bodyPr>
          <a:lstStyle>
            <a:lvl1pPr marR="0" lvl="0" algn="l" rtl="0">
              <a:lnSpc>
                <a:spcPct val="108333"/>
              </a:lnSpc>
              <a:spcBef>
                <a:spcPts val="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37" name="Google Shape;37;p7"/>
          <p:cNvSpPr txBox="1">
            <a:spLocks noGrp="1"/>
          </p:cNvSpPr>
          <p:nvPr>
            <p:ph type="body" idx="2"/>
          </p:nvPr>
        </p:nvSpPr>
        <p:spPr>
          <a:xfrm>
            <a:off x="1578279" y="4317516"/>
            <a:ext cx="8418337" cy="1468879"/>
          </a:xfrm>
          <a:prstGeom prst="rect">
            <a:avLst/>
          </a:prstGeom>
          <a:noFill/>
          <a:ln>
            <a:noFill/>
          </a:ln>
        </p:spPr>
        <p:txBody>
          <a:bodyPr spcFirstLastPara="1" wrap="square" lIns="91425" tIns="45700" rIns="91425" bIns="45700" anchor="b" anchorCtr="0">
            <a:noAutofit/>
          </a:bodyPr>
          <a:lstStyle>
            <a:lvl1pPr marL="457200" marR="0" lvl="0" indent="-228600" algn="l" rtl="0">
              <a:lnSpc>
                <a:spcPct val="111111"/>
              </a:lnSpc>
              <a:spcBef>
                <a:spcPts val="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1140192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A987D0-BE29-B7B2-A684-1A13F801B6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29DB9A8A-643D-8F52-5116-C84E76595C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2B78E907-9F17-2E28-0ED4-9344F35C08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CA"/>
          </a:p>
        </p:txBody>
      </p:sp>
      <p:sp>
        <p:nvSpPr>
          <p:cNvPr id="5" name="Footer Placeholder 4">
            <a:extLst>
              <a:ext uri="{FF2B5EF4-FFF2-40B4-BE49-F238E27FC236}">
                <a16:creationId xmlns:a16="http://schemas.microsoft.com/office/drawing/2014/main" id="{C93E473F-4836-44D7-7DD1-E569C67DDB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FBF0794F-1392-DE56-6674-D23A50FA2D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A8DD216-8863-4E8F-BFE9-249C6989CB78}" type="slidenum">
              <a:rPr lang="en-CA" smtClean="0"/>
              <a:t>‹#›</a:t>
            </a:fld>
            <a:endParaRPr lang="en-CA"/>
          </a:p>
        </p:txBody>
      </p:sp>
    </p:spTree>
    <p:extLst>
      <p:ext uri="{BB962C8B-B14F-4D97-AF65-F5344CB8AC3E}">
        <p14:creationId xmlns:p14="http://schemas.microsoft.com/office/powerpoint/2010/main" val="1892914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1"/>
        <p:cNvGrpSpPr/>
        <p:nvPr/>
      </p:nvGrpSpPr>
      <p:grpSpPr>
        <a:xfrm>
          <a:off x="0" y="0"/>
          <a:ext cx="0" cy="0"/>
          <a:chOff x="0" y="0"/>
          <a:chExt cx="0" cy="0"/>
        </a:xfrm>
      </p:grpSpPr>
      <p:sp>
        <p:nvSpPr>
          <p:cNvPr id="42" name="Google Shape;42;p8"/>
          <p:cNvSpPr txBox="1">
            <a:spLocks noGrp="1"/>
          </p:cNvSpPr>
          <p:nvPr>
            <p:ph type="ctrTitle"/>
          </p:nvPr>
        </p:nvSpPr>
        <p:spPr>
          <a:xfrm>
            <a:off x="1191909" y="1051240"/>
            <a:ext cx="7841294" cy="2342688"/>
          </a:xfrm>
          <a:prstGeom prst="rect">
            <a:avLst/>
          </a:prstGeom>
          <a:noFill/>
          <a:ln>
            <a:noFill/>
          </a:ln>
        </p:spPr>
        <p:txBody>
          <a:bodyPr spcFirstLastPara="1" wrap="square" lIns="91425" tIns="45700" rIns="91425" bIns="45700" anchor="b" anchorCtr="0">
            <a:normAutofit/>
          </a:bodyPr>
          <a:lstStyle/>
          <a:p>
            <a:r>
              <a:rPr lang="en-CA" dirty="0"/>
              <a:t>Final Presentation and Demo</a:t>
            </a:r>
          </a:p>
        </p:txBody>
      </p:sp>
      <p:sp>
        <p:nvSpPr>
          <p:cNvPr id="43" name="Google Shape;43;p8"/>
          <p:cNvSpPr txBox="1">
            <a:spLocks noGrp="1"/>
          </p:cNvSpPr>
          <p:nvPr>
            <p:ph type="subTitle" idx="1"/>
          </p:nvPr>
        </p:nvSpPr>
        <p:spPr>
          <a:xfrm>
            <a:off x="1191908" y="3393929"/>
            <a:ext cx="9108031" cy="714931"/>
          </a:xfrm>
          <a:prstGeom prst="rect">
            <a:avLst/>
          </a:prstGeom>
          <a:noFill/>
          <a:ln>
            <a:noFill/>
          </a:ln>
        </p:spPr>
        <p:txBody>
          <a:bodyPr spcFirstLastPara="1" wrap="square" lIns="91425" tIns="45700" rIns="91425" bIns="45700" anchor="t" anchorCtr="0">
            <a:noAutofit/>
          </a:bodyPr>
          <a:lstStyle/>
          <a:p>
            <a:pPr lvl="0"/>
            <a:r>
              <a:rPr lang="en-CA" dirty="0"/>
              <a:t>Hardware Implementation and Optimization of GRUs for BCI systems </a:t>
            </a:r>
            <a:endParaRPr dirty="0"/>
          </a:p>
        </p:txBody>
      </p:sp>
      <p:sp>
        <p:nvSpPr>
          <p:cNvPr id="44" name="Google Shape;44;p8"/>
          <p:cNvSpPr txBox="1">
            <a:spLocks noGrp="1"/>
          </p:cNvSpPr>
          <p:nvPr>
            <p:ph type="body" idx="2"/>
          </p:nvPr>
        </p:nvSpPr>
        <p:spPr>
          <a:xfrm>
            <a:off x="1191909" y="4398461"/>
            <a:ext cx="7841294" cy="417905"/>
          </a:xfrm>
          <a:prstGeom prst="rect">
            <a:avLst/>
          </a:prstGeom>
          <a:noFill/>
          <a:ln>
            <a:noFill/>
          </a:ln>
        </p:spPr>
        <p:txBody>
          <a:bodyPr spcFirstLastPara="1" wrap="square" lIns="91425" tIns="45700" rIns="91425" bIns="45700" anchor="b" anchorCtr="0">
            <a:noAutofit/>
          </a:bodyPr>
          <a:lstStyle/>
          <a:p>
            <a:pPr marL="0" lvl="0" indent="0" algn="l" rtl="0">
              <a:lnSpc>
                <a:spcPct val="111111"/>
              </a:lnSpc>
              <a:spcBef>
                <a:spcPts val="0"/>
              </a:spcBef>
              <a:spcAft>
                <a:spcPts val="0"/>
              </a:spcAft>
              <a:buClr>
                <a:schemeClr val="dk1"/>
              </a:buClr>
              <a:buSzPts val="1800"/>
              <a:buNone/>
            </a:pPr>
            <a:r>
              <a:rPr lang="en-US" dirty="0"/>
              <a:t>Lex Berezowski</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0">
          <a:extLst>
            <a:ext uri="{FF2B5EF4-FFF2-40B4-BE49-F238E27FC236}">
              <a16:creationId xmlns:a16="http://schemas.microsoft.com/office/drawing/2014/main" id="{A350E0E1-643A-0CC8-AEA9-843A67FA165C}"/>
            </a:ext>
          </a:extLst>
        </p:cNvPr>
        <p:cNvGrpSpPr/>
        <p:nvPr/>
      </p:nvGrpSpPr>
      <p:grpSpPr>
        <a:xfrm>
          <a:off x="0" y="0"/>
          <a:ext cx="0" cy="0"/>
          <a:chOff x="0" y="0"/>
          <a:chExt cx="0" cy="0"/>
        </a:xfrm>
      </p:grpSpPr>
      <p:sp>
        <p:nvSpPr>
          <p:cNvPr id="51" name="Google Shape;51;p9">
            <a:extLst>
              <a:ext uri="{FF2B5EF4-FFF2-40B4-BE49-F238E27FC236}">
                <a16:creationId xmlns:a16="http://schemas.microsoft.com/office/drawing/2014/main" id="{D670861C-C6D3-8E96-AA64-88726F89CCB7}"/>
              </a:ext>
            </a:extLst>
          </p:cNvPr>
          <p:cNvSpPr txBox="1">
            <a:spLocks noGrp="1"/>
          </p:cNvSpPr>
          <p:nvPr>
            <p:ph type="ctrTitle"/>
          </p:nvPr>
        </p:nvSpPr>
        <p:spPr>
          <a:xfrm>
            <a:off x="1886850" y="480475"/>
            <a:ext cx="8418300" cy="861600"/>
          </a:xfrm>
          <a:prstGeom prst="rect">
            <a:avLst/>
          </a:prstGeom>
        </p:spPr>
        <p:txBody>
          <a:bodyPr spcFirstLastPara="1" wrap="square" lIns="91425" tIns="45700" rIns="91425" bIns="45700" anchor="b" anchorCtr="0">
            <a:normAutofit fontScale="90000"/>
          </a:bodyPr>
          <a:lstStyle/>
          <a:p>
            <a:pPr lvl="0" algn="ctr"/>
            <a:r>
              <a:rPr lang="en-CA" sz="4000" dirty="0"/>
              <a:t>Literature Review – Architecture of a BCI System</a:t>
            </a:r>
            <a:endParaRPr sz="4000" dirty="0"/>
          </a:p>
        </p:txBody>
      </p:sp>
      <p:pic>
        <p:nvPicPr>
          <p:cNvPr id="2" name="Picture 1">
            <a:extLst>
              <a:ext uri="{FF2B5EF4-FFF2-40B4-BE49-F238E27FC236}">
                <a16:creationId xmlns:a16="http://schemas.microsoft.com/office/drawing/2014/main" id="{89500C8C-E3CE-77D1-BC17-4B4093FACC57}"/>
              </a:ext>
            </a:extLst>
          </p:cNvPr>
          <p:cNvPicPr>
            <a:picLocks noChangeAspect="1"/>
          </p:cNvPicPr>
          <p:nvPr/>
        </p:nvPicPr>
        <p:blipFill>
          <a:blip r:embed="rId3"/>
          <a:stretch>
            <a:fillRect/>
          </a:stretch>
        </p:blipFill>
        <p:spPr>
          <a:xfrm>
            <a:off x="2203086" y="1555175"/>
            <a:ext cx="7785828" cy="5112479"/>
          </a:xfrm>
          <a:prstGeom prst="rect">
            <a:avLst/>
          </a:prstGeom>
        </p:spPr>
      </p:pic>
      <p:sp>
        <p:nvSpPr>
          <p:cNvPr id="5" name="TextBox 4">
            <a:extLst>
              <a:ext uri="{FF2B5EF4-FFF2-40B4-BE49-F238E27FC236}">
                <a16:creationId xmlns:a16="http://schemas.microsoft.com/office/drawing/2014/main" id="{340400F7-B47B-F582-9A73-DA21F43C5276}"/>
              </a:ext>
            </a:extLst>
          </p:cNvPr>
          <p:cNvSpPr txBox="1"/>
          <p:nvPr/>
        </p:nvSpPr>
        <p:spPr>
          <a:xfrm>
            <a:off x="0" y="5892969"/>
            <a:ext cx="6096000" cy="969111"/>
          </a:xfrm>
          <a:prstGeom prst="rect">
            <a:avLst/>
          </a:prstGeom>
          <a:noFill/>
        </p:spPr>
        <p:txBody>
          <a:bodyPr wrap="square">
            <a:spAutoFit/>
          </a:bodyPr>
          <a:lstStyle/>
          <a:p>
            <a:pPr lvl="0">
              <a:lnSpc>
                <a:spcPct val="107000"/>
              </a:lnSpc>
              <a:spcAft>
                <a:spcPts val="800"/>
              </a:spcAft>
            </a:pPr>
            <a:r>
              <a:rPr lang="en-CA" sz="1800" kern="100" dirty="0">
                <a:effectLst/>
                <a:latin typeface="Times New Roman" panose="02020603050405020304" pitchFamily="18" charset="0"/>
                <a:ea typeface="Aptos" panose="020B0004020202020204" pitchFamily="34" charset="0"/>
                <a:cs typeface="Times New Roman" panose="02020603050405020304" pitchFamily="18" charset="0"/>
              </a:rPr>
              <a:t>L. F. Nicolas-Alonso and J. Gomez-Gil, “Brain Computer Interfaces, a review,” Sensors, vol. 12, no. 2, pp. 1211–1279, Jan. 2012. doi:10.3390/s120201211</a:t>
            </a:r>
            <a:endParaRPr lang="en-CA"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2548530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0">
          <a:extLst>
            <a:ext uri="{FF2B5EF4-FFF2-40B4-BE49-F238E27FC236}">
              <a16:creationId xmlns:a16="http://schemas.microsoft.com/office/drawing/2014/main" id="{1B6D49CD-B053-4D65-2818-2346975D6011}"/>
            </a:ext>
          </a:extLst>
        </p:cNvPr>
        <p:cNvGrpSpPr/>
        <p:nvPr/>
      </p:nvGrpSpPr>
      <p:grpSpPr>
        <a:xfrm>
          <a:off x="0" y="0"/>
          <a:ext cx="0" cy="0"/>
          <a:chOff x="0" y="0"/>
          <a:chExt cx="0" cy="0"/>
        </a:xfrm>
      </p:grpSpPr>
      <p:sp>
        <p:nvSpPr>
          <p:cNvPr id="51" name="Google Shape;51;p9">
            <a:extLst>
              <a:ext uri="{FF2B5EF4-FFF2-40B4-BE49-F238E27FC236}">
                <a16:creationId xmlns:a16="http://schemas.microsoft.com/office/drawing/2014/main" id="{1B5951A4-0738-0DAF-9DEF-B6A764B8D705}"/>
              </a:ext>
            </a:extLst>
          </p:cNvPr>
          <p:cNvSpPr txBox="1">
            <a:spLocks noGrp="1"/>
          </p:cNvSpPr>
          <p:nvPr>
            <p:ph type="ctrTitle"/>
          </p:nvPr>
        </p:nvSpPr>
        <p:spPr>
          <a:xfrm>
            <a:off x="1886850" y="480475"/>
            <a:ext cx="8418300" cy="861600"/>
          </a:xfrm>
          <a:prstGeom prst="rect">
            <a:avLst/>
          </a:prstGeom>
        </p:spPr>
        <p:txBody>
          <a:bodyPr spcFirstLastPara="1" wrap="square" lIns="91425" tIns="45700" rIns="91425" bIns="45700" anchor="b" anchorCtr="0">
            <a:normAutofit/>
          </a:bodyPr>
          <a:lstStyle/>
          <a:p>
            <a:pPr lvl="0" algn="ctr"/>
            <a:r>
              <a:rPr lang="en-CA" sz="4000" dirty="0"/>
              <a:t>Literature Review – GRU</a:t>
            </a:r>
            <a:endParaRPr sz="4000" dirty="0"/>
          </a:p>
        </p:txBody>
      </p:sp>
      <p:sp>
        <p:nvSpPr>
          <p:cNvPr id="53" name="Google Shape;53;p9">
            <a:extLst>
              <a:ext uri="{FF2B5EF4-FFF2-40B4-BE49-F238E27FC236}">
                <a16:creationId xmlns:a16="http://schemas.microsoft.com/office/drawing/2014/main" id="{D1E895A9-DC94-111B-3358-AC54049271B8}"/>
              </a:ext>
            </a:extLst>
          </p:cNvPr>
          <p:cNvSpPr txBox="1"/>
          <p:nvPr/>
        </p:nvSpPr>
        <p:spPr>
          <a:xfrm>
            <a:off x="1886850" y="1529254"/>
            <a:ext cx="8418300" cy="4698497"/>
          </a:xfrm>
          <a:prstGeom prst="rect">
            <a:avLst/>
          </a:prstGeom>
          <a:noFill/>
          <a:ln>
            <a:noFill/>
          </a:ln>
        </p:spPr>
        <p:txBody>
          <a:bodyPr spcFirstLastPara="1" wrap="square" lIns="91425" tIns="45700" rIns="91425" bIns="45700" anchor="t" anchorCtr="0">
            <a:noAutofit/>
          </a:bodyPr>
          <a:lstStyle/>
          <a:p>
            <a:pPr lvl="0" algn="l" rtl="0">
              <a:lnSpc>
                <a:spcPct val="90000"/>
              </a:lnSpc>
              <a:spcBef>
                <a:spcPts val="1000"/>
              </a:spcBef>
              <a:spcAft>
                <a:spcPts val="0"/>
              </a:spcAft>
            </a:pPr>
            <a:r>
              <a:rPr lang="en-US" sz="2000" dirty="0">
                <a:latin typeface="Calibri"/>
                <a:ea typeface="Calibri"/>
                <a:cs typeface="Calibri"/>
                <a:sym typeface="Calibri"/>
              </a:rPr>
              <a:t>Stuff</a:t>
            </a:r>
            <a:endParaRPr sz="2000" dirty="0">
              <a:latin typeface="Calibri"/>
              <a:ea typeface="Calibri"/>
              <a:cs typeface="Calibri"/>
              <a:sym typeface="Calibri"/>
            </a:endParaRPr>
          </a:p>
        </p:txBody>
      </p:sp>
      <p:pic>
        <p:nvPicPr>
          <p:cNvPr id="2" name="Picture 1">
            <a:extLst>
              <a:ext uri="{FF2B5EF4-FFF2-40B4-BE49-F238E27FC236}">
                <a16:creationId xmlns:a16="http://schemas.microsoft.com/office/drawing/2014/main" id="{F82A1E66-B0C6-8AE5-114B-32F647F4A6DF}"/>
              </a:ext>
            </a:extLst>
          </p:cNvPr>
          <p:cNvPicPr>
            <a:picLocks noChangeAspect="1"/>
          </p:cNvPicPr>
          <p:nvPr/>
        </p:nvPicPr>
        <p:blipFill>
          <a:blip r:embed="rId3"/>
          <a:stretch>
            <a:fillRect/>
          </a:stretch>
        </p:blipFill>
        <p:spPr>
          <a:xfrm>
            <a:off x="699932" y="1426772"/>
            <a:ext cx="10792135" cy="4251755"/>
          </a:xfrm>
          <a:prstGeom prst="rect">
            <a:avLst/>
          </a:prstGeom>
        </p:spPr>
      </p:pic>
      <p:sp>
        <p:nvSpPr>
          <p:cNvPr id="4" name="TextBox 3">
            <a:extLst>
              <a:ext uri="{FF2B5EF4-FFF2-40B4-BE49-F238E27FC236}">
                <a16:creationId xmlns:a16="http://schemas.microsoft.com/office/drawing/2014/main" id="{1BC3E0DE-3876-6D43-0966-488AF13F6AD3}"/>
              </a:ext>
            </a:extLst>
          </p:cNvPr>
          <p:cNvSpPr txBox="1"/>
          <p:nvPr/>
        </p:nvSpPr>
        <p:spPr>
          <a:xfrm>
            <a:off x="0" y="5981790"/>
            <a:ext cx="6098874" cy="923330"/>
          </a:xfrm>
          <a:prstGeom prst="rect">
            <a:avLst/>
          </a:prstGeom>
          <a:noFill/>
        </p:spPr>
        <p:txBody>
          <a:bodyPr wrap="square">
            <a:spAutoFit/>
          </a:bodyPr>
          <a:lstStyle/>
          <a:p>
            <a:pPr lvl="0">
              <a:spcBef>
                <a:spcPts val="500"/>
              </a:spcBef>
            </a:pPr>
            <a:r>
              <a:rPr lang="en-CA" sz="1800" dirty="0">
                <a:effectLst/>
                <a:latin typeface="Times New Roman" panose="02020603050405020304" pitchFamily="18" charset="0"/>
                <a:ea typeface="Times New Roman" panose="02020603050405020304" pitchFamily="18" charset="0"/>
              </a:rPr>
              <a:t>AIML.com, “Sequence models compared: RNNS, </a:t>
            </a:r>
            <a:r>
              <a:rPr lang="en-CA" sz="1800" dirty="0" err="1">
                <a:effectLst/>
                <a:latin typeface="Times New Roman" panose="02020603050405020304" pitchFamily="18" charset="0"/>
                <a:ea typeface="Times New Roman" panose="02020603050405020304" pitchFamily="18" charset="0"/>
              </a:rPr>
              <a:t>lstms</a:t>
            </a:r>
            <a:r>
              <a:rPr lang="en-CA" sz="1800" dirty="0">
                <a:effectLst/>
                <a:latin typeface="Times New Roman" panose="02020603050405020304" pitchFamily="18" charset="0"/>
                <a:ea typeface="Times New Roman" panose="02020603050405020304" pitchFamily="18" charset="0"/>
              </a:rPr>
              <a:t>, Grus, and Transformers,” AIML.com, https://aiml.com/compare-the-different-sequence-models-rnn-lstm-gru-and-transformers/. </a:t>
            </a:r>
            <a:endParaRPr lang="en-CA"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853823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0">
          <a:extLst>
            <a:ext uri="{FF2B5EF4-FFF2-40B4-BE49-F238E27FC236}">
              <a16:creationId xmlns:a16="http://schemas.microsoft.com/office/drawing/2014/main" id="{89E99C85-9FA8-D0B9-47C6-002CB1E40870}"/>
            </a:ext>
          </a:extLst>
        </p:cNvPr>
        <p:cNvGrpSpPr/>
        <p:nvPr/>
      </p:nvGrpSpPr>
      <p:grpSpPr>
        <a:xfrm>
          <a:off x="0" y="0"/>
          <a:ext cx="0" cy="0"/>
          <a:chOff x="0" y="0"/>
          <a:chExt cx="0" cy="0"/>
        </a:xfrm>
      </p:grpSpPr>
      <p:sp>
        <p:nvSpPr>
          <p:cNvPr id="51" name="Google Shape;51;p9">
            <a:extLst>
              <a:ext uri="{FF2B5EF4-FFF2-40B4-BE49-F238E27FC236}">
                <a16:creationId xmlns:a16="http://schemas.microsoft.com/office/drawing/2014/main" id="{77BEFCCF-0B7E-BF15-4C36-CA04E97DAE18}"/>
              </a:ext>
            </a:extLst>
          </p:cNvPr>
          <p:cNvSpPr txBox="1">
            <a:spLocks noGrp="1"/>
          </p:cNvSpPr>
          <p:nvPr>
            <p:ph type="ctrTitle"/>
          </p:nvPr>
        </p:nvSpPr>
        <p:spPr>
          <a:xfrm>
            <a:off x="1886850" y="210178"/>
            <a:ext cx="8418300" cy="861600"/>
          </a:xfrm>
          <a:prstGeom prst="rect">
            <a:avLst/>
          </a:prstGeom>
        </p:spPr>
        <p:txBody>
          <a:bodyPr spcFirstLastPara="1" wrap="square" lIns="91425" tIns="45700" rIns="91425" bIns="45700" anchor="b" anchorCtr="0">
            <a:normAutofit/>
          </a:bodyPr>
          <a:lstStyle/>
          <a:p>
            <a:pPr lvl="0" algn="ctr"/>
            <a:r>
              <a:rPr lang="en-CA" sz="4000" dirty="0"/>
              <a:t>Literature Review – FPGA</a:t>
            </a:r>
            <a:endParaRPr sz="4000" dirty="0"/>
          </a:p>
        </p:txBody>
      </p:sp>
      <p:sp>
        <p:nvSpPr>
          <p:cNvPr id="53" name="Google Shape;53;p9">
            <a:extLst>
              <a:ext uri="{FF2B5EF4-FFF2-40B4-BE49-F238E27FC236}">
                <a16:creationId xmlns:a16="http://schemas.microsoft.com/office/drawing/2014/main" id="{7CACCD88-5CE1-FE7F-1FA1-ADD68CA7CDD6}"/>
              </a:ext>
            </a:extLst>
          </p:cNvPr>
          <p:cNvSpPr txBox="1"/>
          <p:nvPr/>
        </p:nvSpPr>
        <p:spPr>
          <a:xfrm>
            <a:off x="1886850" y="1529254"/>
            <a:ext cx="8418300" cy="4698497"/>
          </a:xfrm>
          <a:prstGeom prst="rect">
            <a:avLst/>
          </a:prstGeom>
          <a:noFill/>
          <a:ln>
            <a:noFill/>
          </a:ln>
        </p:spPr>
        <p:txBody>
          <a:bodyPr spcFirstLastPara="1" wrap="square" lIns="91425" tIns="45700" rIns="91425" bIns="45700" anchor="t" anchorCtr="0">
            <a:noAutofit/>
          </a:bodyPr>
          <a:lstStyle/>
          <a:p>
            <a:pPr lvl="0" algn="l" rtl="0">
              <a:lnSpc>
                <a:spcPct val="90000"/>
              </a:lnSpc>
              <a:spcBef>
                <a:spcPts val="1000"/>
              </a:spcBef>
              <a:spcAft>
                <a:spcPts val="0"/>
              </a:spcAft>
            </a:pPr>
            <a:r>
              <a:rPr lang="en-US" sz="2000" dirty="0">
                <a:latin typeface="Calibri"/>
                <a:ea typeface="Calibri"/>
                <a:cs typeface="Calibri"/>
                <a:sym typeface="Calibri"/>
              </a:rPr>
              <a:t>Stuff</a:t>
            </a:r>
            <a:endParaRPr sz="2000" dirty="0">
              <a:latin typeface="Calibri"/>
              <a:ea typeface="Calibri"/>
              <a:cs typeface="Calibri"/>
              <a:sym typeface="Calibri"/>
            </a:endParaRPr>
          </a:p>
        </p:txBody>
      </p:sp>
      <p:graphicFrame>
        <p:nvGraphicFramePr>
          <p:cNvPr id="2" name="Table 1">
            <a:extLst>
              <a:ext uri="{FF2B5EF4-FFF2-40B4-BE49-F238E27FC236}">
                <a16:creationId xmlns:a16="http://schemas.microsoft.com/office/drawing/2014/main" id="{243628A6-EAA2-BA7F-E501-AE42C11CF3AF}"/>
              </a:ext>
            </a:extLst>
          </p:cNvPr>
          <p:cNvGraphicFramePr>
            <a:graphicFrameLocks noGrp="1"/>
          </p:cNvGraphicFramePr>
          <p:nvPr>
            <p:extLst>
              <p:ext uri="{D42A27DB-BD31-4B8C-83A1-F6EECF244321}">
                <p14:modId xmlns:p14="http://schemas.microsoft.com/office/powerpoint/2010/main" val="3819375258"/>
              </p:ext>
            </p:extLst>
          </p:nvPr>
        </p:nvGraphicFramePr>
        <p:xfrm>
          <a:off x="170872" y="994413"/>
          <a:ext cx="11850255" cy="4796755"/>
        </p:xfrm>
        <a:graphic>
          <a:graphicData uri="http://schemas.openxmlformats.org/drawingml/2006/table">
            <a:tbl>
              <a:tblPr firstRow="1" bandRow="1">
                <a:tableStyleId>{5C22544A-7EE6-4342-B048-85BDC9FD1C3A}</a:tableStyleId>
              </a:tblPr>
              <a:tblGrid>
                <a:gridCol w="1350358">
                  <a:extLst>
                    <a:ext uri="{9D8B030D-6E8A-4147-A177-3AD203B41FA5}">
                      <a16:colId xmlns:a16="http://schemas.microsoft.com/office/drawing/2014/main" val="1577541770"/>
                    </a:ext>
                  </a:extLst>
                </a:gridCol>
                <a:gridCol w="4992822">
                  <a:extLst>
                    <a:ext uri="{9D8B030D-6E8A-4147-A177-3AD203B41FA5}">
                      <a16:colId xmlns:a16="http://schemas.microsoft.com/office/drawing/2014/main" val="1152797976"/>
                    </a:ext>
                  </a:extLst>
                </a:gridCol>
                <a:gridCol w="5507075">
                  <a:extLst>
                    <a:ext uri="{9D8B030D-6E8A-4147-A177-3AD203B41FA5}">
                      <a16:colId xmlns:a16="http://schemas.microsoft.com/office/drawing/2014/main" val="2249138922"/>
                    </a:ext>
                  </a:extLst>
                </a:gridCol>
              </a:tblGrid>
              <a:tr h="395808">
                <a:tc>
                  <a:txBody>
                    <a:bodyPr/>
                    <a:lstStyle/>
                    <a:p>
                      <a:r>
                        <a:rPr lang="en-CA" dirty="0"/>
                        <a:t>Platform</a:t>
                      </a:r>
                    </a:p>
                  </a:txBody>
                  <a:tcPr/>
                </a:tc>
                <a:tc>
                  <a:txBody>
                    <a:bodyPr/>
                    <a:lstStyle/>
                    <a:p>
                      <a:r>
                        <a:rPr lang="en-CA" dirty="0"/>
                        <a:t>Pros</a:t>
                      </a:r>
                    </a:p>
                  </a:txBody>
                  <a:tcPr/>
                </a:tc>
                <a:tc>
                  <a:txBody>
                    <a:bodyPr/>
                    <a:lstStyle/>
                    <a:p>
                      <a:r>
                        <a:rPr lang="en-CA" dirty="0"/>
                        <a:t>Cons</a:t>
                      </a:r>
                    </a:p>
                  </a:txBody>
                  <a:tcPr/>
                </a:tc>
                <a:extLst>
                  <a:ext uri="{0D108BD9-81ED-4DB2-BD59-A6C34878D82A}">
                    <a16:rowId xmlns:a16="http://schemas.microsoft.com/office/drawing/2014/main" val="2223769071"/>
                  </a:ext>
                </a:extLst>
              </a:tr>
              <a:tr h="1200547">
                <a:tc>
                  <a:txBody>
                    <a:bodyPr/>
                    <a:lstStyle/>
                    <a:p>
                      <a:r>
                        <a:rPr lang="en-CA" dirty="0"/>
                        <a:t>CPU</a:t>
                      </a:r>
                    </a:p>
                  </a:txBody>
                  <a:tcPr/>
                </a:tc>
                <a:tc>
                  <a:txBody>
                    <a:bodyPr/>
                    <a:lstStyle/>
                    <a:p>
                      <a:pPr marL="285750" indent="-285750">
                        <a:buFontTx/>
                        <a:buChar char="-"/>
                      </a:pPr>
                      <a:r>
                        <a:rPr lang="en-US" dirty="0"/>
                        <a:t>Flexible, can handle diverse computing tasks</a:t>
                      </a:r>
                    </a:p>
                    <a:p>
                      <a:pPr marL="285750" indent="-285750">
                        <a:buFontTx/>
                        <a:buChar char="-"/>
                      </a:pPr>
                      <a:r>
                        <a:rPr lang="en-US" dirty="0"/>
                        <a:t>Widely available and easy to program</a:t>
                      </a:r>
                    </a:p>
                    <a:p>
                      <a:pPr marL="285750" indent="-285750">
                        <a:buFontTx/>
                        <a:buChar char="-"/>
                      </a:pPr>
                      <a:r>
                        <a:rPr lang="en-US" dirty="0"/>
                        <a:t>Mature software ecosystem</a:t>
                      </a:r>
                      <a:endParaRPr lang="en-CA" dirty="0"/>
                    </a:p>
                  </a:txBody>
                  <a:tcPr/>
                </a:tc>
                <a:tc>
                  <a:txBody>
                    <a:bodyPr/>
                    <a:lstStyle/>
                    <a:p>
                      <a:pPr marL="285750" indent="-285750">
                        <a:buFontTx/>
                        <a:buChar char="-"/>
                      </a:pPr>
                      <a:r>
                        <a:rPr lang="en-US" dirty="0"/>
                        <a:t>High power consumption</a:t>
                      </a:r>
                    </a:p>
                    <a:p>
                      <a:pPr marL="285750" indent="-285750">
                        <a:buFontTx/>
                        <a:buChar char="-"/>
                      </a:pPr>
                      <a:r>
                        <a:rPr lang="en-US" dirty="0"/>
                        <a:t>Not fully optimized for ML operations (matrix additions / multiplications)</a:t>
                      </a:r>
                    </a:p>
                    <a:p>
                      <a:pPr marL="285750" indent="-285750">
                        <a:buFontTx/>
                        <a:buChar char="-"/>
                      </a:pPr>
                      <a:r>
                        <a:rPr lang="en-US" dirty="0"/>
                        <a:t>Lower parallelism</a:t>
                      </a:r>
                      <a:endParaRPr lang="en-CA" dirty="0"/>
                    </a:p>
                  </a:txBody>
                  <a:tcPr/>
                </a:tc>
                <a:extLst>
                  <a:ext uri="{0D108BD9-81ED-4DB2-BD59-A6C34878D82A}">
                    <a16:rowId xmlns:a16="http://schemas.microsoft.com/office/drawing/2014/main" val="2725181710"/>
                  </a:ext>
                </a:extLst>
              </a:tr>
              <a:tr h="1200547">
                <a:tc>
                  <a:txBody>
                    <a:bodyPr/>
                    <a:lstStyle/>
                    <a:p>
                      <a:r>
                        <a:rPr lang="en-CA" dirty="0"/>
                        <a:t>GPU</a:t>
                      </a:r>
                    </a:p>
                  </a:txBody>
                  <a:tcPr/>
                </a:tc>
                <a:tc>
                  <a:txBody>
                    <a:bodyPr/>
                    <a:lstStyle/>
                    <a:p>
                      <a:pPr marL="285750" indent="-285750">
                        <a:buFontTx/>
                        <a:buChar char="-"/>
                      </a:pPr>
                      <a:r>
                        <a:rPr lang="en-US" dirty="0"/>
                        <a:t>Optimized for matrix operations</a:t>
                      </a:r>
                    </a:p>
                    <a:p>
                      <a:pPr marL="285750" indent="-285750">
                        <a:buFontTx/>
                        <a:buChar char="-"/>
                      </a:pPr>
                      <a:r>
                        <a:rPr lang="en-US" dirty="0"/>
                        <a:t>High parallelism.</a:t>
                      </a:r>
                    </a:p>
                    <a:p>
                      <a:pPr marL="285750" indent="-285750">
                        <a:buFontTx/>
                        <a:buChar char="-"/>
                      </a:pPr>
                      <a:r>
                        <a:rPr lang="en-US" dirty="0"/>
                        <a:t>Tools like CUDA enable hardware-specific acceleration</a:t>
                      </a:r>
                    </a:p>
                    <a:p>
                      <a:pPr marL="285750" indent="-285750">
                        <a:buFontTx/>
                        <a:buChar char="-"/>
                      </a:pPr>
                      <a:r>
                        <a:rPr lang="en-US" dirty="0"/>
                        <a:t>Well-suited for ML training and inference</a:t>
                      </a:r>
                      <a:endParaRPr lang="en-CA" dirty="0"/>
                    </a:p>
                  </a:txBody>
                  <a:tcPr/>
                </a:tc>
                <a:tc>
                  <a:txBody>
                    <a:bodyPr/>
                    <a:lstStyle/>
                    <a:p>
                      <a:pPr marL="285750" indent="-285750">
                        <a:buFontTx/>
                        <a:buChar char="-"/>
                      </a:pPr>
                      <a:r>
                        <a:rPr lang="en-US" dirty="0"/>
                        <a:t>Higher power consumption than CPUs in embedded scenarios</a:t>
                      </a:r>
                    </a:p>
                    <a:p>
                      <a:pPr marL="285750" indent="-285750">
                        <a:buFontTx/>
                        <a:buChar char="-"/>
                      </a:pPr>
                      <a:r>
                        <a:rPr lang="en-US" dirty="0"/>
                        <a:t>Memory constraints may require model optimization</a:t>
                      </a:r>
                    </a:p>
                    <a:p>
                      <a:pPr marL="285750" indent="-285750">
                        <a:buFontTx/>
                        <a:buChar char="-"/>
                      </a:pPr>
                      <a:r>
                        <a:rPr lang="en-US" dirty="0"/>
                        <a:t>Bulkier and less portable than low-power solutions.</a:t>
                      </a:r>
                      <a:endParaRPr lang="en-CA" dirty="0"/>
                    </a:p>
                  </a:txBody>
                  <a:tcPr/>
                </a:tc>
                <a:extLst>
                  <a:ext uri="{0D108BD9-81ED-4DB2-BD59-A6C34878D82A}">
                    <a16:rowId xmlns:a16="http://schemas.microsoft.com/office/drawing/2014/main" val="3549979844"/>
                  </a:ext>
                </a:extLst>
              </a:tr>
              <a:tr h="1200547">
                <a:tc>
                  <a:txBody>
                    <a:bodyPr/>
                    <a:lstStyle/>
                    <a:p>
                      <a:r>
                        <a:rPr lang="en-CA" dirty="0"/>
                        <a:t>FPGA</a:t>
                      </a:r>
                    </a:p>
                  </a:txBody>
                  <a:tcPr/>
                </a:tc>
                <a:tc>
                  <a:txBody>
                    <a:bodyPr/>
                    <a:lstStyle/>
                    <a:p>
                      <a:pPr marL="285750" indent="-285750">
                        <a:buFontTx/>
                        <a:buChar char="-"/>
                      </a:pPr>
                      <a:r>
                        <a:rPr lang="en-US" dirty="0"/>
                        <a:t>Reconfigurable hardware allows custom accelerators. </a:t>
                      </a:r>
                    </a:p>
                    <a:p>
                      <a:pPr marL="285750" indent="-285750">
                        <a:buFontTx/>
                        <a:buChar char="-"/>
                      </a:pPr>
                      <a:r>
                        <a:rPr lang="en-US" dirty="0"/>
                        <a:t>High parallelism</a:t>
                      </a:r>
                    </a:p>
                    <a:p>
                      <a:pPr marL="285750" indent="-285750">
                        <a:buFontTx/>
                        <a:buChar char="-"/>
                      </a:pPr>
                      <a:r>
                        <a:rPr lang="en-US" dirty="0"/>
                        <a:t>High performance and power efficiency for specific models</a:t>
                      </a:r>
                    </a:p>
                    <a:p>
                      <a:pPr marL="285750" indent="-285750">
                        <a:buFontTx/>
                        <a:buChar char="-"/>
                      </a:pPr>
                      <a:r>
                        <a:rPr lang="en-US" dirty="0"/>
                        <a:t>Can be optimized at the model level.</a:t>
                      </a:r>
                      <a:endParaRPr lang="en-CA" dirty="0"/>
                    </a:p>
                  </a:txBody>
                  <a:tcPr/>
                </a:tc>
                <a:tc>
                  <a:txBody>
                    <a:bodyPr/>
                    <a:lstStyle/>
                    <a:p>
                      <a:pPr marL="285750" indent="-285750">
                        <a:buFontTx/>
                        <a:buChar char="-"/>
                      </a:pPr>
                      <a:r>
                        <a:rPr lang="en-US" dirty="0"/>
                        <a:t>Long development time</a:t>
                      </a:r>
                    </a:p>
                    <a:p>
                      <a:pPr marL="285750" indent="-285750">
                        <a:buFontTx/>
                        <a:buChar char="-"/>
                      </a:pPr>
                      <a:r>
                        <a:rPr lang="en-US" dirty="0"/>
                        <a:t>High design costs for configuring programmable logic</a:t>
                      </a:r>
                    </a:p>
                    <a:p>
                      <a:pPr marL="285750" indent="-285750">
                        <a:buFontTx/>
                        <a:buChar char="-"/>
                      </a:pPr>
                      <a:r>
                        <a:rPr lang="en-US" dirty="0"/>
                        <a:t>Requires specialized hardware design knowledge</a:t>
                      </a:r>
                      <a:endParaRPr lang="en-CA" dirty="0"/>
                    </a:p>
                  </a:txBody>
                  <a:tcPr/>
                </a:tc>
                <a:extLst>
                  <a:ext uri="{0D108BD9-81ED-4DB2-BD59-A6C34878D82A}">
                    <a16:rowId xmlns:a16="http://schemas.microsoft.com/office/drawing/2014/main" val="2892080176"/>
                  </a:ext>
                </a:extLst>
              </a:tr>
            </a:tbl>
          </a:graphicData>
        </a:graphic>
      </p:graphicFrame>
      <p:sp>
        <p:nvSpPr>
          <p:cNvPr id="4" name="TextBox 3">
            <a:extLst>
              <a:ext uri="{FF2B5EF4-FFF2-40B4-BE49-F238E27FC236}">
                <a16:creationId xmlns:a16="http://schemas.microsoft.com/office/drawing/2014/main" id="{D208D546-4DC1-7D45-3AFA-309A14FF3DA8}"/>
              </a:ext>
            </a:extLst>
          </p:cNvPr>
          <p:cNvSpPr txBox="1"/>
          <p:nvPr/>
        </p:nvSpPr>
        <p:spPr>
          <a:xfrm>
            <a:off x="-40258" y="5791041"/>
            <a:ext cx="12232258" cy="1066959"/>
          </a:xfrm>
          <a:prstGeom prst="rect">
            <a:avLst/>
          </a:prstGeom>
          <a:noFill/>
        </p:spPr>
        <p:txBody>
          <a:bodyPr wrap="square">
            <a:spAutoFit/>
          </a:bodyPr>
          <a:lstStyle/>
          <a:p>
            <a:pPr lvl="0">
              <a:spcBef>
                <a:spcPts val="500"/>
              </a:spcBef>
            </a:pPr>
            <a:r>
              <a:rPr lang="en-CA" sz="1100" dirty="0">
                <a:effectLst/>
                <a:latin typeface="Times New Roman" panose="02020603050405020304" pitchFamily="18" charset="0"/>
                <a:ea typeface="Times New Roman" panose="02020603050405020304" pitchFamily="18" charset="0"/>
              </a:rPr>
              <a:t>F. Pacini, T. Pacini, G. Lai, A. M. Zocco, and L. Fanucci, “Design and evaluation of CPU-, GPU-, and FPGA-based deployment of a CNN for motor imagery classification in brain-computer interfaces,” </a:t>
            </a:r>
            <a:r>
              <a:rPr lang="en-CA" sz="1100" i="1" dirty="0">
                <a:effectLst/>
                <a:latin typeface="Times New Roman" panose="02020603050405020304" pitchFamily="18" charset="0"/>
                <a:ea typeface="Times New Roman" panose="02020603050405020304" pitchFamily="18" charset="0"/>
              </a:rPr>
              <a:t>Electronics</a:t>
            </a:r>
            <a:r>
              <a:rPr lang="en-CA" sz="1100" dirty="0">
                <a:effectLst/>
                <a:latin typeface="Times New Roman" panose="02020603050405020304" pitchFamily="18" charset="0"/>
                <a:ea typeface="Times New Roman" panose="02020603050405020304" pitchFamily="18" charset="0"/>
              </a:rPr>
              <a:t>, vol. 13, no. 9, p. 1646, Apr. 2024. doi:10.3390/electronics13091646 </a:t>
            </a:r>
            <a:endParaRPr lang="en-CA" sz="1200" dirty="0">
              <a:effectLst/>
              <a:latin typeface="Times New Roman" panose="02020603050405020304" pitchFamily="18" charset="0"/>
              <a:ea typeface="Times New Roman" panose="02020603050405020304" pitchFamily="18" charset="0"/>
            </a:endParaRPr>
          </a:p>
          <a:p>
            <a:pPr lvl="0">
              <a:spcBef>
                <a:spcPts val="500"/>
              </a:spcBef>
            </a:pPr>
            <a:r>
              <a:rPr lang="en-CA" sz="1100" dirty="0">
                <a:effectLst/>
                <a:latin typeface="Times New Roman" panose="02020603050405020304" pitchFamily="18" charset="0"/>
                <a:ea typeface="Times New Roman" panose="02020603050405020304" pitchFamily="18" charset="0"/>
              </a:rPr>
              <a:t>Avnet Silica, “FPGA vs. GPU vs. CPU – hardware options for AI Applications | Avnet Silica,” FPGA vs. GPU vs. CPU – hardware options for AI applications, https://my.avnet.com/silica/resources/article/fpga-vs-gpu-vs-cpu-hardware-options-for-ai-applications/. </a:t>
            </a:r>
            <a:endParaRPr lang="en-CA" sz="1200" dirty="0">
              <a:effectLst/>
              <a:latin typeface="Times New Roman" panose="02020603050405020304" pitchFamily="18" charset="0"/>
              <a:ea typeface="Times New Roman" panose="02020603050405020304" pitchFamily="18" charset="0"/>
            </a:endParaRPr>
          </a:p>
          <a:p>
            <a:pPr lvl="0">
              <a:spcBef>
                <a:spcPts val="500"/>
              </a:spcBef>
            </a:pPr>
            <a:r>
              <a:rPr lang="en-CA" sz="1100" dirty="0">
                <a:effectLst/>
                <a:latin typeface="Times New Roman" panose="02020603050405020304" pitchFamily="18" charset="0"/>
                <a:ea typeface="Times New Roman" panose="02020603050405020304" pitchFamily="18" charset="0"/>
              </a:rPr>
              <a:t>J. Schneider, “FPGA vs. GPU for deep learning applications,” IBM, https://www.ibm.com/think/topics/fpga-vs-gpu. </a:t>
            </a:r>
            <a:endParaRPr lang="en-CA"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057925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0">
          <a:extLst>
            <a:ext uri="{FF2B5EF4-FFF2-40B4-BE49-F238E27FC236}">
              <a16:creationId xmlns:a16="http://schemas.microsoft.com/office/drawing/2014/main" id="{FB7255B9-75C6-F995-5F1B-FB54A180A41C}"/>
            </a:ext>
          </a:extLst>
        </p:cNvPr>
        <p:cNvGrpSpPr/>
        <p:nvPr/>
      </p:nvGrpSpPr>
      <p:grpSpPr>
        <a:xfrm>
          <a:off x="0" y="0"/>
          <a:ext cx="0" cy="0"/>
          <a:chOff x="0" y="0"/>
          <a:chExt cx="0" cy="0"/>
        </a:xfrm>
      </p:grpSpPr>
      <p:sp>
        <p:nvSpPr>
          <p:cNvPr id="51" name="Google Shape;51;p9">
            <a:extLst>
              <a:ext uri="{FF2B5EF4-FFF2-40B4-BE49-F238E27FC236}">
                <a16:creationId xmlns:a16="http://schemas.microsoft.com/office/drawing/2014/main" id="{C962EE47-1223-C23E-C9D4-7B86024BA304}"/>
              </a:ext>
            </a:extLst>
          </p:cNvPr>
          <p:cNvSpPr txBox="1">
            <a:spLocks noGrp="1"/>
          </p:cNvSpPr>
          <p:nvPr>
            <p:ph type="ctrTitle"/>
          </p:nvPr>
        </p:nvSpPr>
        <p:spPr>
          <a:xfrm>
            <a:off x="1886850" y="480475"/>
            <a:ext cx="8418300" cy="861600"/>
          </a:xfrm>
          <a:prstGeom prst="rect">
            <a:avLst/>
          </a:prstGeom>
        </p:spPr>
        <p:txBody>
          <a:bodyPr spcFirstLastPara="1" wrap="square" lIns="91425" tIns="45700" rIns="91425" bIns="45700" anchor="b" anchorCtr="0">
            <a:normAutofit/>
          </a:bodyPr>
          <a:lstStyle/>
          <a:p>
            <a:pPr lvl="0" algn="ctr"/>
            <a:r>
              <a:rPr lang="en-CA" sz="4000" dirty="0"/>
              <a:t>Literature Review – FPGA</a:t>
            </a:r>
            <a:endParaRPr sz="4000" dirty="0"/>
          </a:p>
        </p:txBody>
      </p:sp>
      <p:sp>
        <p:nvSpPr>
          <p:cNvPr id="53" name="Google Shape;53;p9">
            <a:extLst>
              <a:ext uri="{FF2B5EF4-FFF2-40B4-BE49-F238E27FC236}">
                <a16:creationId xmlns:a16="http://schemas.microsoft.com/office/drawing/2014/main" id="{35775571-1152-DFED-8A0D-A80B46B648C8}"/>
              </a:ext>
            </a:extLst>
          </p:cNvPr>
          <p:cNvSpPr txBox="1"/>
          <p:nvPr/>
        </p:nvSpPr>
        <p:spPr>
          <a:xfrm>
            <a:off x="1886850" y="1995577"/>
            <a:ext cx="8418300" cy="4232174"/>
          </a:xfrm>
          <a:prstGeom prst="rect">
            <a:avLst/>
          </a:prstGeom>
          <a:noFill/>
          <a:ln>
            <a:noFill/>
          </a:ln>
        </p:spPr>
        <p:txBody>
          <a:bodyPr spcFirstLastPara="1" wrap="square" lIns="91425" tIns="45700" rIns="91425" bIns="45700" anchor="t" anchorCtr="0">
            <a:noAutofit/>
          </a:bodyPr>
          <a:lstStyle/>
          <a:p>
            <a:pPr marL="285750" indent="-285750">
              <a:buFont typeface="Arial" panose="020B0604020202020204" pitchFamily="34" charset="0"/>
              <a:buChar char="•"/>
            </a:pPr>
            <a:r>
              <a:rPr lang="en-US" sz="2000" dirty="0">
                <a:latin typeface="Calibri"/>
                <a:ea typeface="Calibri"/>
                <a:cs typeface="Calibri"/>
                <a:sym typeface="Calibri"/>
              </a:rPr>
              <a:t>Hardware implementations of GRUs are scarce, with only two documented implementations. Limited implementations probably due to GRUs being new and less used compared to LSTMs</a:t>
            </a:r>
          </a:p>
          <a:p>
            <a:pPr marL="800100" lvl="1" indent="-342900">
              <a:buFont typeface="Arial" panose="020B0604020202020204" pitchFamily="34" charset="0"/>
              <a:buChar char="•"/>
            </a:pPr>
            <a:r>
              <a:rPr lang="en-US" sz="2000" dirty="0">
                <a:latin typeface="Calibri"/>
                <a:ea typeface="Calibri"/>
                <a:cs typeface="Calibri"/>
                <a:sym typeface="Calibri"/>
              </a:rPr>
              <a:t>Zaghloul et al. first implemented an FPGA-based GRU, demonstrating equivalent performance to LSTMs across multiple time-series datasets</a:t>
            </a:r>
          </a:p>
          <a:p>
            <a:pPr marL="800100" lvl="1" indent="-342900">
              <a:buFont typeface="Arial" panose="020B0604020202020204" pitchFamily="34" charset="0"/>
              <a:buChar char="•"/>
            </a:pPr>
            <a:r>
              <a:rPr lang="en-US" sz="2000" dirty="0">
                <a:latin typeface="Calibri"/>
                <a:ea typeface="Calibri"/>
                <a:cs typeface="Calibri"/>
                <a:sym typeface="Calibri"/>
              </a:rPr>
              <a:t>Rizwan et al. reimplemented GRUs with a focus on detecting breast cancer (multivariate classification) </a:t>
            </a:r>
          </a:p>
          <a:p>
            <a:pPr marL="342900" lvl="0" indent="-342900">
              <a:buFont typeface="Arial" panose="020B0604020202020204" pitchFamily="34" charset="0"/>
              <a:buChar char="•"/>
            </a:pPr>
            <a:r>
              <a:rPr lang="en-US" sz="2000" dirty="0">
                <a:latin typeface="Calibri"/>
                <a:ea typeface="Calibri"/>
                <a:cs typeface="Calibri"/>
                <a:sym typeface="Calibri"/>
              </a:rPr>
              <a:t>No prior work has explored GRU hardware optimization or hardware GRUs applied to BCI</a:t>
            </a:r>
          </a:p>
        </p:txBody>
      </p:sp>
      <p:sp>
        <p:nvSpPr>
          <p:cNvPr id="3" name="TextBox 2">
            <a:extLst>
              <a:ext uri="{FF2B5EF4-FFF2-40B4-BE49-F238E27FC236}">
                <a16:creationId xmlns:a16="http://schemas.microsoft.com/office/drawing/2014/main" id="{21A3C31A-F29F-B7F6-868B-731BAE16817C}"/>
              </a:ext>
            </a:extLst>
          </p:cNvPr>
          <p:cNvSpPr txBox="1"/>
          <p:nvPr/>
        </p:nvSpPr>
        <p:spPr>
          <a:xfrm>
            <a:off x="0" y="5891494"/>
            <a:ext cx="12191999" cy="972061"/>
          </a:xfrm>
          <a:prstGeom prst="rect">
            <a:avLst/>
          </a:prstGeom>
          <a:noFill/>
        </p:spPr>
        <p:txBody>
          <a:bodyPr wrap="square">
            <a:spAutoFit/>
          </a:bodyPr>
          <a:lstStyle/>
          <a:p>
            <a:pPr lvl="0">
              <a:lnSpc>
                <a:spcPct val="107000"/>
              </a:lnSpc>
              <a:spcAft>
                <a:spcPts val="800"/>
              </a:spcAft>
            </a:pPr>
            <a:r>
              <a:rPr lang="en-CA" sz="1200" kern="100" dirty="0">
                <a:effectLst/>
                <a:latin typeface="Times New Roman" panose="02020603050405020304" pitchFamily="18" charset="0"/>
                <a:ea typeface="Aptos" panose="020B0004020202020204" pitchFamily="34" charset="0"/>
                <a:cs typeface="Times New Roman" panose="02020603050405020304" pitchFamily="18" charset="0"/>
              </a:rPr>
              <a:t>K. S. Mohammed Rizwan, S. Nikhil Gowda, S. Yashwanth and K. </a:t>
            </a:r>
            <a:r>
              <a:rPr lang="en-CA" sz="1200" kern="100" dirty="0" err="1">
                <a:effectLst/>
                <a:latin typeface="Times New Roman" panose="02020603050405020304" pitchFamily="18" charset="0"/>
                <a:ea typeface="Aptos" panose="020B0004020202020204" pitchFamily="34" charset="0"/>
                <a:cs typeface="Times New Roman" panose="02020603050405020304" pitchFamily="18" charset="0"/>
              </a:rPr>
              <a:t>Anuros</a:t>
            </a:r>
            <a:r>
              <a:rPr lang="en-CA" sz="1200" kern="100" dirty="0">
                <a:effectLst/>
                <a:latin typeface="Times New Roman" panose="02020603050405020304" pitchFamily="18" charset="0"/>
                <a:ea typeface="Aptos" panose="020B0004020202020204" pitchFamily="34" charset="0"/>
                <a:cs typeface="Times New Roman" panose="02020603050405020304" pitchFamily="18" charset="0"/>
              </a:rPr>
              <a:t> Thomas, "Custom Hardware Architecture for FPGA-Based Gated Recurrent Unit," 2025 IEEE 14th International Conference on Communications, Circuits and Systems (ICCCAS), Wuhan, China, 2025, pp. 81-86, </a:t>
            </a:r>
            <a:r>
              <a:rPr lang="en-CA" sz="1200" kern="100" dirty="0" err="1">
                <a:effectLst/>
                <a:latin typeface="Times New Roman" panose="02020603050405020304" pitchFamily="18" charset="0"/>
                <a:ea typeface="Aptos" panose="020B0004020202020204" pitchFamily="34" charset="0"/>
                <a:cs typeface="Times New Roman" panose="02020603050405020304" pitchFamily="18" charset="0"/>
              </a:rPr>
              <a:t>doi</a:t>
            </a:r>
            <a:r>
              <a:rPr lang="en-CA" sz="1200" kern="100" dirty="0">
                <a:effectLst/>
                <a:latin typeface="Times New Roman" panose="02020603050405020304" pitchFamily="18" charset="0"/>
                <a:ea typeface="Aptos" panose="020B0004020202020204" pitchFamily="34" charset="0"/>
                <a:cs typeface="Times New Roman" panose="02020603050405020304" pitchFamily="18" charset="0"/>
              </a:rPr>
              <a:t>: 10.1109/ICCCAS65806.2025.11102499.</a:t>
            </a:r>
          </a:p>
          <a:p>
            <a:pPr>
              <a:lnSpc>
                <a:spcPct val="107000"/>
              </a:lnSpc>
              <a:spcAft>
                <a:spcPts val="800"/>
              </a:spcAft>
            </a:pPr>
            <a:r>
              <a:rPr lang="en-CA" sz="1200" dirty="0">
                <a:latin typeface="Times New Roman" panose="02020603050405020304" pitchFamily="18" charset="0"/>
                <a:cs typeface="Times New Roman" panose="02020603050405020304" pitchFamily="18" charset="0"/>
              </a:rPr>
              <a:t>Z. S. Zaghloul and N. Elsayed, "The FPGA Hardware Implementation of the Gated Recurrent Unit Architecture," </a:t>
            </a:r>
            <a:r>
              <a:rPr lang="en-CA" sz="1200" dirty="0" err="1">
                <a:latin typeface="Times New Roman" panose="02020603050405020304" pitchFamily="18" charset="0"/>
                <a:cs typeface="Times New Roman" panose="02020603050405020304" pitchFamily="18" charset="0"/>
              </a:rPr>
              <a:t>SoutheastCon</a:t>
            </a:r>
            <a:r>
              <a:rPr lang="en-CA" sz="1200" dirty="0">
                <a:latin typeface="Times New Roman" panose="02020603050405020304" pitchFamily="18" charset="0"/>
                <a:cs typeface="Times New Roman" panose="02020603050405020304" pitchFamily="18" charset="0"/>
              </a:rPr>
              <a:t> 2021, Atlanta, GA, USA, 2021, pp. 1-5, </a:t>
            </a:r>
            <a:r>
              <a:rPr lang="en-CA" sz="1200" dirty="0" err="1">
                <a:latin typeface="Times New Roman" panose="02020603050405020304" pitchFamily="18" charset="0"/>
                <a:cs typeface="Times New Roman" panose="02020603050405020304" pitchFamily="18" charset="0"/>
              </a:rPr>
              <a:t>doi</a:t>
            </a:r>
            <a:r>
              <a:rPr lang="en-CA" sz="1200" dirty="0">
                <a:latin typeface="Times New Roman" panose="02020603050405020304" pitchFamily="18" charset="0"/>
                <a:cs typeface="Times New Roman" panose="02020603050405020304" pitchFamily="18" charset="0"/>
              </a:rPr>
              <a:t>: 10.1109/SoutheastCon45413.2021.9401819.</a:t>
            </a:r>
          </a:p>
        </p:txBody>
      </p:sp>
    </p:spTree>
    <p:extLst>
      <p:ext uri="{BB962C8B-B14F-4D97-AF65-F5344CB8AC3E}">
        <p14:creationId xmlns:p14="http://schemas.microsoft.com/office/powerpoint/2010/main" val="2441303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0">
          <a:extLst>
            <a:ext uri="{FF2B5EF4-FFF2-40B4-BE49-F238E27FC236}">
              <a16:creationId xmlns:a16="http://schemas.microsoft.com/office/drawing/2014/main" id="{E18E58E3-C804-37D5-1C7F-B4DEE3BB3C3D}"/>
            </a:ext>
          </a:extLst>
        </p:cNvPr>
        <p:cNvGrpSpPr/>
        <p:nvPr/>
      </p:nvGrpSpPr>
      <p:grpSpPr>
        <a:xfrm>
          <a:off x="0" y="0"/>
          <a:ext cx="0" cy="0"/>
          <a:chOff x="0" y="0"/>
          <a:chExt cx="0" cy="0"/>
        </a:xfrm>
      </p:grpSpPr>
      <p:sp>
        <p:nvSpPr>
          <p:cNvPr id="51" name="Google Shape;51;p9">
            <a:extLst>
              <a:ext uri="{FF2B5EF4-FFF2-40B4-BE49-F238E27FC236}">
                <a16:creationId xmlns:a16="http://schemas.microsoft.com/office/drawing/2014/main" id="{67BF5B3A-9178-4A5E-2BC6-C8E8BF24E1B5}"/>
              </a:ext>
            </a:extLst>
          </p:cNvPr>
          <p:cNvSpPr txBox="1">
            <a:spLocks noGrp="1"/>
          </p:cNvSpPr>
          <p:nvPr>
            <p:ph type="ctrTitle"/>
          </p:nvPr>
        </p:nvSpPr>
        <p:spPr>
          <a:xfrm>
            <a:off x="1886850" y="480475"/>
            <a:ext cx="8418300" cy="861600"/>
          </a:xfrm>
          <a:prstGeom prst="rect">
            <a:avLst/>
          </a:prstGeom>
        </p:spPr>
        <p:txBody>
          <a:bodyPr spcFirstLastPara="1" wrap="square" lIns="91425" tIns="45700" rIns="91425" bIns="45700" anchor="b" anchorCtr="0">
            <a:normAutofit fontScale="90000"/>
          </a:bodyPr>
          <a:lstStyle/>
          <a:p>
            <a:pPr lvl="0" algn="ctr"/>
            <a:r>
              <a:rPr lang="en-CA" sz="4000" dirty="0"/>
              <a:t>Literature Review – Hardware Acceleration of GRUs</a:t>
            </a:r>
            <a:endParaRPr sz="4000" dirty="0"/>
          </a:p>
        </p:txBody>
      </p:sp>
      <p:graphicFrame>
        <p:nvGraphicFramePr>
          <p:cNvPr id="2" name="Table 1">
            <a:extLst>
              <a:ext uri="{FF2B5EF4-FFF2-40B4-BE49-F238E27FC236}">
                <a16:creationId xmlns:a16="http://schemas.microsoft.com/office/drawing/2014/main" id="{D2578BEE-C7B3-720C-C072-CADEFDC3E3AD}"/>
              </a:ext>
            </a:extLst>
          </p:cNvPr>
          <p:cNvGraphicFramePr>
            <a:graphicFrameLocks noGrp="1"/>
          </p:cNvGraphicFramePr>
          <p:nvPr>
            <p:extLst>
              <p:ext uri="{D42A27DB-BD31-4B8C-83A1-F6EECF244321}">
                <p14:modId xmlns:p14="http://schemas.microsoft.com/office/powerpoint/2010/main" val="3065027367"/>
              </p:ext>
            </p:extLst>
          </p:nvPr>
        </p:nvGraphicFramePr>
        <p:xfrm>
          <a:off x="928194" y="1948118"/>
          <a:ext cx="10335611" cy="4152900"/>
        </p:xfrm>
        <a:graphic>
          <a:graphicData uri="http://schemas.openxmlformats.org/drawingml/2006/table">
            <a:tbl>
              <a:tblPr firstRow="1" firstCol="1" bandRow="1"/>
              <a:tblGrid>
                <a:gridCol w="3683220">
                  <a:extLst>
                    <a:ext uri="{9D8B030D-6E8A-4147-A177-3AD203B41FA5}">
                      <a16:colId xmlns:a16="http://schemas.microsoft.com/office/drawing/2014/main" val="4182636720"/>
                    </a:ext>
                  </a:extLst>
                </a:gridCol>
                <a:gridCol w="6652391">
                  <a:extLst>
                    <a:ext uri="{9D8B030D-6E8A-4147-A177-3AD203B41FA5}">
                      <a16:colId xmlns:a16="http://schemas.microsoft.com/office/drawing/2014/main" val="1985014333"/>
                    </a:ext>
                  </a:extLst>
                </a:gridCol>
              </a:tblGrid>
              <a:tr h="0">
                <a:tc>
                  <a:txBody>
                    <a:bodyPr/>
                    <a:lstStyle/>
                    <a:p>
                      <a:pPr>
                        <a:lnSpc>
                          <a:spcPct val="107000"/>
                        </a:lnSpc>
                        <a:spcAft>
                          <a:spcPts val="800"/>
                        </a:spcAft>
                        <a:buNone/>
                      </a:pPr>
                      <a:r>
                        <a:rPr lang="en-CA" sz="2000" b="1" kern="100" dirty="0">
                          <a:effectLst/>
                          <a:latin typeface="Calibri" panose="020F0502020204030204" pitchFamily="34" charset="0"/>
                          <a:ea typeface="Calibri" panose="020F0502020204030204" pitchFamily="34" charset="0"/>
                          <a:cs typeface="Calibri" panose="020F0502020204030204" pitchFamily="34" charset="0"/>
                        </a:rPr>
                        <a:t>Optimization</a:t>
                      </a:r>
                    </a:p>
                  </a:txBody>
                  <a:tcPr marL="68580" marR="68580" marT="0" marB="0"/>
                </a:tc>
                <a:tc>
                  <a:txBody>
                    <a:bodyPr/>
                    <a:lstStyle/>
                    <a:p>
                      <a:pPr>
                        <a:lnSpc>
                          <a:spcPct val="107000"/>
                        </a:lnSpc>
                        <a:spcAft>
                          <a:spcPts val="800"/>
                        </a:spcAft>
                        <a:buNone/>
                      </a:pPr>
                      <a:r>
                        <a:rPr lang="en-CA" sz="2000" b="1" kern="100" dirty="0">
                          <a:effectLst/>
                          <a:latin typeface="Calibri" panose="020F0502020204030204" pitchFamily="34" charset="0"/>
                          <a:ea typeface="Calibri" panose="020F0502020204030204" pitchFamily="34" charset="0"/>
                          <a:cs typeface="Calibri" panose="020F0502020204030204" pitchFamily="34" charset="0"/>
                        </a:rPr>
                        <a:t>Summary</a:t>
                      </a:r>
                    </a:p>
                  </a:txBody>
                  <a:tcPr marL="68580" marR="68580" marT="0" marB="0"/>
                </a:tc>
                <a:extLst>
                  <a:ext uri="{0D108BD9-81ED-4DB2-BD59-A6C34878D82A}">
                    <a16:rowId xmlns:a16="http://schemas.microsoft.com/office/drawing/2014/main" val="2044932931"/>
                  </a:ext>
                </a:extLst>
              </a:tr>
              <a:tr h="0">
                <a:tc>
                  <a:txBody>
                    <a:bodyPr/>
                    <a:lstStyle/>
                    <a:p>
                      <a:pPr>
                        <a:lnSpc>
                          <a:spcPct val="107000"/>
                        </a:lnSpc>
                        <a:spcAft>
                          <a:spcPts val="800"/>
                        </a:spcAft>
                        <a:buNone/>
                      </a:pPr>
                      <a:r>
                        <a:rPr lang="en-CA" sz="2000" kern="100" dirty="0">
                          <a:effectLst/>
                          <a:latin typeface="Calibri" panose="020F0502020204030204" pitchFamily="34" charset="0"/>
                          <a:ea typeface="Calibri" panose="020F0502020204030204" pitchFamily="34" charset="0"/>
                          <a:cs typeface="Calibri" panose="020F0502020204030204" pitchFamily="34" charset="0"/>
                        </a:rPr>
                        <a:t>Shift-And-Add Multiplication</a:t>
                      </a:r>
                    </a:p>
                  </a:txBody>
                  <a:tcPr marL="68580" marR="68580" marT="0" marB="0"/>
                </a:tc>
                <a:tc>
                  <a:txBody>
                    <a:bodyPr/>
                    <a:lstStyle/>
                    <a:p>
                      <a:pPr marL="0" indent="0">
                        <a:lnSpc>
                          <a:spcPct val="107000"/>
                        </a:lnSpc>
                        <a:spcAft>
                          <a:spcPts val="800"/>
                        </a:spcAft>
                        <a:buFont typeface="Arial" panose="020B0604020202020204" pitchFamily="34" charset="0"/>
                        <a:buNone/>
                      </a:pPr>
                      <a:r>
                        <a:rPr lang="en-US" sz="2000" kern="100" dirty="0">
                          <a:effectLst/>
                          <a:latin typeface="Calibri" panose="020F0502020204030204" pitchFamily="34" charset="0"/>
                          <a:ea typeface="Calibri" panose="020F0502020204030204" pitchFamily="34" charset="0"/>
                          <a:cs typeface="Calibri" panose="020F0502020204030204" pitchFamily="34" charset="0"/>
                        </a:rPr>
                        <a:t>Substitution of conventional multipliers with lower-complexity shift and addition/subtraction operations</a:t>
                      </a:r>
                      <a:endParaRPr lang="en-CA" sz="2000" kern="1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2113998879"/>
                  </a:ext>
                </a:extLst>
              </a:tr>
              <a:tr h="0">
                <a:tc>
                  <a:txBody>
                    <a:bodyPr/>
                    <a:lstStyle/>
                    <a:p>
                      <a:pPr>
                        <a:lnSpc>
                          <a:spcPct val="107000"/>
                        </a:lnSpc>
                        <a:spcAft>
                          <a:spcPts val="800"/>
                        </a:spcAft>
                        <a:buNone/>
                      </a:pPr>
                      <a:r>
                        <a:rPr lang="en-CA" sz="2000" kern="100" dirty="0">
                          <a:effectLst/>
                          <a:latin typeface="Calibri" panose="020F0502020204030204" pitchFamily="34" charset="0"/>
                          <a:ea typeface="Calibri" panose="020F0502020204030204" pitchFamily="34" charset="0"/>
                          <a:cs typeface="Calibri" panose="020F0502020204030204" pitchFamily="34" charset="0"/>
                        </a:rPr>
                        <a:t>Bit Serial Structures</a:t>
                      </a:r>
                    </a:p>
                  </a:txBody>
                  <a:tcPr marL="68580" marR="68580" marT="0" marB="0"/>
                </a:tc>
                <a:tc>
                  <a:txBody>
                    <a:bodyPr/>
                    <a:lstStyle/>
                    <a:p>
                      <a:pPr marL="0" indent="0">
                        <a:lnSpc>
                          <a:spcPct val="107000"/>
                        </a:lnSpc>
                        <a:spcAft>
                          <a:spcPts val="800"/>
                        </a:spcAft>
                        <a:buFont typeface="Arial" panose="020B0604020202020204" pitchFamily="34" charset="0"/>
                        <a:buNone/>
                      </a:pPr>
                      <a:r>
                        <a:rPr lang="en-US" sz="2000" kern="100" dirty="0">
                          <a:effectLst/>
                          <a:latin typeface="Calibri" panose="020F0502020204030204" pitchFamily="34" charset="0"/>
                          <a:ea typeface="Calibri" panose="020F0502020204030204" pitchFamily="34" charset="0"/>
                          <a:cs typeface="Calibri" panose="020F0502020204030204" pitchFamily="34" charset="0"/>
                        </a:rPr>
                        <a:t>Transformation of parallel arithmetic operations executed in single clock cycles into serial arithmetic operations distributed across multiple clock cycles</a:t>
                      </a:r>
                      <a:endParaRPr lang="en-CA" sz="2000" kern="1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2088755088"/>
                  </a:ext>
                </a:extLst>
              </a:tr>
              <a:tr h="0">
                <a:tc>
                  <a:txBody>
                    <a:bodyPr/>
                    <a:lstStyle/>
                    <a:p>
                      <a:pPr>
                        <a:lnSpc>
                          <a:spcPct val="107000"/>
                        </a:lnSpc>
                        <a:spcAft>
                          <a:spcPts val="800"/>
                        </a:spcAft>
                        <a:buNone/>
                      </a:pPr>
                      <a:r>
                        <a:rPr lang="en-CA" sz="2000" kern="100" dirty="0">
                          <a:effectLst/>
                          <a:latin typeface="Calibri" panose="020F0502020204030204" pitchFamily="34" charset="0"/>
                          <a:ea typeface="Calibri" panose="020F0502020204030204" pitchFamily="34" charset="0"/>
                          <a:cs typeface="Calibri" panose="020F0502020204030204" pitchFamily="34" charset="0"/>
                        </a:rPr>
                        <a:t>Distributed Arithmetic</a:t>
                      </a:r>
                    </a:p>
                  </a:txBody>
                  <a:tcPr marL="68580" marR="68580" marT="0" marB="0"/>
                </a:tc>
                <a:tc>
                  <a:txBody>
                    <a:bodyPr/>
                    <a:lstStyle/>
                    <a:p>
                      <a:pPr marL="0" indent="0">
                        <a:lnSpc>
                          <a:spcPct val="107000"/>
                        </a:lnSpc>
                        <a:spcAft>
                          <a:spcPts val="800"/>
                        </a:spcAft>
                        <a:buFont typeface="Arial" panose="020B0604020202020204" pitchFamily="34" charset="0"/>
                        <a:buNone/>
                      </a:pPr>
                      <a:r>
                        <a:rPr lang="en-US" sz="2000" kern="100" dirty="0">
                          <a:effectLst/>
                          <a:latin typeface="Calibri" panose="020F0502020204030204" pitchFamily="34" charset="0"/>
                          <a:ea typeface="Calibri" panose="020F0502020204030204" pitchFamily="34" charset="0"/>
                          <a:cs typeface="Calibri" panose="020F0502020204030204" pitchFamily="34" charset="0"/>
                        </a:rPr>
                        <a:t>Replacement of runtime multiplication operations with precomputed partial sum lookup mechanisms</a:t>
                      </a:r>
                      <a:endParaRPr lang="en-CA" sz="2000" kern="1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147912572"/>
                  </a:ext>
                </a:extLst>
              </a:tr>
              <a:tr h="0">
                <a:tc>
                  <a:txBody>
                    <a:bodyPr/>
                    <a:lstStyle/>
                    <a:p>
                      <a:pPr>
                        <a:lnSpc>
                          <a:spcPct val="107000"/>
                        </a:lnSpc>
                        <a:spcAft>
                          <a:spcPts val="800"/>
                        </a:spcAft>
                        <a:buNone/>
                      </a:pPr>
                      <a:r>
                        <a:rPr lang="en-CA" sz="2000" kern="100" dirty="0">
                          <a:effectLst/>
                          <a:latin typeface="Calibri" panose="020F0502020204030204" pitchFamily="34" charset="0"/>
                          <a:ea typeface="Calibri" panose="020F0502020204030204" pitchFamily="34" charset="0"/>
                          <a:cs typeface="Calibri" panose="020F0502020204030204" pitchFamily="34" charset="0"/>
                        </a:rPr>
                        <a:t>Mixed Precision</a:t>
                      </a:r>
                    </a:p>
                  </a:txBody>
                  <a:tcPr marL="68580" marR="68580" marT="0" marB="0"/>
                </a:tc>
                <a:tc>
                  <a:txBody>
                    <a:bodyPr/>
                    <a:lstStyle/>
                    <a:p>
                      <a:pPr marL="0" indent="0">
                        <a:lnSpc>
                          <a:spcPct val="107000"/>
                        </a:lnSpc>
                        <a:spcAft>
                          <a:spcPts val="800"/>
                        </a:spcAft>
                        <a:buFont typeface="Arial" panose="020B0604020202020204" pitchFamily="34" charset="0"/>
                        <a:buNone/>
                      </a:pPr>
                      <a:r>
                        <a:rPr lang="en-US" sz="2000" kern="100" dirty="0">
                          <a:effectLst/>
                          <a:latin typeface="Calibri" panose="020F0502020204030204" pitchFamily="34" charset="0"/>
                          <a:ea typeface="Calibri" panose="020F0502020204030204" pitchFamily="34" charset="0"/>
                          <a:cs typeface="Calibri" panose="020F0502020204030204" pitchFamily="34" charset="0"/>
                        </a:rPr>
                        <a:t>Utilization of variable bit-width numerical representations to optimize resource allocation</a:t>
                      </a:r>
                      <a:endParaRPr lang="en-CA" sz="2000" kern="1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2067906995"/>
                  </a:ext>
                </a:extLst>
              </a:tr>
              <a:tr h="0">
                <a:tc>
                  <a:txBody>
                    <a:bodyPr/>
                    <a:lstStyle/>
                    <a:p>
                      <a:pPr>
                        <a:lnSpc>
                          <a:spcPct val="107000"/>
                        </a:lnSpc>
                        <a:spcAft>
                          <a:spcPts val="800"/>
                        </a:spcAft>
                        <a:buNone/>
                      </a:pPr>
                      <a:r>
                        <a:rPr lang="en-CA" sz="2000" kern="100" dirty="0">
                          <a:effectLst/>
                          <a:latin typeface="Calibri" panose="020F0502020204030204" pitchFamily="34" charset="0"/>
                          <a:ea typeface="Calibri" panose="020F0502020204030204" pitchFamily="34" charset="0"/>
                          <a:cs typeface="Calibri" panose="020F0502020204030204" pitchFamily="34" charset="0"/>
                        </a:rPr>
                        <a:t>Alternative Implementation of Sigmoid and Hyperbolic Tangent Functions</a:t>
                      </a:r>
                    </a:p>
                  </a:txBody>
                  <a:tcPr marL="68580" marR="68580" marT="0" marB="0"/>
                </a:tc>
                <a:tc>
                  <a:txBody>
                    <a:bodyPr/>
                    <a:lstStyle/>
                    <a:p>
                      <a:pPr marL="0" indent="0">
                        <a:lnSpc>
                          <a:spcPct val="107000"/>
                        </a:lnSpc>
                        <a:spcAft>
                          <a:spcPts val="800"/>
                        </a:spcAft>
                        <a:buFont typeface="Arial" panose="020B0604020202020204" pitchFamily="34" charset="0"/>
                        <a:buNone/>
                      </a:pPr>
                      <a:r>
                        <a:rPr lang="en-US" sz="2000" kern="100" dirty="0">
                          <a:effectLst/>
                          <a:latin typeface="Calibri" panose="020F0502020204030204" pitchFamily="34" charset="0"/>
                          <a:ea typeface="Calibri" panose="020F0502020204030204" pitchFamily="34" charset="0"/>
                          <a:cs typeface="Calibri" panose="020F0502020204030204" pitchFamily="34" charset="0"/>
                        </a:rPr>
                        <a:t>Substitution of piecewise linear approximation (PLA) implementations of sigmoid and hyperbolic tangent functions with lookup table (LUT) architectures</a:t>
                      </a:r>
                      <a:endParaRPr lang="en-CA" sz="2000" kern="1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773209282"/>
                  </a:ext>
                </a:extLst>
              </a:tr>
            </a:tbl>
          </a:graphicData>
        </a:graphic>
      </p:graphicFrame>
    </p:spTree>
    <p:extLst>
      <p:ext uri="{BB962C8B-B14F-4D97-AF65-F5344CB8AC3E}">
        <p14:creationId xmlns:p14="http://schemas.microsoft.com/office/powerpoint/2010/main" val="24299851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0">
          <a:extLst>
            <a:ext uri="{FF2B5EF4-FFF2-40B4-BE49-F238E27FC236}">
              <a16:creationId xmlns:a16="http://schemas.microsoft.com/office/drawing/2014/main" id="{79B41A96-4A9C-4C99-2863-73A76E0A96FE}"/>
            </a:ext>
          </a:extLst>
        </p:cNvPr>
        <p:cNvGrpSpPr/>
        <p:nvPr/>
      </p:nvGrpSpPr>
      <p:grpSpPr>
        <a:xfrm>
          <a:off x="0" y="0"/>
          <a:ext cx="0" cy="0"/>
          <a:chOff x="0" y="0"/>
          <a:chExt cx="0" cy="0"/>
        </a:xfrm>
      </p:grpSpPr>
      <p:sp>
        <p:nvSpPr>
          <p:cNvPr id="51" name="Google Shape;51;p9">
            <a:extLst>
              <a:ext uri="{FF2B5EF4-FFF2-40B4-BE49-F238E27FC236}">
                <a16:creationId xmlns:a16="http://schemas.microsoft.com/office/drawing/2014/main" id="{B307F9CD-9195-F4A6-1A5C-9307E41CEF40}"/>
              </a:ext>
            </a:extLst>
          </p:cNvPr>
          <p:cNvSpPr txBox="1">
            <a:spLocks noGrp="1"/>
          </p:cNvSpPr>
          <p:nvPr>
            <p:ph type="ctrTitle"/>
          </p:nvPr>
        </p:nvSpPr>
        <p:spPr>
          <a:xfrm>
            <a:off x="1886850" y="480475"/>
            <a:ext cx="8418300" cy="861600"/>
          </a:xfrm>
          <a:prstGeom prst="rect">
            <a:avLst/>
          </a:prstGeom>
        </p:spPr>
        <p:txBody>
          <a:bodyPr spcFirstLastPara="1" wrap="square" lIns="91425" tIns="45700" rIns="91425" bIns="45700" anchor="b" anchorCtr="0">
            <a:normAutofit/>
          </a:bodyPr>
          <a:lstStyle/>
          <a:p>
            <a:pPr lvl="0" algn="ctr"/>
            <a:r>
              <a:rPr lang="en-CA" sz="4000" dirty="0"/>
              <a:t>Introduction – Research Questions</a:t>
            </a:r>
            <a:endParaRPr sz="4000" dirty="0"/>
          </a:p>
        </p:txBody>
      </p:sp>
      <p:sp>
        <p:nvSpPr>
          <p:cNvPr id="53" name="Google Shape;53;p9">
            <a:extLst>
              <a:ext uri="{FF2B5EF4-FFF2-40B4-BE49-F238E27FC236}">
                <a16:creationId xmlns:a16="http://schemas.microsoft.com/office/drawing/2014/main" id="{D57AC98D-3383-B405-74C6-A283587E4876}"/>
              </a:ext>
            </a:extLst>
          </p:cNvPr>
          <p:cNvSpPr txBox="1"/>
          <p:nvPr/>
        </p:nvSpPr>
        <p:spPr>
          <a:xfrm>
            <a:off x="1886850" y="2467155"/>
            <a:ext cx="8418300" cy="3760596"/>
          </a:xfrm>
          <a:prstGeom prst="rect">
            <a:avLst/>
          </a:prstGeom>
          <a:noFill/>
          <a:ln>
            <a:noFill/>
          </a:ln>
        </p:spPr>
        <p:txBody>
          <a:bodyPr spcFirstLastPara="1" wrap="square" lIns="91425" tIns="45700" rIns="91425" bIns="45700" anchor="t" anchorCtr="0">
            <a:noAutofit/>
          </a:bodyPr>
          <a:lstStyle/>
          <a:p>
            <a:pPr marL="342900" indent="-342900">
              <a:buFont typeface="Arial" panose="020B0604020202020204" pitchFamily="34" charset="0"/>
              <a:buChar char="•"/>
            </a:pPr>
            <a:r>
              <a:rPr lang="en-CA" sz="2000" dirty="0"/>
              <a:t>RQ1: How do FPGA-based feature classification models deployed on the edge compare to MCU-based models?</a:t>
            </a:r>
          </a:p>
          <a:p>
            <a:pPr marL="342900" indent="-342900">
              <a:buFont typeface="Arial" panose="020B0604020202020204" pitchFamily="34" charset="0"/>
              <a:buChar char="•"/>
            </a:pPr>
            <a:endParaRPr lang="en-CA" sz="2000" dirty="0"/>
          </a:p>
          <a:p>
            <a:pPr marL="342900" indent="-342900">
              <a:buFont typeface="Arial" panose="020B0604020202020204" pitchFamily="34" charset="0"/>
              <a:buChar char="•"/>
            </a:pPr>
            <a:r>
              <a:rPr lang="en-CA" sz="2000" dirty="0"/>
              <a:t>RQ2: What effect does parallelization have on FPGA-based BCI feature classification models deployed on the edge?</a:t>
            </a:r>
          </a:p>
          <a:p>
            <a:pPr marL="342900" indent="-342900">
              <a:buFont typeface="Arial" panose="020B0604020202020204" pitchFamily="34" charset="0"/>
              <a:buChar char="•"/>
            </a:pPr>
            <a:endParaRPr lang="en-CA" sz="2000" dirty="0"/>
          </a:p>
          <a:p>
            <a:pPr marL="342900" indent="-342900">
              <a:buFont typeface="Arial" panose="020B0604020202020204" pitchFamily="34" charset="0"/>
              <a:buChar char="•"/>
            </a:pPr>
            <a:r>
              <a:rPr lang="en-CA" sz="2000" dirty="0"/>
              <a:t>RQ3: What effect does fractional bit width have on FPGA-based BCI feature classification models deployed on the edge?</a:t>
            </a:r>
          </a:p>
        </p:txBody>
      </p:sp>
    </p:spTree>
    <p:extLst>
      <p:ext uri="{BB962C8B-B14F-4D97-AF65-F5344CB8AC3E}">
        <p14:creationId xmlns:p14="http://schemas.microsoft.com/office/powerpoint/2010/main" val="7835707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0">
          <a:extLst>
            <a:ext uri="{FF2B5EF4-FFF2-40B4-BE49-F238E27FC236}">
              <a16:creationId xmlns:a16="http://schemas.microsoft.com/office/drawing/2014/main" id="{3CA71AC0-AD0D-F19F-FAA6-DC139A584F85}"/>
            </a:ext>
          </a:extLst>
        </p:cNvPr>
        <p:cNvGrpSpPr/>
        <p:nvPr/>
      </p:nvGrpSpPr>
      <p:grpSpPr>
        <a:xfrm>
          <a:off x="0" y="0"/>
          <a:ext cx="0" cy="0"/>
          <a:chOff x="0" y="0"/>
          <a:chExt cx="0" cy="0"/>
        </a:xfrm>
      </p:grpSpPr>
      <p:sp>
        <p:nvSpPr>
          <p:cNvPr id="51" name="Google Shape;51;p9">
            <a:extLst>
              <a:ext uri="{FF2B5EF4-FFF2-40B4-BE49-F238E27FC236}">
                <a16:creationId xmlns:a16="http://schemas.microsoft.com/office/drawing/2014/main" id="{A85024F8-7DEC-D3C7-B6D5-A5D877F3BFAB}"/>
              </a:ext>
            </a:extLst>
          </p:cNvPr>
          <p:cNvSpPr txBox="1">
            <a:spLocks noGrp="1"/>
          </p:cNvSpPr>
          <p:nvPr>
            <p:ph type="ctrTitle"/>
          </p:nvPr>
        </p:nvSpPr>
        <p:spPr>
          <a:xfrm>
            <a:off x="1886850" y="480475"/>
            <a:ext cx="8418300" cy="861600"/>
          </a:xfrm>
          <a:prstGeom prst="rect">
            <a:avLst/>
          </a:prstGeom>
        </p:spPr>
        <p:txBody>
          <a:bodyPr spcFirstLastPara="1" wrap="square" lIns="91425" tIns="45700" rIns="91425" bIns="45700" anchor="b" anchorCtr="0">
            <a:normAutofit/>
          </a:bodyPr>
          <a:lstStyle/>
          <a:p>
            <a:pPr lvl="0" algn="ctr"/>
            <a:r>
              <a:rPr lang="en-CA" sz="4000" dirty="0"/>
              <a:t>Experiment Overview</a:t>
            </a:r>
            <a:endParaRPr sz="4000" dirty="0"/>
          </a:p>
        </p:txBody>
      </p:sp>
      <p:sp>
        <p:nvSpPr>
          <p:cNvPr id="53" name="Google Shape;53;p9">
            <a:extLst>
              <a:ext uri="{FF2B5EF4-FFF2-40B4-BE49-F238E27FC236}">
                <a16:creationId xmlns:a16="http://schemas.microsoft.com/office/drawing/2014/main" id="{EA3EB35F-5C98-B1B2-1025-49FBEA5F97B7}"/>
              </a:ext>
            </a:extLst>
          </p:cNvPr>
          <p:cNvSpPr txBox="1"/>
          <p:nvPr/>
        </p:nvSpPr>
        <p:spPr>
          <a:xfrm>
            <a:off x="1886850" y="2415396"/>
            <a:ext cx="8418300" cy="3812355"/>
          </a:xfrm>
          <a:prstGeom prst="rect">
            <a:avLst/>
          </a:prstGeom>
          <a:noFill/>
          <a:ln>
            <a:noFill/>
          </a:ln>
        </p:spPr>
        <p:txBody>
          <a:bodyPr spcFirstLastPara="1" wrap="square" lIns="91425" tIns="45700" rIns="91425" bIns="45700" anchor="t" anchorCtr="0">
            <a:noAutofit/>
          </a:bodyPr>
          <a:lstStyle/>
          <a:p>
            <a:pPr marL="457200" indent="-457200">
              <a:buFont typeface="+mj-lt"/>
              <a:buAutoNum type="arabicPeriod"/>
            </a:pPr>
            <a:r>
              <a:rPr lang="en-CA" sz="2000" dirty="0"/>
              <a:t>CPU-based GRU Breakdown: Characterise a CPU-based GRU so that the FPGA-based GRU can have a comparison</a:t>
            </a:r>
          </a:p>
          <a:p>
            <a:pPr marL="457200" indent="-457200">
              <a:buFont typeface="+mj-lt"/>
              <a:buAutoNum type="arabicPeriod"/>
            </a:pPr>
            <a:r>
              <a:rPr lang="en-CA" sz="2000" dirty="0"/>
              <a:t>FPGA-based GRU Design Space Exploration: Explore the GRU design space to determine how different design decisions affect the final GRU</a:t>
            </a:r>
          </a:p>
          <a:p>
            <a:pPr marL="457200" indent="-457200">
              <a:buFont typeface="+mj-lt"/>
              <a:buAutoNum type="arabicPeriod"/>
            </a:pPr>
            <a:r>
              <a:rPr lang="en-CA" sz="2000" dirty="0"/>
              <a:t>FPGA-based GRU Implementation: Implement GRU on a physical FPGA to determine implementation steps and difficulties</a:t>
            </a:r>
          </a:p>
        </p:txBody>
      </p:sp>
    </p:spTree>
    <p:extLst>
      <p:ext uri="{BB962C8B-B14F-4D97-AF65-F5344CB8AC3E}">
        <p14:creationId xmlns:p14="http://schemas.microsoft.com/office/powerpoint/2010/main" val="13569229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0">
          <a:extLst>
            <a:ext uri="{FF2B5EF4-FFF2-40B4-BE49-F238E27FC236}">
              <a16:creationId xmlns:a16="http://schemas.microsoft.com/office/drawing/2014/main" id="{EF2FC01D-D03F-4906-8C43-CAC3D5141C75}"/>
            </a:ext>
          </a:extLst>
        </p:cNvPr>
        <p:cNvGrpSpPr/>
        <p:nvPr/>
      </p:nvGrpSpPr>
      <p:grpSpPr>
        <a:xfrm>
          <a:off x="0" y="0"/>
          <a:ext cx="0" cy="0"/>
          <a:chOff x="0" y="0"/>
          <a:chExt cx="0" cy="0"/>
        </a:xfrm>
      </p:grpSpPr>
      <p:sp>
        <p:nvSpPr>
          <p:cNvPr id="51" name="Google Shape;51;p9">
            <a:extLst>
              <a:ext uri="{FF2B5EF4-FFF2-40B4-BE49-F238E27FC236}">
                <a16:creationId xmlns:a16="http://schemas.microsoft.com/office/drawing/2014/main" id="{F0D75656-2F1C-7CB2-1C47-5058FADBC569}"/>
              </a:ext>
            </a:extLst>
          </p:cNvPr>
          <p:cNvSpPr txBox="1">
            <a:spLocks noGrp="1"/>
          </p:cNvSpPr>
          <p:nvPr>
            <p:ph type="ctrTitle"/>
          </p:nvPr>
        </p:nvSpPr>
        <p:spPr>
          <a:xfrm>
            <a:off x="1886850" y="480475"/>
            <a:ext cx="8418300" cy="861600"/>
          </a:xfrm>
          <a:prstGeom prst="rect">
            <a:avLst/>
          </a:prstGeom>
        </p:spPr>
        <p:txBody>
          <a:bodyPr spcFirstLastPara="1" wrap="square" lIns="91425" tIns="45700" rIns="91425" bIns="45700" anchor="b" anchorCtr="0">
            <a:normAutofit fontScale="90000"/>
          </a:bodyPr>
          <a:lstStyle/>
          <a:p>
            <a:pPr lvl="0" algn="ctr"/>
            <a:r>
              <a:rPr lang="en-CA" sz="4000" dirty="0"/>
              <a:t>Software Implementation - Methodology</a:t>
            </a:r>
            <a:endParaRPr sz="4000" dirty="0"/>
          </a:p>
        </p:txBody>
      </p:sp>
      <p:sp>
        <p:nvSpPr>
          <p:cNvPr id="53" name="Google Shape;53;p9">
            <a:extLst>
              <a:ext uri="{FF2B5EF4-FFF2-40B4-BE49-F238E27FC236}">
                <a16:creationId xmlns:a16="http://schemas.microsoft.com/office/drawing/2014/main" id="{76F34717-5F03-0128-EFC4-634255820447}"/>
              </a:ext>
            </a:extLst>
          </p:cNvPr>
          <p:cNvSpPr txBox="1"/>
          <p:nvPr/>
        </p:nvSpPr>
        <p:spPr>
          <a:xfrm>
            <a:off x="1886850" y="2415396"/>
            <a:ext cx="8418300" cy="3812355"/>
          </a:xfrm>
          <a:prstGeom prst="rect">
            <a:avLst/>
          </a:prstGeom>
          <a:noFill/>
          <a:ln>
            <a:noFill/>
          </a:ln>
        </p:spPr>
        <p:txBody>
          <a:bodyPr spcFirstLastPara="1" wrap="square" lIns="91425" tIns="45700" rIns="91425" bIns="45700" anchor="t" anchorCtr="0">
            <a:noAutofit/>
          </a:bodyPr>
          <a:lstStyle/>
          <a:p>
            <a:pPr marL="457200" indent="-457200">
              <a:buFont typeface="+mj-lt"/>
              <a:buAutoNum type="arabicPeriod"/>
            </a:pPr>
            <a:r>
              <a:rPr lang="en-CA" sz="2000" dirty="0"/>
              <a:t>Coded GRU in C++ with same architecture as FPGA GRU</a:t>
            </a:r>
          </a:p>
          <a:p>
            <a:pPr marL="457200" indent="-457200">
              <a:buFont typeface="+mj-lt"/>
              <a:buAutoNum type="arabicPeriod"/>
            </a:pPr>
            <a:r>
              <a:rPr lang="en-CA" sz="2000" dirty="0"/>
              <a:t>Unravelled code and </a:t>
            </a:r>
            <a:r>
              <a:rPr lang="en-CA" sz="2000" dirty="0" err="1"/>
              <a:t>inlined</a:t>
            </a:r>
            <a:r>
              <a:rPr lang="en-CA" sz="2000" dirty="0"/>
              <a:t> every method</a:t>
            </a:r>
          </a:p>
          <a:p>
            <a:pPr marL="457200" indent="-457200">
              <a:buFont typeface="+mj-lt"/>
              <a:buAutoNum type="arabicPeriod"/>
            </a:pPr>
            <a:r>
              <a:rPr lang="en-CA" sz="2000" dirty="0"/>
              <a:t>Converted C++ to assembly</a:t>
            </a:r>
          </a:p>
          <a:p>
            <a:pPr marL="457200" indent="-457200">
              <a:buFont typeface="+mj-lt"/>
              <a:buAutoNum type="arabicPeriod"/>
            </a:pPr>
            <a:r>
              <a:rPr lang="en-CA" sz="2000" dirty="0"/>
              <a:t>Assumed each instruction is one clock cycle to generalize across over multiple microchips</a:t>
            </a:r>
          </a:p>
          <a:p>
            <a:pPr marL="457200" indent="-457200">
              <a:buFont typeface="+mj-lt"/>
              <a:buAutoNum type="arabicPeriod"/>
            </a:pPr>
            <a:r>
              <a:rPr lang="en-CA" sz="2000" dirty="0"/>
              <a:t>Counted each type of instruction</a:t>
            </a:r>
          </a:p>
          <a:p>
            <a:pPr marL="457200" indent="-457200">
              <a:buFont typeface="+mj-lt"/>
              <a:buAutoNum type="arabicPeriod"/>
            </a:pPr>
            <a:r>
              <a:rPr lang="en-CA" sz="2000" dirty="0"/>
              <a:t>Per CPU, calculated how long it would take to run one GRU cycle</a:t>
            </a:r>
          </a:p>
          <a:p>
            <a:pPr marL="457200" indent="-457200">
              <a:buFont typeface="+mj-lt"/>
              <a:buAutoNum type="arabicPeriod"/>
            </a:pPr>
            <a:r>
              <a:rPr lang="en-CA" sz="2000" dirty="0"/>
              <a:t>Based on time and wattage, calculated joules used per cycle</a:t>
            </a:r>
          </a:p>
        </p:txBody>
      </p:sp>
    </p:spTree>
    <p:extLst>
      <p:ext uri="{BB962C8B-B14F-4D97-AF65-F5344CB8AC3E}">
        <p14:creationId xmlns:p14="http://schemas.microsoft.com/office/powerpoint/2010/main" val="15810225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0">
          <a:extLst>
            <a:ext uri="{FF2B5EF4-FFF2-40B4-BE49-F238E27FC236}">
              <a16:creationId xmlns:a16="http://schemas.microsoft.com/office/drawing/2014/main" id="{A3696099-5EE9-D174-037E-123FF1E0AC97}"/>
            </a:ext>
          </a:extLst>
        </p:cNvPr>
        <p:cNvGrpSpPr/>
        <p:nvPr/>
      </p:nvGrpSpPr>
      <p:grpSpPr>
        <a:xfrm>
          <a:off x="0" y="0"/>
          <a:ext cx="0" cy="0"/>
          <a:chOff x="0" y="0"/>
          <a:chExt cx="0" cy="0"/>
        </a:xfrm>
      </p:grpSpPr>
      <p:sp>
        <p:nvSpPr>
          <p:cNvPr id="51" name="Google Shape;51;p9">
            <a:extLst>
              <a:ext uri="{FF2B5EF4-FFF2-40B4-BE49-F238E27FC236}">
                <a16:creationId xmlns:a16="http://schemas.microsoft.com/office/drawing/2014/main" id="{D8801A00-3415-1FEE-C8F3-C68F6AAB1411}"/>
              </a:ext>
            </a:extLst>
          </p:cNvPr>
          <p:cNvSpPr txBox="1">
            <a:spLocks noGrp="1"/>
          </p:cNvSpPr>
          <p:nvPr>
            <p:ph type="ctrTitle"/>
          </p:nvPr>
        </p:nvSpPr>
        <p:spPr>
          <a:xfrm>
            <a:off x="1886850" y="480475"/>
            <a:ext cx="8418300" cy="861600"/>
          </a:xfrm>
          <a:prstGeom prst="rect">
            <a:avLst/>
          </a:prstGeom>
        </p:spPr>
        <p:txBody>
          <a:bodyPr spcFirstLastPara="1" wrap="square" lIns="91425" tIns="45700" rIns="91425" bIns="45700" anchor="b" anchorCtr="0">
            <a:normAutofit fontScale="90000"/>
          </a:bodyPr>
          <a:lstStyle/>
          <a:p>
            <a:pPr lvl="0" algn="ctr"/>
            <a:r>
              <a:rPr lang="en-CA" sz="4000" dirty="0"/>
              <a:t>Software Implementation – Results and Discussion</a:t>
            </a:r>
            <a:endParaRPr sz="4000" dirty="0"/>
          </a:p>
        </p:txBody>
      </p:sp>
      <p:sp>
        <p:nvSpPr>
          <p:cNvPr id="53" name="Google Shape;53;p9">
            <a:extLst>
              <a:ext uri="{FF2B5EF4-FFF2-40B4-BE49-F238E27FC236}">
                <a16:creationId xmlns:a16="http://schemas.microsoft.com/office/drawing/2014/main" id="{64F7D1D8-F16A-1AF7-BE33-BFFC0FF1B0D7}"/>
              </a:ext>
            </a:extLst>
          </p:cNvPr>
          <p:cNvSpPr txBox="1"/>
          <p:nvPr/>
        </p:nvSpPr>
        <p:spPr>
          <a:xfrm>
            <a:off x="828136" y="2455653"/>
            <a:ext cx="5210355" cy="3772098"/>
          </a:xfrm>
          <a:prstGeom prst="rect">
            <a:avLst/>
          </a:prstGeom>
          <a:noFill/>
          <a:ln>
            <a:noFill/>
          </a:ln>
        </p:spPr>
        <p:txBody>
          <a:bodyPr spcFirstLastPara="1" wrap="square" lIns="91425" tIns="45700" rIns="91425" bIns="45700" anchor="t" anchorCtr="0">
            <a:noAutofit/>
          </a:bodyPr>
          <a:lstStyle/>
          <a:p>
            <a:pPr marL="342900" indent="-342900">
              <a:buFont typeface="Arial" panose="020B0604020202020204" pitchFamily="34" charset="0"/>
              <a:buChar char="•"/>
            </a:pPr>
            <a:r>
              <a:rPr lang="en-CA" sz="2000" dirty="0"/>
              <a:t>Grouped into type of operations</a:t>
            </a:r>
          </a:p>
          <a:p>
            <a:pPr marL="342900" indent="-342900">
              <a:buFont typeface="Arial" panose="020B0604020202020204" pitchFamily="34" charset="0"/>
              <a:buChar char="•"/>
            </a:pPr>
            <a:r>
              <a:rPr lang="en-CA" sz="2000" dirty="0"/>
              <a:t>Loading data and arithmetic operations take a similar amount of instructions</a:t>
            </a:r>
          </a:p>
          <a:p>
            <a:pPr marL="342900" indent="-342900">
              <a:buFont typeface="Arial" panose="020B0604020202020204" pitchFamily="34" charset="0"/>
              <a:buChar char="•"/>
            </a:pPr>
            <a:r>
              <a:rPr lang="en-CA" sz="2000" dirty="0"/>
              <a:t>Some data probably needs to be loaded several times as the same input data is used in every GRU equation, increasing data load instructions</a:t>
            </a:r>
          </a:p>
        </p:txBody>
      </p:sp>
      <p:pic>
        <p:nvPicPr>
          <p:cNvPr id="4" name="Picture 3">
            <a:extLst>
              <a:ext uri="{FF2B5EF4-FFF2-40B4-BE49-F238E27FC236}">
                <a16:creationId xmlns:a16="http://schemas.microsoft.com/office/drawing/2014/main" id="{A738D6C8-DB8C-74EF-FED1-20259A961506}"/>
              </a:ext>
            </a:extLst>
          </p:cNvPr>
          <p:cNvPicPr>
            <a:picLocks noChangeAspect="1"/>
          </p:cNvPicPr>
          <p:nvPr/>
        </p:nvPicPr>
        <p:blipFill>
          <a:blip r:embed="rId3"/>
          <a:stretch>
            <a:fillRect/>
          </a:stretch>
        </p:blipFill>
        <p:spPr>
          <a:xfrm>
            <a:off x="6534109" y="1266784"/>
            <a:ext cx="5657891" cy="5591216"/>
          </a:xfrm>
          <a:prstGeom prst="rect">
            <a:avLst/>
          </a:prstGeom>
        </p:spPr>
      </p:pic>
    </p:spTree>
    <p:extLst>
      <p:ext uri="{BB962C8B-B14F-4D97-AF65-F5344CB8AC3E}">
        <p14:creationId xmlns:p14="http://schemas.microsoft.com/office/powerpoint/2010/main" val="42325448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0">
          <a:extLst>
            <a:ext uri="{FF2B5EF4-FFF2-40B4-BE49-F238E27FC236}">
              <a16:creationId xmlns:a16="http://schemas.microsoft.com/office/drawing/2014/main" id="{5943C862-00BB-0670-FFA7-71D5483394A5}"/>
            </a:ext>
          </a:extLst>
        </p:cNvPr>
        <p:cNvGrpSpPr/>
        <p:nvPr/>
      </p:nvGrpSpPr>
      <p:grpSpPr>
        <a:xfrm>
          <a:off x="0" y="0"/>
          <a:ext cx="0" cy="0"/>
          <a:chOff x="0" y="0"/>
          <a:chExt cx="0" cy="0"/>
        </a:xfrm>
      </p:grpSpPr>
      <p:sp>
        <p:nvSpPr>
          <p:cNvPr id="51" name="Google Shape;51;p9">
            <a:extLst>
              <a:ext uri="{FF2B5EF4-FFF2-40B4-BE49-F238E27FC236}">
                <a16:creationId xmlns:a16="http://schemas.microsoft.com/office/drawing/2014/main" id="{DA9E8F70-0042-9576-5623-57C22CCD7549}"/>
              </a:ext>
            </a:extLst>
          </p:cNvPr>
          <p:cNvSpPr txBox="1">
            <a:spLocks noGrp="1"/>
          </p:cNvSpPr>
          <p:nvPr>
            <p:ph type="ctrTitle"/>
          </p:nvPr>
        </p:nvSpPr>
        <p:spPr>
          <a:xfrm>
            <a:off x="1886850" y="480474"/>
            <a:ext cx="8418300" cy="1250559"/>
          </a:xfrm>
          <a:prstGeom prst="rect">
            <a:avLst/>
          </a:prstGeom>
        </p:spPr>
        <p:txBody>
          <a:bodyPr spcFirstLastPara="1" wrap="square" lIns="91425" tIns="45700" rIns="91425" bIns="45700" anchor="b" anchorCtr="0">
            <a:normAutofit fontScale="90000"/>
          </a:bodyPr>
          <a:lstStyle/>
          <a:p>
            <a:pPr lvl="0" algn="ctr"/>
            <a:r>
              <a:rPr lang="en-CA" sz="4000" dirty="0"/>
              <a:t>Hardware Implementation – Platform Characteristics</a:t>
            </a:r>
            <a:endParaRPr sz="4000" dirty="0"/>
          </a:p>
        </p:txBody>
      </p:sp>
      <p:sp>
        <p:nvSpPr>
          <p:cNvPr id="53" name="Google Shape;53;p9">
            <a:extLst>
              <a:ext uri="{FF2B5EF4-FFF2-40B4-BE49-F238E27FC236}">
                <a16:creationId xmlns:a16="http://schemas.microsoft.com/office/drawing/2014/main" id="{906F37BA-8152-C24A-6410-419CD320C34B}"/>
              </a:ext>
            </a:extLst>
          </p:cNvPr>
          <p:cNvSpPr txBox="1"/>
          <p:nvPr/>
        </p:nvSpPr>
        <p:spPr>
          <a:xfrm>
            <a:off x="1886850" y="2984740"/>
            <a:ext cx="8418300" cy="3243011"/>
          </a:xfrm>
          <a:prstGeom prst="rect">
            <a:avLst/>
          </a:prstGeom>
          <a:noFill/>
          <a:ln>
            <a:noFill/>
          </a:ln>
        </p:spPr>
        <p:txBody>
          <a:bodyPr spcFirstLastPara="1" wrap="square" lIns="91425" tIns="45700" rIns="91425" bIns="45700" anchor="t" anchorCtr="0">
            <a:noAutofit/>
          </a:bodyPr>
          <a:lstStyle/>
          <a:p>
            <a:pPr marL="342900" indent="-342900">
              <a:buFont typeface="Arial" panose="020B0604020202020204" pitchFamily="34" charset="0"/>
              <a:buChar char="•"/>
            </a:pPr>
            <a:r>
              <a:rPr lang="en-US" sz="2000" dirty="0"/>
              <a:t>CPUs are flexible and easy to program but suffer from high power consumption and limited parallelism, making them poorly suited for the matrix-heavy operations required by machine learning models like GRUs</a:t>
            </a:r>
          </a:p>
        </p:txBody>
      </p:sp>
    </p:spTree>
    <p:extLst>
      <p:ext uri="{BB962C8B-B14F-4D97-AF65-F5344CB8AC3E}">
        <p14:creationId xmlns:p14="http://schemas.microsoft.com/office/powerpoint/2010/main" val="21025906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0">
          <a:extLst>
            <a:ext uri="{FF2B5EF4-FFF2-40B4-BE49-F238E27FC236}">
              <a16:creationId xmlns:a16="http://schemas.microsoft.com/office/drawing/2014/main" id="{E70B737C-E844-3CA3-778E-4DE193EF71F9}"/>
            </a:ext>
          </a:extLst>
        </p:cNvPr>
        <p:cNvGrpSpPr/>
        <p:nvPr/>
      </p:nvGrpSpPr>
      <p:grpSpPr>
        <a:xfrm>
          <a:off x="0" y="0"/>
          <a:ext cx="0" cy="0"/>
          <a:chOff x="0" y="0"/>
          <a:chExt cx="0" cy="0"/>
        </a:xfrm>
      </p:grpSpPr>
      <p:sp>
        <p:nvSpPr>
          <p:cNvPr id="51" name="Google Shape;51;p9">
            <a:extLst>
              <a:ext uri="{FF2B5EF4-FFF2-40B4-BE49-F238E27FC236}">
                <a16:creationId xmlns:a16="http://schemas.microsoft.com/office/drawing/2014/main" id="{C8FE33CE-B3EA-2D03-78E3-050F79A6EB92}"/>
              </a:ext>
            </a:extLst>
          </p:cNvPr>
          <p:cNvSpPr txBox="1">
            <a:spLocks noGrp="1"/>
          </p:cNvSpPr>
          <p:nvPr>
            <p:ph type="ctrTitle"/>
          </p:nvPr>
        </p:nvSpPr>
        <p:spPr>
          <a:xfrm>
            <a:off x="1886850" y="480475"/>
            <a:ext cx="8418300" cy="1233306"/>
          </a:xfrm>
          <a:prstGeom prst="rect">
            <a:avLst/>
          </a:prstGeom>
        </p:spPr>
        <p:txBody>
          <a:bodyPr spcFirstLastPara="1" wrap="square" lIns="91425" tIns="45700" rIns="91425" bIns="45700" anchor="b" anchorCtr="0">
            <a:normAutofit fontScale="90000"/>
          </a:bodyPr>
          <a:lstStyle/>
          <a:p>
            <a:pPr lvl="0" algn="ctr"/>
            <a:r>
              <a:rPr lang="en-CA" sz="4000" dirty="0"/>
              <a:t>Hardware Implementation – Platform Characteristics</a:t>
            </a:r>
            <a:endParaRPr sz="4000" dirty="0"/>
          </a:p>
        </p:txBody>
      </p:sp>
      <p:sp>
        <p:nvSpPr>
          <p:cNvPr id="53" name="Google Shape;53;p9">
            <a:extLst>
              <a:ext uri="{FF2B5EF4-FFF2-40B4-BE49-F238E27FC236}">
                <a16:creationId xmlns:a16="http://schemas.microsoft.com/office/drawing/2014/main" id="{D493A52B-262B-CF48-F860-1D02BACAA02C}"/>
              </a:ext>
            </a:extLst>
          </p:cNvPr>
          <p:cNvSpPr txBox="1"/>
          <p:nvPr/>
        </p:nvSpPr>
        <p:spPr>
          <a:xfrm>
            <a:off x="1886850" y="2984740"/>
            <a:ext cx="8418300" cy="3243011"/>
          </a:xfrm>
          <a:prstGeom prst="rect">
            <a:avLst/>
          </a:prstGeom>
          <a:noFill/>
          <a:ln>
            <a:noFill/>
          </a:ln>
        </p:spPr>
        <p:txBody>
          <a:bodyPr spcFirstLastPara="1" wrap="square" lIns="91425" tIns="45700" rIns="91425" bIns="45700" anchor="t" anchorCtr="0">
            <a:noAutofit/>
          </a:bodyPr>
          <a:lstStyle/>
          <a:p>
            <a:pPr marL="342900" indent="-342900">
              <a:buFont typeface="Arial" panose="020B0604020202020204" pitchFamily="34" charset="0"/>
              <a:buChar char="•"/>
            </a:pPr>
            <a:r>
              <a:rPr lang="en-US" sz="2000" dirty="0"/>
              <a:t>GPUs are optimized for matrix operations and offer high parallelism, but their high power consumption and bulkier form factor make them less ideal for embedded or edge deployments</a:t>
            </a:r>
          </a:p>
        </p:txBody>
      </p:sp>
    </p:spTree>
    <p:extLst>
      <p:ext uri="{BB962C8B-B14F-4D97-AF65-F5344CB8AC3E}">
        <p14:creationId xmlns:p14="http://schemas.microsoft.com/office/powerpoint/2010/main" val="20095774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0">
          <a:extLst>
            <a:ext uri="{FF2B5EF4-FFF2-40B4-BE49-F238E27FC236}">
              <a16:creationId xmlns:a16="http://schemas.microsoft.com/office/drawing/2014/main" id="{2D40EE87-4DA0-9588-8A6B-E91B70341772}"/>
            </a:ext>
          </a:extLst>
        </p:cNvPr>
        <p:cNvGrpSpPr/>
        <p:nvPr/>
      </p:nvGrpSpPr>
      <p:grpSpPr>
        <a:xfrm>
          <a:off x="0" y="0"/>
          <a:ext cx="0" cy="0"/>
          <a:chOff x="0" y="0"/>
          <a:chExt cx="0" cy="0"/>
        </a:xfrm>
      </p:grpSpPr>
      <p:sp>
        <p:nvSpPr>
          <p:cNvPr id="51" name="Google Shape;51;p9">
            <a:extLst>
              <a:ext uri="{FF2B5EF4-FFF2-40B4-BE49-F238E27FC236}">
                <a16:creationId xmlns:a16="http://schemas.microsoft.com/office/drawing/2014/main" id="{B2191DB2-230D-145B-0028-F57808B07768}"/>
              </a:ext>
            </a:extLst>
          </p:cNvPr>
          <p:cNvSpPr txBox="1">
            <a:spLocks noGrp="1"/>
          </p:cNvSpPr>
          <p:nvPr>
            <p:ph type="ctrTitle"/>
          </p:nvPr>
        </p:nvSpPr>
        <p:spPr>
          <a:xfrm>
            <a:off x="1886850" y="480474"/>
            <a:ext cx="8418300" cy="1325321"/>
          </a:xfrm>
          <a:prstGeom prst="rect">
            <a:avLst/>
          </a:prstGeom>
        </p:spPr>
        <p:txBody>
          <a:bodyPr spcFirstLastPara="1" wrap="square" lIns="91425" tIns="45700" rIns="91425" bIns="45700" anchor="b" anchorCtr="0">
            <a:normAutofit fontScale="90000"/>
          </a:bodyPr>
          <a:lstStyle/>
          <a:p>
            <a:pPr lvl="0" algn="ctr"/>
            <a:r>
              <a:rPr lang="en-CA" sz="4000" dirty="0"/>
              <a:t>Hardware Implementation – Platform Characteristics</a:t>
            </a:r>
            <a:endParaRPr sz="4000" dirty="0"/>
          </a:p>
        </p:txBody>
      </p:sp>
      <p:sp>
        <p:nvSpPr>
          <p:cNvPr id="53" name="Google Shape;53;p9">
            <a:extLst>
              <a:ext uri="{FF2B5EF4-FFF2-40B4-BE49-F238E27FC236}">
                <a16:creationId xmlns:a16="http://schemas.microsoft.com/office/drawing/2014/main" id="{41268C10-1A7E-FF39-9DCC-928DC7A9378F}"/>
              </a:ext>
            </a:extLst>
          </p:cNvPr>
          <p:cNvSpPr txBox="1"/>
          <p:nvPr/>
        </p:nvSpPr>
        <p:spPr>
          <a:xfrm>
            <a:off x="1886850" y="3007743"/>
            <a:ext cx="8418300" cy="3220008"/>
          </a:xfrm>
          <a:prstGeom prst="rect">
            <a:avLst/>
          </a:prstGeom>
          <a:noFill/>
          <a:ln>
            <a:noFill/>
          </a:ln>
        </p:spPr>
        <p:txBody>
          <a:bodyPr spcFirstLastPara="1" wrap="square" lIns="91425" tIns="45700" rIns="91425" bIns="45700" anchor="t" anchorCtr="0">
            <a:noAutofit/>
          </a:bodyPr>
          <a:lstStyle/>
          <a:p>
            <a:pPr marL="342900" indent="-342900">
              <a:buFont typeface="Arial" panose="020B0604020202020204" pitchFamily="34" charset="0"/>
              <a:buChar char="•"/>
            </a:pPr>
            <a:r>
              <a:rPr lang="en-US" sz="2000" dirty="0"/>
              <a:t>FPGAs offer high parallelism and strong performance-per-watt, allowing custom accelerators to be built for specific algorithms at a lower development cost than ASICs</a:t>
            </a:r>
          </a:p>
        </p:txBody>
      </p:sp>
    </p:spTree>
    <p:extLst>
      <p:ext uri="{BB962C8B-B14F-4D97-AF65-F5344CB8AC3E}">
        <p14:creationId xmlns:p14="http://schemas.microsoft.com/office/powerpoint/2010/main" val="34520623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0">
          <a:extLst>
            <a:ext uri="{FF2B5EF4-FFF2-40B4-BE49-F238E27FC236}">
              <a16:creationId xmlns:a16="http://schemas.microsoft.com/office/drawing/2014/main" id="{C474334D-0310-E083-1A8A-C80D061C2FBE}"/>
            </a:ext>
          </a:extLst>
        </p:cNvPr>
        <p:cNvGrpSpPr/>
        <p:nvPr/>
      </p:nvGrpSpPr>
      <p:grpSpPr>
        <a:xfrm>
          <a:off x="0" y="0"/>
          <a:ext cx="0" cy="0"/>
          <a:chOff x="0" y="0"/>
          <a:chExt cx="0" cy="0"/>
        </a:xfrm>
      </p:grpSpPr>
      <p:sp>
        <p:nvSpPr>
          <p:cNvPr id="51" name="Google Shape;51;p9">
            <a:extLst>
              <a:ext uri="{FF2B5EF4-FFF2-40B4-BE49-F238E27FC236}">
                <a16:creationId xmlns:a16="http://schemas.microsoft.com/office/drawing/2014/main" id="{F9D8C275-E12A-728A-997D-AC9B09A5092E}"/>
              </a:ext>
            </a:extLst>
          </p:cNvPr>
          <p:cNvSpPr txBox="1">
            <a:spLocks noGrp="1"/>
          </p:cNvSpPr>
          <p:nvPr>
            <p:ph type="ctrTitle"/>
          </p:nvPr>
        </p:nvSpPr>
        <p:spPr>
          <a:xfrm>
            <a:off x="1886850" y="480474"/>
            <a:ext cx="8418300" cy="1285065"/>
          </a:xfrm>
          <a:prstGeom prst="rect">
            <a:avLst/>
          </a:prstGeom>
        </p:spPr>
        <p:txBody>
          <a:bodyPr spcFirstLastPara="1" wrap="square" lIns="91425" tIns="45700" rIns="91425" bIns="45700" anchor="b" anchorCtr="0">
            <a:normAutofit fontScale="90000"/>
          </a:bodyPr>
          <a:lstStyle/>
          <a:p>
            <a:pPr lvl="0" algn="ctr"/>
            <a:r>
              <a:rPr lang="en-CA" sz="4000" dirty="0"/>
              <a:t>Hardware Implementation – Platform Characteristics</a:t>
            </a:r>
            <a:endParaRPr sz="4000" dirty="0"/>
          </a:p>
        </p:txBody>
      </p:sp>
      <p:sp>
        <p:nvSpPr>
          <p:cNvPr id="53" name="Google Shape;53;p9">
            <a:extLst>
              <a:ext uri="{FF2B5EF4-FFF2-40B4-BE49-F238E27FC236}">
                <a16:creationId xmlns:a16="http://schemas.microsoft.com/office/drawing/2014/main" id="{2D0F6A75-DA37-898B-4C86-B26E1B0B6E84}"/>
              </a:ext>
            </a:extLst>
          </p:cNvPr>
          <p:cNvSpPr txBox="1"/>
          <p:nvPr/>
        </p:nvSpPr>
        <p:spPr>
          <a:xfrm>
            <a:off x="1886850" y="2478657"/>
            <a:ext cx="8418300" cy="3749094"/>
          </a:xfrm>
          <a:prstGeom prst="rect">
            <a:avLst/>
          </a:prstGeom>
          <a:noFill/>
          <a:ln>
            <a:noFill/>
          </a:ln>
        </p:spPr>
        <p:txBody>
          <a:bodyPr spcFirstLastPara="1" wrap="square" lIns="91425" tIns="45700" rIns="91425" bIns="45700" anchor="t" anchorCtr="0">
            <a:noAutofit/>
          </a:bodyPr>
          <a:lstStyle/>
          <a:p>
            <a:pPr marL="342900" indent="-342900">
              <a:buFont typeface="Arial" panose="020B0604020202020204" pitchFamily="34" charset="0"/>
              <a:buChar char="•"/>
            </a:pPr>
            <a:r>
              <a:rPr lang="en-US" sz="2000" dirty="0"/>
              <a:t>For this project, FPGAs are the ideal platform because their low power consumption and high efficiency make them well-suited for edge deployment close to the user</a:t>
            </a:r>
          </a:p>
          <a:p>
            <a:pPr marL="342900" indent="-342900">
              <a:buFont typeface="Arial" panose="020B0604020202020204" pitchFamily="34" charset="0"/>
              <a:buChar char="•"/>
            </a:pPr>
            <a:r>
              <a:rPr lang="en-US" sz="2000" dirty="0"/>
              <a:t>Further, FPGAs would need to spend less time loading and unloading data as weights and input data can be stored directly on-chip, eliminating the need to repeatedly fetch them from external memory</a:t>
            </a:r>
          </a:p>
        </p:txBody>
      </p:sp>
    </p:spTree>
    <p:extLst>
      <p:ext uri="{BB962C8B-B14F-4D97-AF65-F5344CB8AC3E}">
        <p14:creationId xmlns:p14="http://schemas.microsoft.com/office/powerpoint/2010/main" val="24723263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0">
          <a:extLst>
            <a:ext uri="{FF2B5EF4-FFF2-40B4-BE49-F238E27FC236}">
              <a16:creationId xmlns:a16="http://schemas.microsoft.com/office/drawing/2014/main" id="{BABFD9DA-6469-9B02-9CA0-6A62A511D36A}"/>
            </a:ext>
          </a:extLst>
        </p:cNvPr>
        <p:cNvGrpSpPr/>
        <p:nvPr/>
      </p:nvGrpSpPr>
      <p:grpSpPr>
        <a:xfrm>
          <a:off x="0" y="0"/>
          <a:ext cx="0" cy="0"/>
          <a:chOff x="0" y="0"/>
          <a:chExt cx="0" cy="0"/>
        </a:xfrm>
      </p:grpSpPr>
      <p:sp>
        <p:nvSpPr>
          <p:cNvPr id="51" name="Google Shape;51;p9">
            <a:extLst>
              <a:ext uri="{FF2B5EF4-FFF2-40B4-BE49-F238E27FC236}">
                <a16:creationId xmlns:a16="http://schemas.microsoft.com/office/drawing/2014/main" id="{8C3F2E05-85F3-A49F-43BF-3F09848B2560}"/>
              </a:ext>
            </a:extLst>
          </p:cNvPr>
          <p:cNvSpPr txBox="1">
            <a:spLocks noGrp="1"/>
          </p:cNvSpPr>
          <p:nvPr>
            <p:ph type="ctrTitle"/>
          </p:nvPr>
        </p:nvSpPr>
        <p:spPr>
          <a:xfrm>
            <a:off x="1886850" y="480475"/>
            <a:ext cx="8418300" cy="861600"/>
          </a:xfrm>
          <a:prstGeom prst="rect">
            <a:avLst/>
          </a:prstGeom>
        </p:spPr>
        <p:txBody>
          <a:bodyPr spcFirstLastPara="1" wrap="square" lIns="91425" tIns="45700" rIns="91425" bIns="45700" anchor="b" anchorCtr="0">
            <a:normAutofit fontScale="90000"/>
          </a:bodyPr>
          <a:lstStyle/>
          <a:p>
            <a:pPr lvl="0" algn="ctr"/>
            <a:r>
              <a:rPr lang="en-CA" sz="4000" dirty="0"/>
              <a:t>Hardware Implementation – Input Data</a:t>
            </a:r>
            <a:endParaRPr sz="4000" dirty="0"/>
          </a:p>
        </p:txBody>
      </p:sp>
      <p:sp>
        <p:nvSpPr>
          <p:cNvPr id="53" name="Google Shape;53;p9">
            <a:extLst>
              <a:ext uri="{FF2B5EF4-FFF2-40B4-BE49-F238E27FC236}">
                <a16:creationId xmlns:a16="http://schemas.microsoft.com/office/drawing/2014/main" id="{74C04B5D-3167-2FB9-8CFC-3346B986ED1D}"/>
              </a:ext>
            </a:extLst>
          </p:cNvPr>
          <p:cNvSpPr txBox="1"/>
          <p:nvPr/>
        </p:nvSpPr>
        <p:spPr>
          <a:xfrm>
            <a:off x="1886850" y="2340634"/>
            <a:ext cx="8418300" cy="3887117"/>
          </a:xfrm>
          <a:prstGeom prst="rect">
            <a:avLst/>
          </a:prstGeom>
          <a:noFill/>
          <a:ln>
            <a:noFill/>
          </a:ln>
        </p:spPr>
        <p:txBody>
          <a:bodyPr spcFirstLastPara="1" wrap="square" lIns="91425" tIns="45700" rIns="91425" bIns="45700" anchor="t" anchorCtr="0">
            <a:noAutofit/>
          </a:bodyPr>
          <a:lstStyle/>
          <a:p>
            <a:pPr marL="342900" indent="-342900">
              <a:buFont typeface="Arial" panose="020B0604020202020204" pitchFamily="34" charset="0"/>
              <a:buChar char="•"/>
            </a:pPr>
            <a:r>
              <a:rPr lang="en-CA" sz="2000" dirty="0"/>
              <a:t>EEG Motor Movement / Imagery Dataset (EEGMMIDB) </a:t>
            </a:r>
          </a:p>
          <a:p>
            <a:pPr marL="342900" indent="-342900">
              <a:buFont typeface="Arial" panose="020B0604020202020204" pitchFamily="34" charset="0"/>
              <a:buChar char="•"/>
            </a:pPr>
            <a:r>
              <a:rPr lang="en-CA" sz="2000" dirty="0"/>
              <a:t>1,500+ EEG recordings from 109 volunteers performing MI tasks</a:t>
            </a:r>
          </a:p>
          <a:p>
            <a:pPr marL="342900" indent="-342900">
              <a:buFont typeface="Arial" panose="020B0604020202020204" pitchFamily="34" charset="0"/>
              <a:buChar char="•"/>
            </a:pPr>
            <a:r>
              <a:rPr lang="en-CA" sz="2000" dirty="0"/>
              <a:t>Contains 64-channel EEG signals recorded at 160 Hz using the BCI2000 system</a:t>
            </a:r>
          </a:p>
        </p:txBody>
      </p:sp>
      <p:sp>
        <p:nvSpPr>
          <p:cNvPr id="3" name="TextBox 2">
            <a:extLst>
              <a:ext uri="{FF2B5EF4-FFF2-40B4-BE49-F238E27FC236}">
                <a16:creationId xmlns:a16="http://schemas.microsoft.com/office/drawing/2014/main" id="{713A5FC9-A929-7AE5-8DE4-484D0914A40C}"/>
              </a:ext>
            </a:extLst>
          </p:cNvPr>
          <p:cNvSpPr txBox="1"/>
          <p:nvPr/>
        </p:nvSpPr>
        <p:spPr>
          <a:xfrm>
            <a:off x="0" y="6211669"/>
            <a:ext cx="6389298" cy="646331"/>
          </a:xfrm>
          <a:prstGeom prst="rect">
            <a:avLst/>
          </a:prstGeom>
          <a:noFill/>
        </p:spPr>
        <p:txBody>
          <a:bodyPr wrap="square">
            <a:spAutoFit/>
          </a:bodyPr>
          <a:lstStyle/>
          <a:p>
            <a:r>
              <a:rPr lang="en-CA" sz="1200" dirty="0"/>
              <a:t>A. L. Goldberger, L. A. Amaral, L. Glass, J. M. </a:t>
            </a:r>
            <a:r>
              <a:rPr lang="en-CA" sz="1200" dirty="0" err="1"/>
              <a:t>Hausdorff</a:t>
            </a:r>
            <a:r>
              <a:rPr lang="en-CA" sz="1200" dirty="0"/>
              <a:t>, P. </a:t>
            </a:r>
            <a:r>
              <a:rPr lang="en-CA" sz="1200" dirty="0" err="1"/>
              <a:t>C.Ivanov</a:t>
            </a:r>
            <a:r>
              <a:rPr lang="en-CA" sz="1200" dirty="0"/>
              <a:t>, R. G. Mark, J. E. Mietus, G. B. Moody, C.-K. Peng, and H. </a:t>
            </a:r>
            <a:r>
              <a:rPr lang="en-CA" sz="1200" dirty="0" err="1"/>
              <a:t>E.Stanley</a:t>
            </a:r>
            <a:r>
              <a:rPr lang="en-CA" sz="1200" dirty="0"/>
              <a:t>, “</a:t>
            </a:r>
            <a:r>
              <a:rPr lang="en-CA" sz="1200" dirty="0" err="1"/>
              <a:t>Physiobank</a:t>
            </a:r>
            <a:r>
              <a:rPr lang="en-CA" sz="1200" dirty="0"/>
              <a:t>, </a:t>
            </a:r>
            <a:r>
              <a:rPr lang="en-CA" sz="1200" dirty="0" err="1"/>
              <a:t>physiotoolkit</a:t>
            </a:r>
            <a:r>
              <a:rPr lang="en-CA" sz="1200" dirty="0"/>
              <a:t>, and </a:t>
            </a:r>
            <a:r>
              <a:rPr lang="en-CA" sz="1200" dirty="0" err="1"/>
              <a:t>physionet</a:t>
            </a:r>
            <a:r>
              <a:rPr lang="en-CA" sz="1200" dirty="0"/>
              <a:t>,” Circulation, vol.101, no. 23, Jun 2000.</a:t>
            </a:r>
          </a:p>
        </p:txBody>
      </p:sp>
    </p:spTree>
    <p:extLst>
      <p:ext uri="{BB962C8B-B14F-4D97-AF65-F5344CB8AC3E}">
        <p14:creationId xmlns:p14="http://schemas.microsoft.com/office/powerpoint/2010/main" val="13984504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0">
          <a:extLst>
            <a:ext uri="{FF2B5EF4-FFF2-40B4-BE49-F238E27FC236}">
              <a16:creationId xmlns:a16="http://schemas.microsoft.com/office/drawing/2014/main" id="{FA3EE510-7F06-3DFE-6550-55D24EFEF127}"/>
            </a:ext>
          </a:extLst>
        </p:cNvPr>
        <p:cNvGrpSpPr/>
        <p:nvPr/>
      </p:nvGrpSpPr>
      <p:grpSpPr>
        <a:xfrm>
          <a:off x="0" y="0"/>
          <a:ext cx="0" cy="0"/>
          <a:chOff x="0" y="0"/>
          <a:chExt cx="0" cy="0"/>
        </a:xfrm>
      </p:grpSpPr>
      <p:sp>
        <p:nvSpPr>
          <p:cNvPr id="51" name="Google Shape;51;p9">
            <a:extLst>
              <a:ext uri="{FF2B5EF4-FFF2-40B4-BE49-F238E27FC236}">
                <a16:creationId xmlns:a16="http://schemas.microsoft.com/office/drawing/2014/main" id="{CB0400D2-BCAB-11CD-0DC8-FE0C6D8CED93}"/>
              </a:ext>
            </a:extLst>
          </p:cNvPr>
          <p:cNvSpPr txBox="1">
            <a:spLocks noGrp="1"/>
          </p:cNvSpPr>
          <p:nvPr>
            <p:ph type="ctrTitle"/>
          </p:nvPr>
        </p:nvSpPr>
        <p:spPr>
          <a:xfrm>
            <a:off x="1886850" y="480475"/>
            <a:ext cx="8418300" cy="861600"/>
          </a:xfrm>
          <a:prstGeom prst="rect">
            <a:avLst/>
          </a:prstGeom>
        </p:spPr>
        <p:txBody>
          <a:bodyPr spcFirstLastPara="1" wrap="square" lIns="91425" tIns="45700" rIns="91425" bIns="45700" anchor="b" anchorCtr="0">
            <a:normAutofit fontScale="90000"/>
          </a:bodyPr>
          <a:lstStyle/>
          <a:p>
            <a:pPr lvl="0" algn="ctr"/>
            <a:r>
              <a:rPr lang="en-CA" sz="4000" dirty="0"/>
              <a:t>Hardware Implementation – Input Data</a:t>
            </a:r>
            <a:endParaRPr sz="4000" dirty="0"/>
          </a:p>
        </p:txBody>
      </p:sp>
      <p:sp>
        <p:nvSpPr>
          <p:cNvPr id="53" name="Google Shape;53;p9">
            <a:extLst>
              <a:ext uri="{FF2B5EF4-FFF2-40B4-BE49-F238E27FC236}">
                <a16:creationId xmlns:a16="http://schemas.microsoft.com/office/drawing/2014/main" id="{3CDF3E0A-658B-8B8C-4C0B-00F09AAA9230}"/>
              </a:ext>
            </a:extLst>
          </p:cNvPr>
          <p:cNvSpPr txBox="1"/>
          <p:nvPr/>
        </p:nvSpPr>
        <p:spPr>
          <a:xfrm>
            <a:off x="1886850" y="2530415"/>
            <a:ext cx="8418300" cy="3697336"/>
          </a:xfrm>
          <a:prstGeom prst="rect">
            <a:avLst/>
          </a:prstGeom>
          <a:noFill/>
          <a:ln>
            <a:noFill/>
          </a:ln>
        </p:spPr>
        <p:txBody>
          <a:bodyPr spcFirstLastPara="1" wrap="square" lIns="91425" tIns="45700" rIns="91425" bIns="45700" anchor="t" anchorCtr="0">
            <a:noAutofit/>
          </a:bodyPr>
          <a:lstStyle/>
          <a:p>
            <a:pPr marL="342900" indent="-342900">
              <a:buFont typeface="Arial" panose="020B0604020202020204" pitchFamily="34" charset="0"/>
              <a:buChar char="•"/>
            </a:pPr>
            <a:r>
              <a:rPr lang="en-CA" sz="2000" dirty="0"/>
              <a:t>100 deterministic test samples were extracted from the motor imagery tasks to evaluate GRU implementation accuracy</a:t>
            </a:r>
          </a:p>
          <a:p>
            <a:pPr marL="342900" indent="-342900">
              <a:buFont typeface="Arial" panose="020B0604020202020204" pitchFamily="34" charset="0"/>
              <a:buChar char="•"/>
            </a:pPr>
            <a:r>
              <a:rPr lang="en-CA" sz="2000" dirty="0"/>
              <a:t>Ground truth outputs calculated using 32-bit floating-point arithmetic serving as the accuracy baseline for evaluating fixed-point hardware implementations.</a:t>
            </a:r>
          </a:p>
        </p:txBody>
      </p:sp>
    </p:spTree>
    <p:extLst>
      <p:ext uri="{BB962C8B-B14F-4D97-AF65-F5344CB8AC3E}">
        <p14:creationId xmlns:p14="http://schemas.microsoft.com/office/powerpoint/2010/main" val="30121896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0">
          <a:extLst>
            <a:ext uri="{FF2B5EF4-FFF2-40B4-BE49-F238E27FC236}">
              <a16:creationId xmlns:a16="http://schemas.microsoft.com/office/drawing/2014/main" id="{C9653623-155F-EE82-254C-D6D5F99C64F3}"/>
            </a:ext>
          </a:extLst>
        </p:cNvPr>
        <p:cNvGrpSpPr/>
        <p:nvPr/>
      </p:nvGrpSpPr>
      <p:grpSpPr>
        <a:xfrm>
          <a:off x="0" y="0"/>
          <a:ext cx="0" cy="0"/>
          <a:chOff x="0" y="0"/>
          <a:chExt cx="0" cy="0"/>
        </a:xfrm>
      </p:grpSpPr>
      <p:sp>
        <p:nvSpPr>
          <p:cNvPr id="51" name="Google Shape;51;p9">
            <a:extLst>
              <a:ext uri="{FF2B5EF4-FFF2-40B4-BE49-F238E27FC236}">
                <a16:creationId xmlns:a16="http://schemas.microsoft.com/office/drawing/2014/main" id="{26C7D349-20A4-B436-A9D9-4A3EDBB64448}"/>
              </a:ext>
            </a:extLst>
          </p:cNvPr>
          <p:cNvSpPr txBox="1">
            <a:spLocks noGrp="1"/>
          </p:cNvSpPr>
          <p:nvPr>
            <p:ph type="ctrTitle"/>
          </p:nvPr>
        </p:nvSpPr>
        <p:spPr>
          <a:xfrm>
            <a:off x="1886850" y="480475"/>
            <a:ext cx="8418300" cy="861600"/>
          </a:xfrm>
          <a:prstGeom prst="rect">
            <a:avLst/>
          </a:prstGeom>
        </p:spPr>
        <p:txBody>
          <a:bodyPr spcFirstLastPara="1" wrap="square" lIns="91425" tIns="45700" rIns="91425" bIns="45700" anchor="b" anchorCtr="0">
            <a:normAutofit fontScale="90000"/>
          </a:bodyPr>
          <a:lstStyle/>
          <a:p>
            <a:pPr lvl="0" algn="ctr"/>
            <a:r>
              <a:rPr lang="en-CA" sz="4000" dirty="0"/>
              <a:t>Hardware Implementation – Methodology</a:t>
            </a:r>
            <a:endParaRPr sz="4000" dirty="0"/>
          </a:p>
        </p:txBody>
      </p:sp>
      <p:sp>
        <p:nvSpPr>
          <p:cNvPr id="53" name="Google Shape;53;p9">
            <a:extLst>
              <a:ext uri="{FF2B5EF4-FFF2-40B4-BE49-F238E27FC236}">
                <a16:creationId xmlns:a16="http://schemas.microsoft.com/office/drawing/2014/main" id="{EA0EB826-507A-A0F9-49D4-F9A051B7E98D}"/>
              </a:ext>
            </a:extLst>
          </p:cNvPr>
          <p:cNvSpPr txBox="1"/>
          <p:nvPr/>
        </p:nvSpPr>
        <p:spPr>
          <a:xfrm>
            <a:off x="6780361" y="1955326"/>
            <a:ext cx="4264573" cy="4272425"/>
          </a:xfrm>
          <a:prstGeom prst="rect">
            <a:avLst/>
          </a:prstGeom>
          <a:noFill/>
          <a:ln>
            <a:noFill/>
          </a:ln>
        </p:spPr>
        <p:txBody>
          <a:bodyPr spcFirstLastPara="1" wrap="square" lIns="91425" tIns="45700" rIns="91425" bIns="45700" anchor="t" anchorCtr="0">
            <a:noAutofit/>
          </a:bodyPr>
          <a:lstStyle/>
          <a:p>
            <a:pPr marL="342900" indent="-342900">
              <a:buFont typeface="Arial" panose="020B0604020202020204" pitchFamily="34" charset="0"/>
              <a:buChar char="•"/>
            </a:pPr>
            <a:r>
              <a:rPr lang="en-US" sz="2000" dirty="0"/>
              <a:t>Controlled by an FSM that goes through each of the four GRU equations: reset gate, update gate, new gate, and hidden state</a:t>
            </a:r>
          </a:p>
          <a:p>
            <a:pPr marL="342900" indent="-342900">
              <a:buFont typeface="Arial" panose="020B0604020202020204" pitchFamily="34" charset="0"/>
              <a:buChar char="•"/>
            </a:pPr>
            <a:r>
              <a:rPr lang="en-US" sz="2000" dirty="0"/>
              <a:t>Each output of each equation can be computed independently, thus each gate equation model outputs one equation output</a:t>
            </a:r>
          </a:p>
          <a:p>
            <a:pPr marL="342900" indent="-342900">
              <a:buFont typeface="Arial" panose="020B0604020202020204" pitchFamily="34" charset="0"/>
              <a:buChar char="•"/>
            </a:pPr>
            <a:r>
              <a:rPr lang="en-US" sz="2000" dirty="0"/>
              <a:t>Multiple instances spatially-multiplex calculations</a:t>
            </a:r>
          </a:p>
          <a:p>
            <a:pPr marL="342900" indent="-342900">
              <a:buFont typeface="Arial" panose="020B0604020202020204" pitchFamily="34" charset="0"/>
              <a:buChar char="•"/>
            </a:pPr>
            <a:r>
              <a:rPr lang="en-US" sz="2000" dirty="0"/>
              <a:t>FSM time-multiplexes calculations</a:t>
            </a:r>
          </a:p>
        </p:txBody>
      </p:sp>
      <p:grpSp>
        <p:nvGrpSpPr>
          <p:cNvPr id="2" name="Group 1">
            <a:extLst>
              <a:ext uri="{FF2B5EF4-FFF2-40B4-BE49-F238E27FC236}">
                <a16:creationId xmlns:a16="http://schemas.microsoft.com/office/drawing/2014/main" id="{1B459148-80CE-D1C0-4383-36785B72AC46}"/>
              </a:ext>
            </a:extLst>
          </p:cNvPr>
          <p:cNvGrpSpPr/>
          <p:nvPr/>
        </p:nvGrpSpPr>
        <p:grpSpPr>
          <a:xfrm>
            <a:off x="62336" y="2624678"/>
            <a:ext cx="6714236" cy="2753232"/>
            <a:chOff x="62336" y="1563272"/>
            <a:chExt cx="6714236" cy="2753232"/>
          </a:xfrm>
        </p:grpSpPr>
        <p:sp>
          <p:nvSpPr>
            <p:cNvPr id="3" name="Rectangle: Rounded Corners 2">
              <a:extLst>
                <a:ext uri="{FF2B5EF4-FFF2-40B4-BE49-F238E27FC236}">
                  <a16:creationId xmlns:a16="http://schemas.microsoft.com/office/drawing/2014/main" id="{137A104E-BC3E-8A14-46D1-A5349F0BE35F}"/>
                </a:ext>
              </a:extLst>
            </p:cNvPr>
            <p:cNvSpPr/>
            <p:nvPr/>
          </p:nvSpPr>
          <p:spPr>
            <a:xfrm>
              <a:off x="1292744" y="1563272"/>
              <a:ext cx="5209170" cy="2753232"/>
            </a:xfrm>
            <a:prstGeom prst="roundRect">
              <a:avLst>
                <a:gd name="adj" fmla="val 12218"/>
              </a:avLst>
            </a:prstGeom>
          </p:spPr>
          <p:style>
            <a:lnRef idx="2">
              <a:schemeClr val="dk1"/>
            </a:lnRef>
            <a:fillRef idx="1">
              <a:schemeClr val="lt1"/>
            </a:fillRef>
            <a:effectRef idx="0">
              <a:schemeClr val="dk1"/>
            </a:effectRef>
            <a:fontRef idx="minor">
              <a:schemeClr val="dk1"/>
            </a:fontRef>
          </p:style>
          <p:txBody>
            <a:bodyPr rtlCol="0" anchor="t"/>
            <a:lstStyle/>
            <a:p>
              <a:pPr algn="ctr"/>
              <a:r>
                <a:rPr lang="en-CA" dirty="0"/>
                <a:t>GRU</a:t>
              </a:r>
            </a:p>
          </p:txBody>
        </p:sp>
        <p:grpSp>
          <p:nvGrpSpPr>
            <p:cNvPr id="4" name="Group 3">
              <a:extLst>
                <a:ext uri="{FF2B5EF4-FFF2-40B4-BE49-F238E27FC236}">
                  <a16:creationId xmlns:a16="http://schemas.microsoft.com/office/drawing/2014/main" id="{6C48E188-FB48-C999-3745-82F9E41E2159}"/>
                </a:ext>
              </a:extLst>
            </p:cNvPr>
            <p:cNvGrpSpPr/>
            <p:nvPr/>
          </p:nvGrpSpPr>
          <p:grpSpPr>
            <a:xfrm>
              <a:off x="1543752" y="3270287"/>
              <a:ext cx="1299881" cy="883664"/>
              <a:chOff x="1773729" y="2545336"/>
              <a:chExt cx="1299881" cy="883664"/>
            </a:xfrm>
          </p:grpSpPr>
          <p:sp>
            <p:nvSpPr>
              <p:cNvPr id="27" name="Rectangle: Rounded Corners 26">
                <a:extLst>
                  <a:ext uri="{FF2B5EF4-FFF2-40B4-BE49-F238E27FC236}">
                    <a16:creationId xmlns:a16="http://schemas.microsoft.com/office/drawing/2014/main" id="{26BF71B9-D3E5-4B29-D7D9-B8F47B6E9548}"/>
                  </a:ext>
                </a:extLst>
              </p:cNvPr>
              <p:cNvSpPr/>
              <p:nvPr/>
            </p:nvSpPr>
            <p:spPr>
              <a:xfrm>
                <a:off x="1773729" y="2545336"/>
                <a:ext cx="1084729" cy="67619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CA" dirty="0"/>
                  <a:t>Reset Gate</a:t>
                </a:r>
              </a:p>
            </p:txBody>
          </p:sp>
          <p:sp>
            <p:nvSpPr>
              <p:cNvPr id="28" name="Rectangle: Rounded Corners 27">
                <a:extLst>
                  <a:ext uri="{FF2B5EF4-FFF2-40B4-BE49-F238E27FC236}">
                    <a16:creationId xmlns:a16="http://schemas.microsoft.com/office/drawing/2014/main" id="{6686991A-72A5-8785-8036-8A07ACD87CF4}"/>
                  </a:ext>
                </a:extLst>
              </p:cNvPr>
              <p:cNvSpPr/>
              <p:nvPr/>
            </p:nvSpPr>
            <p:spPr>
              <a:xfrm>
                <a:off x="1881305" y="2654073"/>
                <a:ext cx="1084729" cy="67619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CA" dirty="0"/>
                  <a:t>Reset Gate</a:t>
                </a:r>
              </a:p>
            </p:txBody>
          </p:sp>
          <p:sp>
            <p:nvSpPr>
              <p:cNvPr id="29" name="Rectangle: Rounded Corners 28">
                <a:extLst>
                  <a:ext uri="{FF2B5EF4-FFF2-40B4-BE49-F238E27FC236}">
                    <a16:creationId xmlns:a16="http://schemas.microsoft.com/office/drawing/2014/main" id="{5B8B2251-7D30-AB1C-2DF9-D274A73E16F5}"/>
                  </a:ext>
                </a:extLst>
              </p:cNvPr>
              <p:cNvSpPr/>
              <p:nvPr/>
            </p:nvSpPr>
            <p:spPr>
              <a:xfrm>
                <a:off x="1988881" y="2752805"/>
                <a:ext cx="1084729" cy="67619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CA" dirty="0"/>
                  <a:t>Reset Gate</a:t>
                </a:r>
              </a:p>
            </p:txBody>
          </p:sp>
        </p:grpSp>
        <p:grpSp>
          <p:nvGrpSpPr>
            <p:cNvPr id="5" name="Group 4">
              <a:extLst>
                <a:ext uri="{FF2B5EF4-FFF2-40B4-BE49-F238E27FC236}">
                  <a16:creationId xmlns:a16="http://schemas.microsoft.com/office/drawing/2014/main" id="{C4C1883A-B865-D500-273E-CACDEB4947F6}"/>
                </a:ext>
              </a:extLst>
            </p:cNvPr>
            <p:cNvGrpSpPr/>
            <p:nvPr/>
          </p:nvGrpSpPr>
          <p:grpSpPr>
            <a:xfrm>
              <a:off x="3252167" y="3297942"/>
              <a:ext cx="1299881" cy="883664"/>
              <a:chOff x="1773729" y="2545336"/>
              <a:chExt cx="1299881" cy="883664"/>
            </a:xfrm>
          </p:grpSpPr>
          <p:sp>
            <p:nvSpPr>
              <p:cNvPr id="24" name="Rectangle: Rounded Corners 23">
                <a:extLst>
                  <a:ext uri="{FF2B5EF4-FFF2-40B4-BE49-F238E27FC236}">
                    <a16:creationId xmlns:a16="http://schemas.microsoft.com/office/drawing/2014/main" id="{E6F685AE-038D-E65B-3432-A1DF193814B5}"/>
                  </a:ext>
                </a:extLst>
              </p:cNvPr>
              <p:cNvSpPr/>
              <p:nvPr/>
            </p:nvSpPr>
            <p:spPr>
              <a:xfrm>
                <a:off x="1773729" y="2545336"/>
                <a:ext cx="1084729" cy="67619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CA" dirty="0"/>
                  <a:t>Reset Gate</a:t>
                </a:r>
              </a:p>
            </p:txBody>
          </p:sp>
          <p:sp>
            <p:nvSpPr>
              <p:cNvPr id="25" name="Rectangle: Rounded Corners 24">
                <a:extLst>
                  <a:ext uri="{FF2B5EF4-FFF2-40B4-BE49-F238E27FC236}">
                    <a16:creationId xmlns:a16="http://schemas.microsoft.com/office/drawing/2014/main" id="{1D100B61-E033-3DAB-289A-A5FA26630766}"/>
                  </a:ext>
                </a:extLst>
              </p:cNvPr>
              <p:cNvSpPr/>
              <p:nvPr/>
            </p:nvSpPr>
            <p:spPr>
              <a:xfrm>
                <a:off x="1881305" y="2654073"/>
                <a:ext cx="1084729" cy="67619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CA" dirty="0"/>
                  <a:t>Reset Gate</a:t>
                </a:r>
              </a:p>
            </p:txBody>
          </p:sp>
          <p:sp>
            <p:nvSpPr>
              <p:cNvPr id="26" name="Rectangle: Rounded Corners 25">
                <a:extLst>
                  <a:ext uri="{FF2B5EF4-FFF2-40B4-BE49-F238E27FC236}">
                    <a16:creationId xmlns:a16="http://schemas.microsoft.com/office/drawing/2014/main" id="{167457F8-080F-5412-8C63-7C184E4A6C9C}"/>
                  </a:ext>
                </a:extLst>
              </p:cNvPr>
              <p:cNvSpPr/>
              <p:nvPr/>
            </p:nvSpPr>
            <p:spPr>
              <a:xfrm>
                <a:off x="1988881" y="2752805"/>
                <a:ext cx="1084729" cy="67619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CA" dirty="0"/>
                  <a:t>New Gate</a:t>
                </a:r>
              </a:p>
            </p:txBody>
          </p:sp>
        </p:grpSp>
        <p:grpSp>
          <p:nvGrpSpPr>
            <p:cNvPr id="6" name="Group 5">
              <a:extLst>
                <a:ext uri="{FF2B5EF4-FFF2-40B4-BE49-F238E27FC236}">
                  <a16:creationId xmlns:a16="http://schemas.microsoft.com/office/drawing/2014/main" id="{105A54A0-C478-BA5B-4635-349756104D05}"/>
                </a:ext>
              </a:extLst>
            </p:cNvPr>
            <p:cNvGrpSpPr/>
            <p:nvPr/>
          </p:nvGrpSpPr>
          <p:grpSpPr>
            <a:xfrm>
              <a:off x="5068158" y="2772547"/>
              <a:ext cx="1299881" cy="883664"/>
              <a:chOff x="1773729" y="2545336"/>
              <a:chExt cx="1299881" cy="883664"/>
            </a:xfrm>
          </p:grpSpPr>
          <p:sp>
            <p:nvSpPr>
              <p:cNvPr id="21" name="Rectangle: Rounded Corners 20">
                <a:extLst>
                  <a:ext uri="{FF2B5EF4-FFF2-40B4-BE49-F238E27FC236}">
                    <a16:creationId xmlns:a16="http://schemas.microsoft.com/office/drawing/2014/main" id="{BD6AD853-0DEE-2CBA-F485-BC914E6A67FC}"/>
                  </a:ext>
                </a:extLst>
              </p:cNvPr>
              <p:cNvSpPr/>
              <p:nvPr/>
            </p:nvSpPr>
            <p:spPr>
              <a:xfrm>
                <a:off x="1773729" y="2545336"/>
                <a:ext cx="1084729" cy="67619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CA" dirty="0"/>
                  <a:t>Reset Gate</a:t>
                </a:r>
              </a:p>
            </p:txBody>
          </p:sp>
          <p:sp>
            <p:nvSpPr>
              <p:cNvPr id="22" name="Rectangle: Rounded Corners 21">
                <a:extLst>
                  <a:ext uri="{FF2B5EF4-FFF2-40B4-BE49-F238E27FC236}">
                    <a16:creationId xmlns:a16="http://schemas.microsoft.com/office/drawing/2014/main" id="{63468ADC-52B7-D5B6-B5BC-06DD0C4AC03A}"/>
                  </a:ext>
                </a:extLst>
              </p:cNvPr>
              <p:cNvSpPr/>
              <p:nvPr/>
            </p:nvSpPr>
            <p:spPr>
              <a:xfrm>
                <a:off x="1881305" y="2654073"/>
                <a:ext cx="1084729" cy="67619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CA" dirty="0"/>
                  <a:t>Reset Gate</a:t>
                </a:r>
              </a:p>
            </p:txBody>
          </p:sp>
          <p:sp>
            <p:nvSpPr>
              <p:cNvPr id="23" name="Rectangle: Rounded Corners 22">
                <a:extLst>
                  <a:ext uri="{FF2B5EF4-FFF2-40B4-BE49-F238E27FC236}">
                    <a16:creationId xmlns:a16="http://schemas.microsoft.com/office/drawing/2014/main" id="{3028ADE4-635C-4EFB-832A-1EA852724BD0}"/>
                  </a:ext>
                </a:extLst>
              </p:cNvPr>
              <p:cNvSpPr/>
              <p:nvPr/>
            </p:nvSpPr>
            <p:spPr>
              <a:xfrm>
                <a:off x="1988881" y="2752805"/>
                <a:ext cx="1084729" cy="67619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CA" dirty="0"/>
                  <a:t>Hidden State</a:t>
                </a:r>
              </a:p>
            </p:txBody>
          </p:sp>
        </p:grpSp>
        <p:grpSp>
          <p:nvGrpSpPr>
            <p:cNvPr id="7" name="Group 6">
              <a:extLst>
                <a:ext uri="{FF2B5EF4-FFF2-40B4-BE49-F238E27FC236}">
                  <a16:creationId xmlns:a16="http://schemas.microsoft.com/office/drawing/2014/main" id="{D797EA05-B9FD-32B1-4414-A2AA7493EE0E}"/>
                </a:ext>
              </a:extLst>
            </p:cNvPr>
            <p:cNvGrpSpPr/>
            <p:nvPr/>
          </p:nvGrpSpPr>
          <p:grpSpPr>
            <a:xfrm>
              <a:off x="3252166" y="2092509"/>
              <a:ext cx="1299881" cy="883664"/>
              <a:chOff x="1773729" y="2545336"/>
              <a:chExt cx="1299881" cy="883664"/>
            </a:xfrm>
          </p:grpSpPr>
          <p:sp>
            <p:nvSpPr>
              <p:cNvPr id="18" name="Rectangle: Rounded Corners 17">
                <a:extLst>
                  <a:ext uri="{FF2B5EF4-FFF2-40B4-BE49-F238E27FC236}">
                    <a16:creationId xmlns:a16="http://schemas.microsoft.com/office/drawing/2014/main" id="{6C8FFB52-848F-85A0-255B-3C070A7550B5}"/>
                  </a:ext>
                </a:extLst>
              </p:cNvPr>
              <p:cNvSpPr/>
              <p:nvPr/>
            </p:nvSpPr>
            <p:spPr>
              <a:xfrm>
                <a:off x="1773729" y="2545336"/>
                <a:ext cx="1084729" cy="67619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CA" dirty="0"/>
                  <a:t>Reset Gate</a:t>
                </a:r>
              </a:p>
            </p:txBody>
          </p:sp>
          <p:sp>
            <p:nvSpPr>
              <p:cNvPr id="19" name="Rectangle: Rounded Corners 18">
                <a:extLst>
                  <a:ext uri="{FF2B5EF4-FFF2-40B4-BE49-F238E27FC236}">
                    <a16:creationId xmlns:a16="http://schemas.microsoft.com/office/drawing/2014/main" id="{EAC79785-B7C9-DBDE-9353-9E3B66117755}"/>
                  </a:ext>
                </a:extLst>
              </p:cNvPr>
              <p:cNvSpPr/>
              <p:nvPr/>
            </p:nvSpPr>
            <p:spPr>
              <a:xfrm>
                <a:off x="1881305" y="2654073"/>
                <a:ext cx="1084729" cy="67619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CA" dirty="0"/>
                  <a:t>Reset Gate</a:t>
                </a:r>
              </a:p>
            </p:txBody>
          </p:sp>
          <p:sp>
            <p:nvSpPr>
              <p:cNvPr id="20" name="Rectangle: Rounded Corners 19">
                <a:extLst>
                  <a:ext uri="{FF2B5EF4-FFF2-40B4-BE49-F238E27FC236}">
                    <a16:creationId xmlns:a16="http://schemas.microsoft.com/office/drawing/2014/main" id="{374A7B1F-2D60-3BA2-7175-534A8A90137D}"/>
                  </a:ext>
                </a:extLst>
              </p:cNvPr>
              <p:cNvSpPr/>
              <p:nvPr/>
            </p:nvSpPr>
            <p:spPr>
              <a:xfrm>
                <a:off x="1988881" y="2752805"/>
                <a:ext cx="1084729" cy="67619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CA" dirty="0"/>
                  <a:t>Update Gate</a:t>
                </a:r>
              </a:p>
            </p:txBody>
          </p:sp>
        </p:grpSp>
        <p:cxnSp>
          <p:nvCxnSpPr>
            <p:cNvPr id="8" name="Straight Arrow Connector 7">
              <a:extLst>
                <a:ext uri="{FF2B5EF4-FFF2-40B4-BE49-F238E27FC236}">
                  <a16:creationId xmlns:a16="http://schemas.microsoft.com/office/drawing/2014/main" id="{2A5E4CE0-BE6E-EE4F-0F88-B67EB31570B6}"/>
                </a:ext>
              </a:extLst>
            </p:cNvPr>
            <p:cNvCxnSpPr/>
            <p:nvPr/>
          </p:nvCxnSpPr>
          <p:spPr>
            <a:xfrm>
              <a:off x="2843633" y="3815853"/>
              <a:ext cx="40853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Connector: Elbow 8">
              <a:extLst>
                <a:ext uri="{FF2B5EF4-FFF2-40B4-BE49-F238E27FC236}">
                  <a16:creationId xmlns:a16="http://schemas.microsoft.com/office/drawing/2014/main" id="{113F7BCB-8003-4488-CE70-94EF9D91A4A8}"/>
                </a:ext>
              </a:extLst>
            </p:cNvPr>
            <p:cNvCxnSpPr>
              <a:cxnSpLocks/>
              <a:stCxn id="20" idx="3"/>
              <a:endCxn id="21" idx="0"/>
            </p:cNvCxnSpPr>
            <p:nvPr/>
          </p:nvCxnSpPr>
          <p:spPr>
            <a:xfrm>
              <a:off x="4552047" y="2638076"/>
              <a:ext cx="1058476" cy="134471"/>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0" name="Connector: Elbow 9">
              <a:extLst>
                <a:ext uri="{FF2B5EF4-FFF2-40B4-BE49-F238E27FC236}">
                  <a16:creationId xmlns:a16="http://schemas.microsoft.com/office/drawing/2014/main" id="{332C8613-181C-2420-8C32-F45DA6584C0C}"/>
                </a:ext>
              </a:extLst>
            </p:cNvPr>
            <p:cNvCxnSpPr>
              <a:cxnSpLocks/>
              <a:stCxn id="26" idx="3"/>
            </p:cNvCxnSpPr>
            <p:nvPr/>
          </p:nvCxnSpPr>
          <p:spPr>
            <a:xfrm flipV="1">
              <a:off x="4552048" y="3661294"/>
              <a:ext cx="1059568" cy="182215"/>
            </a:xfrm>
            <a:prstGeom prst="bentConnector3">
              <a:avLst>
                <a:gd name="adj1" fmla="val 99942"/>
              </a:avLst>
            </a:prstGeom>
            <a:ln>
              <a:tailEnd type="triangle"/>
            </a:ln>
          </p:spPr>
          <p:style>
            <a:lnRef idx="2">
              <a:schemeClr val="dk1"/>
            </a:lnRef>
            <a:fillRef idx="0">
              <a:schemeClr val="dk1"/>
            </a:fillRef>
            <a:effectRef idx="1">
              <a:schemeClr val="dk1"/>
            </a:effectRef>
            <a:fontRef idx="minor">
              <a:schemeClr val="tx1"/>
            </a:fontRef>
          </p:style>
        </p:cxnSp>
        <p:cxnSp>
          <p:nvCxnSpPr>
            <p:cNvPr id="11" name="Connector: Elbow 10">
              <a:extLst>
                <a:ext uri="{FF2B5EF4-FFF2-40B4-BE49-F238E27FC236}">
                  <a16:creationId xmlns:a16="http://schemas.microsoft.com/office/drawing/2014/main" id="{E8DD05F6-BBCD-D5F9-9B21-6A499AA22D40}"/>
                </a:ext>
              </a:extLst>
            </p:cNvPr>
            <p:cNvCxnSpPr>
              <a:cxnSpLocks/>
            </p:cNvCxnSpPr>
            <p:nvPr/>
          </p:nvCxnSpPr>
          <p:spPr>
            <a:xfrm rot="10800000">
              <a:off x="4552050" y="2491940"/>
              <a:ext cx="1273625" cy="275525"/>
            </a:xfrm>
            <a:prstGeom prst="bentConnector3">
              <a:avLst>
                <a:gd name="adj1" fmla="val -1187"/>
              </a:avLst>
            </a:prstGeom>
            <a:ln>
              <a:tailEnd type="triangle"/>
            </a:ln>
          </p:spPr>
          <p:style>
            <a:lnRef idx="2">
              <a:schemeClr val="dk1"/>
            </a:lnRef>
            <a:fillRef idx="0">
              <a:schemeClr val="dk1"/>
            </a:fillRef>
            <a:effectRef idx="1">
              <a:schemeClr val="dk1"/>
            </a:effectRef>
            <a:fontRef idx="minor">
              <a:schemeClr val="tx1"/>
            </a:fontRef>
          </p:style>
        </p:cxnSp>
        <p:cxnSp>
          <p:nvCxnSpPr>
            <p:cNvPr id="12" name="Connector: Elbow 11">
              <a:extLst>
                <a:ext uri="{FF2B5EF4-FFF2-40B4-BE49-F238E27FC236}">
                  <a16:creationId xmlns:a16="http://schemas.microsoft.com/office/drawing/2014/main" id="{AC8FA86D-B412-C94F-5C9F-685F150A4C75}"/>
                </a:ext>
              </a:extLst>
            </p:cNvPr>
            <p:cNvCxnSpPr>
              <a:cxnSpLocks/>
              <a:stCxn id="23" idx="2"/>
            </p:cNvCxnSpPr>
            <p:nvPr/>
          </p:nvCxnSpPr>
          <p:spPr>
            <a:xfrm rot="5400000">
              <a:off x="5018474" y="3189786"/>
              <a:ext cx="340776" cy="1273626"/>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3" name="Connector: Elbow 12">
              <a:extLst>
                <a:ext uri="{FF2B5EF4-FFF2-40B4-BE49-F238E27FC236}">
                  <a16:creationId xmlns:a16="http://schemas.microsoft.com/office/drawing/2014/main" id="{58D3AFC1-E11F-005E-2096-11A435EECFEA}"/>
                </a:ext>
              </a:extLst>
            </p:cNvPr>
            <p:cNvCxnSpPr>
              <a:cxnSpLocks/>
              <a:stCxn id="21" idx="1"/>
              <a:endCxn id="27" idx="0"/>
            </p:cNvCxnSpPr>
            <p:nvPr/>
          </p:nvCxnSpPr>
          <p:spPr>
            <a:xfrm rot="10800000" flipV="1">
              <a:off x="2086118" y="3110645"/>
              <a:ext cx="2982041" cy="159642"/>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4" name="Straight Arrow Connector 13">
              <a:extLst>
                <a:ext uri="{FF2B5EF4-FFF2-40B4-BE49-F238E27FC236}">
                  <a16:creationId xmlns:a16="http://schemas.microsoft.com/office/drawing/2014/main" id="{E3AA3F01-F738-E43A-2D4B-45530EE3D7B9}"/>
                </a:ext>
              </a:extLst>
            </p:cNvPr>
            <p:cNvCxnSpPr/>
            <p:nvPr/>
          </p:nvCxnSpPr>
          <p:spPr>
            <a:xfrm>
              <a:off x="6368039" y="3308530"/>
              <a:ext cx="40853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5" name="Rectangle: Rounded Corners 14">
              <a:extLst>
                <a:ext uri="{FF2B5EF4-FFF2-40B4-BE49-F238E27FC236}">
                  <a16:creationId xmlns:a16="http://schemas.microsoft.com/office/drawing/2014/main" id="{352C2E23-AE73-DB66-2696-D478D18D16B1}"/>
                </a:ext>
              </a:extLst>
            </p:cNvPr>
            <p:cNvSpPr/>
            <p:nvPr/>
          </p:nvSpPr>
          <p:spPr>
            <a:xfrm>
              <a:off x="62336" y="2641918"/>
              <a:ext cx="1084729" cy="67619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CA" dirty="0"/>
                <a:t>Inputs</a:t>
              </a:r>
            </a:p>
          </p:txBody>
        </p:sp>
        <p:cxnSp>
          <p:nvCxnSpPr>
            <p:cNvPr id="16" name="Connector: Elbow 15">
              <a:extLst>
                <a:ext uri="{FF2B5EF4-FFF2-40B4-BE49-F238E27FC236}">
                  <a16:creationId xmlns:a16="http://schemas.microsoft.com/office/drawing/2014/main" id="{4622FD72-447E-2BF5-2A9D-B6DE96377875}"/>
                </a:ext>
              </a:extLst>
            </p:cNvPr>
            <p:cNvCxnSpPr>
              <a:stCxn id="15" idx="3"/>
              <a:endCxn id="27" idx="1"/>
            </p:cNvCxnSpPr>
            <p:nvPr/>
          </p:nvCxnSpPr>
          <p:spPr>
            <a:xfrm>
              <a:off x="1147065" y="2980016"/>
              <a:ext cx="396687" cy="628369"/>
            </a:xfrm>
            <a:prstGeom prst="bentConnector3">
              <a:avLst>
                <a:gd name="adj1" fmla="val 68142"/>
              </a:avLst>
            </a:prstGeom>
            <a:ln>
              <a:tailEnd type="triangle"/>
            </a:ln>
          </p:spPr>
          <p:style>
            <a:lnRef idx="2">
              <a:schemeClr val="dk1"/>
            </a:lnRef>
            <a:fillRef idx="0">
              <a:schemeClr val="dk1"/>
            </a:fillRef>
            <a:effectRef idx="1">
              <a:schemeClr val="dk1"/>
            </a:effectRef>
            <a:fontRef idx="minor">
              <a:schemeClr val="tx1"/>
            </a:fontRef>
          </p:style>
        </p:cxnSp>
        <p:cxnSp>
          <p:nvCxnSpPr>
            <p:cNvPr id="17" name="Connector: Elbow 16">
              <a:extLst>
                <a:ext uri="{FF2B5EF4-FFF2-40B4-BE49-F238E27FC236}">
                  <a16:creationId xmlns:a16="http://schemas.microsoft.com/office/drawing/2014/main" id="{DA68B0F4-1EC4-83BC-A331-E8B130D8E0B3}"/>
                </a:ext>
              </a:extLst>
            </p:cNvPr>
            <p:cNvCxnSpPr>
              <a:cxnSpLocks/>
              <a:stCxn id="15" idx="3"/>
              <a:endCxn id="18" idx="1"/>
            </p:cNvCxnSpPr>
            <p:nvPr/>
          </p:nvCxnSpPr>
          <p:spPr>
            <a:xfrm flipV="1">
              <a:off x="1147065" y="2430607"/>
              <a:ext cx="2105101" cy="549409"/>
            </a:xfrm>
            <a:prstGeom prst="bentConnector3">
              <a:avLst>
                <a:gd name="adj1" fmla="val 12998"/>
              </a:avLst>
            </a:prstGeom>
            <a:ln>
              <a:tailEnd type="triangle"/>
            </a:ln>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41565847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0">
          <a:extLst>
            <a:ext uri="{FF2B5EF4-FFF2-40B4-BE49-F238E27FC236}">
              <a16:creationId xmlns:a16="http://schemas.microsoft.com/office/drawing/2014/main" id="{324FB3FD-7D43-A375-DFEF-2347528D2672}"/>
            </a:ext>
          </a:extLst>
        </p:cNvPr>
        <p:cNvGrpSpPr/>
        <p:nvPr/>
      </p:nvGrpSpPr>
      <p:grpSpPr>
        <a:xfrm>
          <a:off x="0" y="0"/>
          <a:ext cx="0" cy="0"/>
          <a:chOff x="0" y="0"/>
          <a:chExt cx="0" cy="0"/>
        </a:xfrm>
      </p:grpSpPr>
      <p:sp>
        <p:nvSpPr>
          <p:cNvPr id="51" name="Google Shape;51;p9">
            <a:extLst>
              <a:ext uri="{FF2B5EF4-FFF2-40B4-BE49-F238E27FC236}">
                <a16:creationId xmlns:a16="http://schemas.microsoft.com/office/drawing/2014/main" id="{90656C83-B7B1-43A0-BB1E-F47B2F44F951}"/>
              </a:ext>
            </a:extLst>
          </p:cNvPr>
          <p:cNvSpPr txBox="1">
            <a:spLocks noGrp="1"/>
          </p:cNvSpPr>
          <p:nvPr>
            <p:ph type="ctrTitle"/>
          </p:nvPr>
        </p:nvSpPr>
        <p:spPr>
          <a:xfrm>
            <a:off x="1886850" y="480475"/>
            <a:ext cx="8418300" cy="861600"/>
          </a:xfrm>
          <a:prstGeom prst="rect">
            <a:avLst/>
          </a:prstGeom>
        </p:spPr>
        <p:txBody>
          <a:bodyPr spcFirstLastPara="1" wrap="square" lIns="91425" tIns="45700" rIns="91425" bIns="45700" anchor="b" anchorCtr="0">
            <a:normAutofit fontScale="90000"/>
          </a:bodyPr>
          <a:lstStyle/>
          <a:p>
            <a:pPr lvl="0" algn="ctr"/>
            <a:r>
              <a:rPr lang="en-CA" sz="4000" dirty="0"/>
              <a:t>Hardware Implementation – Design Space</a:t>
            </a:r>
            <a:endParaRPr sz="4000" dirty="0"/>
          </a:p>
        </p:txBody>
      </p:sp>
      <p:sp>
        <p:nvSpPr>
          <p:cNvPr id="53" name="Google Shape;53;p9">
            <a:extLst>
              <a:ext uri="{FF2B5EF4-FFF2-40B4-BE49-F238E27FC236}">
                <a16:creationId xmlns:a16="http://schemas.microsoft.com/office/drawing/2014/main" id="{C17470DC-7460-AAAD-2929-8EF4F4D532CB}"/>
              </a:ext>
            </a:extLst>
          </p:cNvPr>
          <p:cNvSpPr txBox="1"/>
          <p:nvPr/>
        </p:nvSpPr>
        <p:spPr>
          <a:xfrm>
            <a:off x="1886850" y="2651185"/>
            <a:ext cx="8418300" cy="3576566"/>
          </a:xfrm>
          <a:prstGeom prst="rect">
            <a:avLst/>
          </a:prstGeom>
          <a:noFill/>
          <a:ln>
            <a:noFill/>
          </a:ln>
        </p:spPr>
        <p:txBody>
          <a:bodyPr spcFirstLastPara="1" wrap="square" lIns="91425" tIns="45700" rIns="91425" bIns="45700" anchor="t" anchorCtr="0">
            <a:noAutofit/>
          </a:bodyPr>
          <a:lstStyle/>
          <a:p>
            <a:r>
              <a:rPr lang="en-CA" sz="2000" dirty="0"/>
              <a:t>Explored design space by synthesizing and implementing each design via Xilinx Vivado and getting metrics:</a:t>
            </a:r>
          </a:p>
          <a:p>
            <a:pPr marL="342900" indent="-342900">
              <a:buFont typeface="Arial" panose="020B0604020202020204" pitchFamily="34" charset="0"/>
              <a:buChar char="•"/>
            </a:pPr>
            <a:r>
              <a:rPr lang="en-CA" sz="2000" dirty="0"/>
              <a:t>Vivado 2024.1</a:t>
            </a:r>
          </a:p>
          <a:p>
            <a:pPr marL="342900" indent="-342900">
              <a:buFont typeface="Arial" panose="020B0604020202020204" pitchFamily="34" charset="0"/>
              <a:buChar char="•"/>
            </a:pPr>
            <a:r>
              <a:rPr lang="en-CA" sz="2000" dirty="0"/>
              <a:t>Selected the biggest FPGA board available for testing</a:t>
            </a:r>
          </a:p>
          <a:p>
            <a:pPr marL="342900" indent="-342900">
              <a:buFont typeface="Arial" panose="020B0604020202020204" pitchFamily="34" charset="0"/>
              <a:buChar char="•"/>
            </a:pPr>
            <a:r>
              <a:rPr lang="en-CA" sz="2000" dirty="0"/>
              <a:t>Used Arty-100T for metric calculation</a:t>
            </a:r>
          </a:p>
        </p:txBody>
      </p:sp>
    </p:spTree>
    <p:extLst>
      <p:ext uri="{BB962C8B-B14F-4D97-AF65-F5344CB8AC3E}">
        <p14:creationId xmlns:p14="http://schemas.microsoft.com/office/powerpoint/2010/main" val="19360160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0">
          <a:extLst>
            <a:ext uri="{FF2B5EF4-FFF2-40B4-BE49-F238E27FC236}">
              <a16:creationId xmlns:a16="http://schemas.microsoft.com/office/drawing/2014/main" id="{216DCA4A-41BD-B3D3-2029-DAE8AA79541A}"/>
            </a:ext>
          </a:extLst>
        </p:cNvPr>
        <p:cNvGrpSpPr/>
        <p:nvPr/>
      </p:nvGrpSpPr>
      <p:grpSpPr>
        <a:xfrm>
          <a:off x="0" y="0"/>
          <a:ext cx="0" cy="0"/>
          <a:chOff x="0" y="0"/>
          <a:chExt cx="0" cy="0"/>
        </a:xfrm>
      </p:grpSpPr>
      <p:sp>
        <p:nvSpPr>
          <p:cNvPr id="51" name="Google Shape;51;p9">
            <a:extLst>
              <a:ext uri="{FF2B5EF4-FFF2-40B4-BE49-F238E27FC236}">
                <a16:creationId xmlns:a16="http://schemas.microsoft.com/office/drawing/2014/main" id="{C9D0BDD2-20BA-9569-09AA-570D3726F3B1}"/>
              </a:ext>
            </a:extLst>
          </p:cNvPr>
          <p:cNvSpPr txBox="1">
            <a:spLocks noGrp="1"/>
          </p:cNvSpPr>
          <p:nvPr>
            <p:ph type="ctrTitle"/>
          </p:nvPr>
        </p:nvSpPr>
        <p:spPr>
          <a:xfrm>
            <a:off x="1886850" y="480475"/>
            <a:ext cx="8418300" cy="861600"/>
          </a:xfrm>
          <a:prstGeom prst="rect">
            <a:avLst/>
          </a:prstGeom>
        </p:spPr>
        <p:txBody>
          <a:bodyPr spcFirstLastPara="1" wrap="square" lIns="91425" tIns="45700" rIns="91425" bIns="45700" anchor="b" anchorCtr="0">
            <a:normAutofit fontScale="90000"/>
          </a:bodyPr>
          <a:lstStyle/>
          <a:p>
            <a:pPr lvl="0" algn="ctr"/>
            <a:r>
              <a:rPr lang="en-CA" sz="4000" dirty="0"/>
              <a:t>Hardware Implementation – Design Space</a:t>
            </a:r>
            <a:endParaRPr sz="4000" dirty="0"/>
          </a:p>
        </p:txBody>
      </p:sp>
      <p:sp>
        <p:nvSpPr>
          <p:cNvPr id="53" name="Google Shape;53;p9">
            <a:extLst>
              <a:ext uri="{FF2B5EF4-FFF2-40B4-BE49-F238E27FC236}">
                <a16:creationId xmlns:a16="http://schemas.microsoft.com/office/drawing/2014/main" id="{8D61BC54-D8C5-ABBA-C1AA-319CEA9574A3}"/>
              </a:ext>
            </a:extLst>
          </p:cNvPr>
          <p:cNvSpPr txBox="1"/>
          <p:nvPr/>
        </p:nvSpPr>
        <p:spPr>
          <a:xfrm>
            <a:off x="2507681" y="1915064"/>
            <a:ext cx="7176637" cy="4163162"/>
          </a:xfrm>
          <a:prstGeom prst="rect">
            <a:avLst/>
          </a:prstGeom>
          <a:noFill/>
          <a:ln>
            <a:noFill/>
          </a:ln>
        </p:spPr>
        <p:txBody>
          <a:bodyPr spcFirstLastPara="1" wrap="square" lIns="91425" tIns="45700" rIns="91425" bIns="45700" anchor="t" anchorCtr="0">
            <a:noAutofit/>
          </a:bodyPr>
          <a:lstStyle/>
          <a:p>
            <a:r>
              <a:rPr lang="en-CA" sz="2000" dirty="0"/>
              <a:t>Metrics:</a:t>
            </a:r>
          </a:p>
          <a:p>
            <a:pPr marL="342900" indent="-342900">
              <a:buFont typeface="Arial" panose="020B0604020202020204" pitchFamily="34" charset="0"/>
              <a:buChar char="•"/>
            </a:pPr>
            <a:r>
              <a:rPr lang="en-CA" sz="2000" dirty="0"/>
              <a:t>WNS (ns): Worst Negative Slack</a:t>
            </a:r>
          </a:p>
          <a:p>
            <a:pPr marL="342900" indent="-342900">
              <a:buFont typeface="Arial" panose="020B0604020202020204" pitchFamily="34" charset="0"/>
              <a:buChar char="•"/>
            </a:pPr>
            <a:r>
              <a:rPr lang="en-CA" sz="2000" dirty="0"/>
              <a:t>LUTs: Number of Look Up Tables</a:t>
            </a:r>
          </a:p>
          <a:p>
            <a:pPr marL="342900" indent="-342900">
              <a:buFont typeface="Arial" panose="020B0604020202020204" pitchFamily="34" charset="0"/>
              <a:buChar char="•"/>
            </a:pPr>
            <a:r>
              <a:rPr lang="en-CA" sz="2000" dirty="0"/>
              <a:t>Registers: Number of Registers</a:t>
            </a:r>
          </a:p>
          <a:p>
            <a:pPr marL="342900" indent="-342900">
              <a:buFont typeface="Arial" panose="020B0604020202020204" pitchFamily="34" charset="0"/>
              <a:buChar char="•"/>
            </a:pPr>
            <a:r>
              <a:rPr lang="en-CA" sz="2000" dirty="0"/>
              <a:t>Cycles: FPGA Cycles to Complete one GRU Step</a:t>
            </a:r>
          </a:p>
          <a:p>
            <a:pPr marL="342900" indent="-342900">
              <a:buFont typeface="Arial" panose="020B0604020202020204" pitchFamily="34" charset="0"/>
              <a:buChar char="•"/>
            </a:pPr>
            <a:r>
              <a:rPr lang="en-CA" sz="2000" dirty="0"/>
              <a:t>MAE: Mean Absolute Error</a:t>
            </a:r>
          </a:p>
          <a:p>
            <a:pPr marL="342900" indent="-342900">
              <a:buFont typeface="Arial" panose="020B0604020202020204" pitchFamily="34" charset="0"/>
              <a:buChar char="•"/>
            </a:pPr>
            <a:r>
              <a:rPr lang="en-CA" sz="2000" dirty="0"/>
              <a:t>RMSE: Root Mean Square Error</a:t>
            </a:r>
          </a:p>
          <a:p>
            <a:pPr marL="342900" indent="-342900">
              <a:buFont typeface="Arial" panose="020B0604020202020204" pitchFamily="34" charset="0"/>
              <a:buChar char="•"/>
            </a:pPr>
            <a:r>
              <a:rPr lang="en-CA" sz="2000" dirty="0"/>
              <a:t>Average Utilization: Average Hardware Utilization Percent across hardware metrics</a:t>
            </a:r>
          </a:p>
          <a:p>
            <a:pPr marL="342900" indent="-342900">
              <a:buFont typeface="Arial" panose="020B0604020202020204" pitchFamily="34" charset="0"/>
              <a:buChar char="•"/>
            </a:pPr>
            <a:r>
              <a:rPr lang="en-CA" sz="2000" dirty="0"/>
              <a:t>Clock Period Utilization: Percent of each clock cycle used</a:t>
            </a:r>
          </a:p>
          <a:p>
            <a:pPr marL="342900" indent="-342900">
              <a:buFont typeface="Arial" panose="020B0604020202020204" pitchFamily="34" charset="0"/>
              <a:buChar char="•"/>
            </a:pPr>
            <a:r>
              <a:rPr lang="en-CA" sz="2000" dirty="0"/>
              <a:t>Cycle Utilization: Percent of cycles in a sampling period used</a:t>
            </a:r>
          </a:p>
          <a:p>
            <a:pPr marL="342900" indent="-342900">
              <a:buFont typeface="Arial" panose="020B0604020202020204" pitchFamily="34" charset="0"/>
              <a:buChar char="•"/>
            </a:pPr>
            <a:r>
              <a:rPr lang="en-CA" sz="2000" dirty="0"/>
              <a:t>Time Utilization: Clock Period Utilization * Cycle Utilization</a:t>
            </a:r>
          </a:p>
        </p:txBody>
      </p:sp>
    </p:spTree>
    <p:extLst>
      <p:ext uri="{BB962C8B-B14F-4D97-AF65-F5344CB8AC3E}">
        <p14:creationId xmlns:p14="http://schemas.microsoft.com/office/powerpoint/2010/main" val="33086272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0">
          <a:extLst>
            <a:ext uri="{FF2B5EF4-FFF2-40B4-BE49-F238E27FC236}">
              <a16:creationId xmlns:a16="http://schemas.microsoft.com/office/drawing/2014/main" id="{765233E4-0DC2-FB3F-288A-CECBDEF0FC9E}"/>
            </a:ext>
          </a:extLst>
        </p:cNvPr>
        <p:cNvGrpSpPr/>
        <p:nvPr/>
      </p:nvGrpSpPr>
      <p:grpSpPr>
        <a:xfrm>
          <a:off x="0" y="0"/>
          <a:ext cx="0" cy="0"/>
          <a:chOff x="0" y="0"/>
          <a:chExt cx="0" cy="0"/>
        </a:xfrm>
      </p:grpSpPr>
      <p:sp>
        <p:nvSpPr>
          <p:cNvPr id="51" name="Google Shape;51;p9">
            <a:extLst>
              <a:ext uri="{FF2B5EF4-FFF2-40B4-BE49-F238E27FC236}">
                <a16:creationId xmlns:a16="http://schemas.microsoft.com/office/drawing/2014/main" id="{C0E7D27A-E5B5-79CB-4069-2DDDCD022D31}"/>
              </a:ext>
            </a:extLst>
          </p:cNvPr>
          <p:cNvSpPr txBox="1">
            <a:spLocks noGrp="1"/>
          </p:cNvSpPr>
          <p:nvPr>
            <p:ph type="ctrTitle"/>
          </p:nvPr>
        </p:nvSpPr>
        <p:spPr>
          <a:xfrm>
            <a:off x="1886850" y="480475"/>
            <a:ext cx="8418300" cy="861600"/>
          </a:xfrm>
          <a:prstGeom prst="rect">
            <a:avLst/>
          </a:prstGeom>
        </p:spPr>
        <p:txBody>
          <a:bodyPr spcFirstLastPara="1" wrap="square" lIns="91425" tIns="45700" rIns="91425" bIns="45700" anchor="b" anchorCtr="0">
            <a:normAutofit fontScale="90000"/>
          </a:bodyPr>
          <a:lstStyle/>
          <a:p>
            <a:pPr lvl="0" algn="ctr"/>
            <a:r>
              <a:rPr lang="en-CA" sz="4000" dirty="0"/>
              <a:t>Hardware Implementation – Design Space</a:t>
            </a:r>
            <a:endParaRPr sz="4000" dirty="0"/>
          </a:p>
        </p:txBody>
      </p:sp>
      <p:sp>
        <p:nvSpPr>
          <p:cNvPr id="53" name="Google Shape;53;p9">
            <a:extLst>
              <a:ext uri="{FF2B5EF4-FFF2-40B4-BE49-F238E27FC236}">
                <a16:creationId xmlns:a16="http://schemas.microsoft.com/office/drawing/2014/main" id="{6DE89CC3-46B6-6BD8-CA73-485B9926F7E8}"/>
              </a:ext>
            </a:extLst>
          </p:cNvPr>
          <p:cNvSpPr txBox="1"/>
          <p:nvPr/>
        </p:nvSpPr>
        <p:spPr>
          <a:xfrm>
            <a:off x="1886850" y="1633268"/>
            <a:ext cx="8418300" cy="4594483"/>
          </a:xfrm>
          <a:prstGeom prst="rect">
            <a:avLst/>
          </a:prstGeom>
          <a:noFill/>
          <a:ln>
            <a:noFill/>
          </a:ln>
        </p:spPr>
        <p:txBody>
          <a:bodyPr spcFirstLastPara="1" wrap="square" lIns="91425" tIns="45700" rIns="91425" bIns="45700" anchor="t" anchorCtr="0">
            <a:noAutofit/>
          </a:bodyPr>
          <a:lstStyle/>
          <a:p>
            <a:r>
              <a:rPr lang="en-CA" sz="2000" dirty="0"/>
              <a:t>Controlled Design Space:</a:t>
            </a:r>
          </a:p>
          <a:p>
            <a:pPr marL="342900" indent="-342900">
              <a:buFont typeface="Arial" panose="020B0604020202020204" pitchFamily="34" charset="0"/>
              <a:buChar char="•"/>
            </a:pPr>
            <a:r>
              <a:rPr lang="en-CA" sz="2000" dirty="0" err="1"/>
              <a:t>clock_period_range</a:t>
            </a:r>
            <a:r>
              <a:rPr lang="en-CA" sz="2000" dirty="0"/>
              <a:t> = 100 MHz</a:t>
            </a:r>
          </a:p>
          <a:p>
            <a:pPr marL="342900" indent="-342900">
              <a:buFont typeface="Arial" panose="020B0604020202020204" pitchFamily="34" charset="0"/>
              <a:buChar char="•"/>
            </a:pPr>
            <a:r>
              <a:rPr lang="en-CA" sz="2000" dirty="0" err="1"/>
              <a:t>int_width_range</a:t>
            </a:r>
            <a:r>
              <a:rPr lang="en-CA" sz="2000" dirty="0"/>
              <a:t> = 10</a:t>
            </a:r>
          </a:p>
          <a:p>
            <a:pPr marL="342900" indent="-342900">
              <a:buFont typeface="Arial" panose="020B0604020202020204" pitchFamily="34" charset="0"/>
              <a:buChar char="•"/>
            </a:pPr>
            <a:r>
              <a:rPr lang="en-CA" sz="2000" dirty="0"/>
              <a:t>d = 64</a:t>
            </a:r>
          </a:p>
          <a:p>
            <a:pPr marL="342900" indent="-342900">
              <a:buFont typeface="Arial" panose="020B0604020202020204" pitchFamily="34" charset="0"/>
              <a:buChar char="•"/>
            </a:pPr>
            <a:r>
              <a:rPr lang="en-CA" sz="2000" dirty="0"/>
              <a:t>h = 16</a:t>
            </a:r>
          </a:p>
          <a:p>
            <a:endParaRPr lang="en-CA" sz="2000" dirty="0"/>
          </a:p>
          <a:p>
            <a:r>
              <a:rPr lang="en-CA" sz="2000" dirty="0"/>
              <a:t>Independent Design Space:</a:t>
            </a:r>
          </a:p>
          <a:p>
            <a:pPr marL="342900" indent="-342900">
              <a:buFont typeface="Arial" panose="020B0604020202020204" pitchFamily="34" charset="0"/>
              <a:buChar char="•"/>
            </a:pPr>
            <a:r>
              <a:rPr lang="en-CA" sz="2000" dirty="0" err="1"/>
              <a:t>num_parallel_range</a:t>
            </a:r>
            <a:r>
              <a:rPr lang="en-CA" sz="2000" dirty="0"/>
              <a:t> = {1, 2, 4, 8, 16}: How much parallelization is used within the GRU</a:t>
            </a:r>
          </a:p>
          <a:p>
            <a:pPr marL="342900" indent="-342900">
              <a:buFont typeface="Arial" panose="020B0604020202020204" pitchFamily="34" charset="0"/>
              <a:buChar char="•"/>
            </a:pPr>
            <a:r>
              <a:rPr lang="en-CA" sz="2000" dirty="0" err="1"/>
              <a:t>frac_width_range</a:t>
            </a:r>
            <a:r>
              <a:rPr lang="en-CA" sz="2000" dirty="0"/>
              <a:t> = 1-16, 1 step: How many fractional bits are used</a:t>
            </a:r>
          </a:p>
        </p:txBody>
      </p:sp>
    </p:spTree>
    <p:extLst>
      <p:ext uri="{BB962C8B-B14F-4D97-AF65-F5344CB8AC3E}">
        <p14:creationId xmlns:p14="http://schemas.microsoft.com/office/powerpoint/2010/main" val="25979665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0">
          <a:extLst>
            <a:ext uri="{FF2B5EF4-FFF2-40B4-BE49-F238E27FC236}">
              <a16:creationId xmlns:a16="http://schemas.microsoft.com/office/drawing/2014/main" id="{F739F6C5-5E09-BD7F-20DB-7375166486B8}"/>
            </a:ext>
          </a:extLst>
        </p:cNvPr>
        <p:cNvGrpSpPr/>
        <p:nvPr/>
      </p:nvGrpSpPr>
      <p:grpSpPr>
        <a:xfrm>
          <a:off x="0" y="0"/>
          <a:ext cx="0" cy="0"/>
          <a:chOff x="0" y="0"/>
          <a:chExt cx="0" cy="0"/>
        </a:xfrm>
      </p:grpSpPr>
      <p:sp>
        <p:nvSpPr>
          <p:cNvPr id="51" name="Google Shape;51;p9">
            <a:extLst>
              <a:ext uri="{FF2B5EF4-FFF2-40B4-BE49-F238E27FC236}">
                <a16:creationId xmlns:a16="http://schemas.microsoft.com/office/drawing/2014/main" id="{27EE19F2-0BCC-54D1-C763-93850056C19C}"/>
              </a:ext>
            </a:extLst>
          </p:cNvPr>
          <p:cNvSpPr txBox="1">
            <a:spLocks noGrp="1"/>
          </p:cNvSpPr>
          <p:nvPr>
            <p:ph type="ctrTitle"/>
          </p:nvPr>
        </p:nvSpPr>
        <p:spPr>
          <a:xfrm>
            <a:off x="1886850" y="480475"/>
            <a:ext cx="8418300" cy="1647374"/>
          </a:xfrm>
          <a:prstGeom prst="rect">
            <a:avLst/>
          </a:prstGeom>
        </p:spPr>
        <p:txBody>
          <a:bodyPr spcFirstLastPara="1" wrap="square" lIns="91425" tIns="45700" rIns="91425" bIns="45700" anchor="b" anchorCtr="0">
            <a:normAutofit/>
          </a:bodyPr>
          <a:lstStyle/>
          <a:p>
            <a:pPr lvl="0" algn="ctr"/>
            <a:r>
              <a:rPr lang="en-CA" sz="4000" dirty="0"/>
              <a:t>Hardware Implementation – Analysis and Discussion</a:t>
            </a:r>
            <a:endParaRPr sz="4000" dirty="0"/>
          </a:p>
        </p:txBody>
      </p:sp>
      <p:pic>
        <p:nvPicPr>
          <p:cNvPr id="3" name="Picture 2">
            <a:extLst>
              <a:ext uri="{FF2B5EF4-FFF2-40B4-BE49-F238E27FC236}">
                <a16:creationId xmlns:a16="http://schemas.microsoft.com/office/drawing/2014/main" id="{17B180F2-1AFD-D4F3-2E87-9C96E755AD9A}"/>
              </a:ext>
            </a:extLst>
          </p:cNvPr>
          <p:cNvPicPr>
            <a:picLocks noChangeAspect="1"/>
          </p:cNvPicPr>
          <p:nvPr/>
        </p:nvPicPr>
        <p:blipFill>
          <a:blip r:embed="rId3"/>
          <a:stretch>
            <a:fillRect/>
          </a:stretch>
        </p:blipFill>
        <p:spPr>
          <a:xfrm>
            <a:off x="129821" y="2505208"/>
            <a:ext cx="11932358" cy="2641886"/>
          </a:xfrm>
          <a:prstGeom prst="rect">
            <a:avLst/>
          </a:prstGeom>
        </p:spPr>
      </p:pic>
    </p:spTree>
    <p:extLst>
      <p:ext uri="{BB962C8B-B14F-4D97-AF65-F5344CB8AC3E}">
        <p14:creationId xmlns:p14="http://schemas.microsoft.com/office/powerpoint/2010/main" val="36715242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0">
          <a:extLst>
            <a:ext uri="{FF2B5EF4-FFF2-40B4-BE49-F238E27FC236}">
              <a16:creationId xmlns:a16="http://schemas.microsoft.com/office/drawing/2014/main" id="{8EBE109E-052F-D88F-CEDA-7DB40737E0AC}"/>
            </a:ext>
          </a:extLst>
        </p:cNvPr>
        <p:cNvGrpSpPr/>
        <p:nvPr/>
      </p:nvGrpSpPr>
      <p:grpSpPr>
        <a:xfrm>
          <a:off x="0" y="0"/>
          <a:ext cx="0" cy="0"/>
          <a:chOff x="0" y="0"/>
          <a:chExt cx="0" cy="0"/>
        </a:xfrm>
      </p:grpSpPr>
      <p:sp>
        <p:nvSpPr>
          <p:cNvPr id="51" name="Google Shape;51;p9">
            <a:extLst>
              <a:ext uri="{FF2B5EF4-FFF2-40B4-BE49-F238E27FC236}">
                <a16:creationId xmlns:a16="http://schemas.microsoft.com/office/drawing/2014/main" id="{F39862BC-B5B4-DAE8-E79B-2D010C7A8EE7}"/>
              </a:ext>
            </a:extLst>
          </p:cNvPr>
          <p:cNvSpPr txBox="1">
            <a:spLocks noGrp="1"/>
          </p:cNvSpPr>
          <p:nvPr>
            <p:ph type="ctrTitle"/>
          </p:nvPr>
        </p:nvSpPr>
        <p:spPr>
          <a:xfrm>
            <a:off x="1886850" y="480475"/>
            <a:ext cx="8418300" cy="1612868"/>
          </a:xfrm>
          <a:prstGeom prst="rect">
            <a:avLst/>
          </a:prstGeom>
        </p:spPr>
        <p:txBody>
          <a:bodyPr spcFirstLastPara="1" wrap="square" lIns="91425" tIns="45700" rIns="91425" bIns="45700" anchor="b" anchorCtr="0">
            <a:normAutofit/>
          </a:bodyPr>
          <a:lstStyle/>
          <a:p>
            <a:pPr lvl="0" algn="ctr"/>
            <a:r>
              <a:rPr lang="en-CA" sz="4000" dirty="0"/>
              <a:t>Hardware Implementation – Analysis and Discussion</a:t>
            </a:r>
            <a:endParaRPr sz="4000" dirty="0"/>
          </a:p>
        </p:txBody>
      </p:sp>
      <p:pic>
        <p:nvPicPr>
          <p:cNvPr id="2" name="Picture 1">
            <a:extLst>
              <a:ext uri="{FF2B5EF4-FFF2-40B4-BE49-F238E27FC236}">
                <a16:creationId xmlns:a16="http://schemas.microsoft.com/office/drawing/2014/main" id="{60264B3B-5E21-0E1B-6DD7-D4CBF6A854B5}"/>
              </a:ext>
            </a:extLst>
          </p:cNvPr>
          <p:cNvPicPr>
            <a:picLocks noChangeAspect="1"/>
          </p:cNvPicPr>
          <p:nvPr/>
        </p:nvPicPr>
        <p:blipFill>
          <a:blip r:embed="rId3"/>
          <a:stretch>
            <a:fillRect/>
          </a:stretch>
        </p:blipFill>
        <p:spPr>
          <a:xfrm>
            <a:off x="339580" y="2196728"/>
            <a:ext cx="11512839" cy="4474096"/>
          </a:xfrm>
          <a:prstGeom prst="rect">
            <a:avLst/>
          </a:prstGeom>
        </p:spPr>
      </p:pic>
    </p:spTree>
    <p:extLst>
      <p:ext uri="{BB962C8B-B14F-4D97-AF65-F5344CB8AC3E}">
        <p14:creationId xmlns:p14="http://schemas.microsoft.com/office/powerpoint/2010/main" val="2649977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0">
          <a:extLst>
            <a:ext uri="{FF2B5EF4-FFF2-40B4-BE49-F238E27FC236}">
              <a16:creationId xmlns:a16="http://schemas.microsoft.com/office/drawing/2014/main" id="{9CD0D959-FB29-E654-281E-344EB73BA1D6}"/>
            </a:ext>
          </a:extLst>
        </p:cNvPr>
        <p:cNvGrpSpPr/>
        <p:nvPr/>
      </p:nvGrpSpPr>
      <p:grpSpPr>
        <a:xfrm>
          <a:off x="0" y="0"/>
          <a:ext cx="0" cy="0"/>
          <a:chOff x="0" y="0"/>
          <a:chExt cx="0" cy="0"/>
        </a:xfrm>
      </p:grpSpPr>
      <p:sp>
        <p:nvSpPr>
          <p:cNvPr id="51" name="Google Shape;51;p9">
            <a:extLst>
              <a:ext uri="{FF2B5EF4-FFF2-40B4-BE49-F238E27FC236}">
                <a16:creationId xmlns:a16="http://schemas.microsoft.com/office/drawing/2014/main" id="{839C4424-87CC-D34B-40F9-5C2852BE8816}"/>
              </a:ext>
            </a:extLst>
          </p:cNvPr>
          <p:cNvSpPr txBox="1">
            <a:spLocks noGrp="1"/>
          </p:cNvSpPr>
          <p:nvPr>
            <p:ph type="ctrTitle"/>
          </p:nvPr>
        </p:nvSpPr>
        <p:spPr>
          <a:xfrm>
            <a:off x="1886850" y="480475"/>
            <a:ext cx="8418300" cy="861600"/>
          </a:xfrm>
          <a:prstGeom prst="rect">
            <a:avLst/>
          </a:prstGeom>
        </p:spPr>
        <p:txBody>
          <a:bodyPr spcFirstLastPara="1" wrap="square" lIns="91425" tIns="45700" rIns="91425" bIns="45700" anchor="b" anchorCtr="0">
            <a:normAutofit/>
          </a:bodyPr>
          <a:lstStyle/>
          <a:p>
            <a:pPr marL="0" lvl="0" indent="0" algn="ctr" rtl="0">
              <a:spcBef>
                <a:spcPts val="0"/>
              </a:spcBef>
              <a:spcAft>
                <a:spcPts val="0"/>
              </a:spcAft>
              <a:buNone/>
            </a:pPr>
            <a:r>
              <a:rPr lang="en-US" sz="4000" dirty="0"/>
              <a:t>Title</a:t>
            </a:r>
            <a:endParaRPr sz="4000" dirty="0"/>
          </a:p>
        </p:txBody>
      </p:sp>
      <p:sp>
        <p:nvSpPr>
          <p:cNvPr id="53" name="Google Shape;53;p9">
            <a:extLst>
              <a:ext uri="{FF2B5EF4-FFF2-40B4-BE49-F238E27FC236}">
                <a16:creationId xmlns:a16="http://schemas.microsoft.com/office/drawing/2014/main" id="{E62D060B-0109-DE9A-F4EC-98D05D056EFA}"/>
              </a:ext>
            </a:extLst>
          </p:cNvPr>
          <p:cNvSpPr txBox="1"/>
          <p:nvPr/>
        </p:nvSpPr>
        <p:spPr>
          <a:xfrm>
            <a:off x="1886850" y="1529254"/>
            <a:ext cx="8418300" cy="4698497"/>
          </a:xfrm>
          <a:prstGeom prst="rect">
            <a:avLst/>
          </a:prstGeom>
          <a:noFill/>
          <a:ln>
            <a:noFill/>
          </a:ln>
        </p:spPr>
        <p:txBody>
          <a:bodyPr spcFirstLastPara="1" wrap="square" lIns="91425" tIns="45700" rIns="91425" bIns="45700" anchor="t" anchorCtr="0">
            <a:noAutofit/>
          </a:bodyPr>
          <a:lstStyle/>
          <a:p>
            <a:pPr lvl="0" algn="l" rtl="0">
              <a:lnSpc>
                <a:spcPct val="90000"/>
              </a:lnSpc>
              <a:spcBef>
                <a:spcPts val="1000"/>
              </a:spcBef>
              <a:spcAft>
                <a:spcPts val="0"/>
              </a:spcAft>
            </a:pPr>
            <a:r>
              <a:rPr lang="en-US" sz="2000" dirty="0">
                <a:latin typeface="Calibri"/>
                <a:ea typeface="Calibri"/>
                <a:cs typeface="Calibri"/>
                <a:sym typeface="Calibri"/>
              </a:rPr>
              <a:t>Stuff</a:t>
            </a:r>
            <a:endParaRPr sz="2000" dirty="0">
              <a:latin typeface="Calibri"/>
              <a:ea typeface="Calibri"/>
              <a:cs typeface="Calibri"/>
              <a:sym typeface="Calibri"/>
            </a:endParaRPr>
          </a:p>
        </p:txBody>
      </p:sp>
      <p:pic>
        <p:nvPicPr>
          <p:cNvPr id="2" name="Picture 1">
            <a:extLst>
              <a:ext uri="{FF2B5EF4-FFF2-40B4-BE49-F238E27FC236}">
                <a16:creationId xmlns:a16="http://schemas.microsoft.com/office/drawing/2014/main" id="{3980F712-523D-135B-7C75-6E080F7CACE4}"/>
              </a:ext>
            </a:extLst>
          </p:cNvPr>
          <p:cNvPicPr>
            <a:picLocks noChangeAspect="1"/>
          </p:cNvPicPr>
          <p:nvPr/>
        </p:nvPicPr>
        <p:blipFill>
          <a:blip r:embed="rId3"/>
          <a:stretch>
            <a:fillRect/>
          </a:stretch>
        </p:blipFill>
        <p:spPr>
          <a:xfrm>
            <a:off x="1159079" y="3425703"/>
            <a:ext cx="9873842" cy="3432297"/>
          </a:xfrm>
          <a:prstGeom prst="rect">
            <a:avLst/>
          </a:prstGeom>
        </p:spPr>
      </p:pic>
      <p:pic>
        <p:nvPicPr>
          <p:cNvPr id="3" name="Picture 2">
            <a:extLst>
              <a:ext uri="{FF2B5EF4-FFF2-40B4-BE49-F238E27FC236}">
                <a16:creationId xmlns:a16="http://schemas.microsoft.com/office/drawing/2014/main" id="{50D851D5-9DB5-885C-497C-BD20950B2C25}"/>
              </a:ext>
            </a:extLst>
          </p:cNvPr>
          <p:cNvPicPr>
            <a:picLocks noChangeAspect="1"/>
          </p:cNvPicPr>
          <p:nvPr/>
        </p:nvPicPr>
        <p:blipFill>
          <a:blip r:embed="rId4"/>
          <a:stretch>
            <a:fillRect/>
          </a:stretch>
        </p:blipFill>
        <p:spPr>
          <a:xfrm>
            <a:off x="1078449" y="0"/>
            <a:ext cx="10035101" cy="3415002"/>
          </a:xfrm>
          <a:prstGeom prst="rect">
            <a:avLst/>
          </a:prstGeom>
        </p:spPr>
      </p:pic>
    </p:spTree>
    <p:extLst>
      <p:ext uri="{BB962C8B-B14F-4D97-AF65-F5344CB8AC3E}">
        <p14:creationId xmlns:p14="http://schemas.microsoft.com/office/powerpoint/2010/main" val="2841356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0">
          <a:extLst>
            <a:ext uri="{FF2B5EF4-FFF2-40B4-BE49-F238E27FC236}">
              <a16:creationId xmlns:a16="http://schemas.microsoft.com/office/drawing/2014/main" id="{E4E972B4-4C12-4AC7-8A53-1BE59B22497B}"/>
            </a:ext>
          </a:extLst>
        </p:cNvPr>
        <p:cNvGrpSpPr/>
        <p:nvPr/>
      </p:nvGrpSpPr>
      <p:grpSpPr>
        <a:xfrm>
          <a:off x="0" y="0"/>
          <a:ext cx="0" cy="0"/>
          <a:chOff x="0" y="0"/>
          <a:chExt cx="0" cy="0"/>
        </a:xfrm>
      </p:grpSpPr>
      <p:sp>
        <p:nvSpPr>
          <p:cNvPr id="51" name="Google Shape;51;p9">
            <a:extLst>
              <a:ext uri="{FF2B5EF4-FFF2-40B4-BE49-F238E27FC236}">
                <a16:creationId xmlns:a16="http://schemas.microsoft.com/office/drawing/2014/main" id="{FB1AF2BF-388B-7F67-9E78-0E96FAAECA79}"/>
              </a:ext>
            </a:extLst>
          </p:cNvPr>
          <p:cNvSpPr txBox="1">
            <a:spLocks noGrp="1"/>
          </p:cNvSpPr>
          <p:nvPr>
            <p:ph type="ctrTitle"/>
          </p:nvPr>
        </p:nvSpPr>
        <p:spPr>
          <a:xfrm>
            <a:off x="1886850" y="480475"/>
            <a:ext cx="8418300" cy="861600"/>
          </a:xfrm>
          <a:prstGeom prst="rect">
            <a:avLst/>
          </a:prstGeom>
        </p:spPr>
        <p:txBody>
          <a:bodyPr spcFirstLastPara="1" wrap="square" lIns="91425" tIns="45700" rIns="91425" bIns="45700" anchor="b" anchorCtr="0">
            <a:normAutofit/>
          </a:bodyPr>
          <a:lstStyle/>
          <a:p>
            <a:pPr lvl="0" algn="ctr"/>
            <a:r>
              <a:rPr lang="en-CA" sz="4000" dirty="0"/>
              <a:t>System Integration - Methodology</a:t>
            </a:r>
            <a:endParaRPr sz="4000" dirty="0"/>
          </a:p>
        </p:txBody>
      </p:sp>
      <p:sp>
        <p:nvSpPr>
          <p:cNvPr id="53" name="Google Shape;53;p9">
            <a:extLst>
              <a:ext uri="{FF2B5EF4-FFF2-40B4-BE49-F238E27FC236}">
                <a16:creationId xmlns:a16="http://schemas.microsoft.com/office/drawing/2014/main" id="{B5712503-7A6D-E07C-233F-C70CDDF6D95B}"/>
              </a:ext>
            </a:extLst>
          </p:cNvPr>
          <p:cNvSpPr txBox="1"/>
          <p:nvPr/>
        </p:nvSpPr>
        <p:spPr>
          <a:xfrm>
            <a:off x="1886850" y="2093343"/>
            <a:ext cx="8418300" cy="4134408"/>
          </a:xfrm>
          <a:prstGeom prst="rect">
            <a:avLst/>
          </a:prstGeom>
          <a:noFill/>
          <a:ln>
            <a:noFill/>
          </a:ln>
        </p:spPr>
        <p:txBody>
          <a:bodyPr spcFirstLastPara="1" wrap="square" lIns="91425" tIns="45700" rIns="91425" bIns="45700" anchor="t" anchorCtr="0">
            <a:noAutofit/>
          </a:bodyPr>
          <a:lstStyle/>
          <a:p>
            <a:pPr marL="285750" indent="-285750">
              <a:buFont typeface="Arial" panose="020B0604020202020204" pitchFamily="34" charset="0"/>
              <a:buChar char="•"/>
            </a:pPr>
            <a:r>
              <a:rPr lang="en-CA" dirty="0"/>
              <a:t>Was originally going to physically implement an MCU and a GRU and compare the two</a:t>
            </a:r>
          </a:p>
          <a:p>
            <a:pPr marL="285750" indent="-285750">
              <a:buFont typeface="Arial" panose="020B0604020202020204" pitchFamily="34" charset="0"/>
              <a:buChar char="•"/>
            </a:pPr>
            <a:r>
              <a:rPr lang="en-CA" dirty="0"/>
              <a:t>Unable to implement as I didn’t have enough time to figure out a communication protocol that could do 64x 16-bit numbers at 40KHz (Utah Array Frequency)</a:t>
            </a:r>
          </a:p>
          <a:p>
            <a:pPr marL="285750" indent="-285750">
              <a:buFont typeface="Arial" panose="020B0604020202020204" pitchFamily="34" charset="0"/>
              <a:buChar char="•"/>
            </a:pPr>
            <a:r>
              <a:rPr lang="en-CA" dirty="0"/>
              <a:t>Instead compared a GRU implementation against a similar architecture MCU implementation</a:t>
            </a:r>
          </a:p>
          <a:p>
            <a:pPr marL="742950" lvl="1" indent="-285750">
              <a:buFont typeface="Arial" panose="020B0604020202020204" pitchFamily="34" charset="0"/>
              <a:buChar char="•"/>
            </a:pPr>
            <a:r>
              <a:rPr lang="en-CA" dirty="0"/>
              <a:t>Maximum Step Frequency (Hz) = Operating Frequency / Instructions</a:t>
            </a:r>
          </a:p>
          <a:p>
            <a:pPr marL="742950" lvl="1" indent="-285750">
              <a:buFont typeface="Arial" panose="020B0604020202020204" pitchFamily="34" charset="0"/>
              <a:buChar char="•"/>
            </a:pPr>
            <a:r>
              <a:rPr lang="en-CA" dirty="0"/>
              <a:t>Energy per Step (J) = (Instructions / Operating Frequency) * Operating Wattage</a:t>
            </a:r>
          </a:p>
        </p:txBody>
      </p:sp>
    </p:spTree>
    <p:extLst>
      <p:ext uri="{BB962C8B-B14F-4D97-AF65-F5344CB8AC3E}">
        <p14:creationId xmlns:p14="http://schemas.microsoft.com/office/powerpoint/2010/main" val="8789195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0">
          <a:extLst>
            <a:ext uri="{FF2B5EF4-FFF2-40B4-BE49-F238E27FC236}">
              <a16:creationId xmlns:a16="http://schemas.microsoft.com/office/drawing/2014/main" id="{5992C945-CA89-37A0-E558-93C63DEFFFF7}"/>
            </a:ext>
          </a:extLst>
        </p:cNvPr>
        <p:cNvGrpSpPr/>
        <p:nvPr/>
      </p:nvGrpSpPr>
      <p:grpSpPr>
        <a:xfrm>
          <a:off x="0" y="0"/>
          <a:ext cx="0" cy="0"/>
          <a:chOff x="0" y="0"/>
          <a:chExt cx="0" cy="0"/>
        </a:xfrm>
      </p:grpSpPr>
      <p:sp>
        <p:nvSpPr>
          <p:cNvPr id="51" name="Google Shape;51;p9">
            <a:extLst>
              <a:ext uri="{FF2B5EF4-FFF2-40B4-BE49-F238E27FC236}">
                <a16:creationId xmlns:a16="http://schemas.microsoft.com/office/drawing/2014/main" id="{D254A043-E48C-F256-23B3-585177605ED4}"/>
              </a:ext>
            </a:extLst>
          </p:cNvPr>
          <p:cNvSpPr txBox="1">
            <a:spLocks noGrp="1"/>
          </p:cNvSpPr>
          <p:nvPr>
            <p:ph type="ctrTitle"/>
          </p:nvPr>
        </p:nvSpPr>
        <p:spPr>
          <a:xfrm>
            <a:off x="1886850" y="480475"/>
            <a:ext cx="8418300" cy="861600"/>
          </a:xfrm>
          <a:prstGeom prst="rect">
            <a:avLst/>
          </a:prstGeom>
        </p:spPr>
        <p:txBody>
          <a:bodyPr spcFirstLastPara="1" wrap="square" lIns="91425" tIns="45700" rIns="91425" bIns="45700" anchor="b" anchorCtr="0">
            <a:normAutofit fontScale="90000"/>
          </a:bodyPr>
          <a:lstStyle/>
          <a:p>
            <a:pPr lvl="0" algn="ctr"/>
            <a:r>
              <a:rPr lang="en-CA" sz="4000" dirty="0"/>
              <a:t>System Integration – Analysis and Discussion</a:t>
            </a:r>
            <a:endParaRPr sz="4000" dirty="0"/>
          </a:p>
        </p:txBody>
      </p:sp>
      <p:sp>
        <p:nvSpPr>
          <p:cNvPr id="53" name="Google Shape;53;p9">
            <a:extLst>
              <a:ext uri="{FF2B5EF4-FFF2-40B4-BE49-F238E27FC236}">
                <a16:creationId xmlns:a16="http://schemas.microsoft.com/office/drawing/2014/main" id="{32E800CC-F35B-29D0-078C-058BEFCE2765}"/>
              </a:ext>
            </a:extLst>
          </p:cNvPr>
          <p:cNvSpPr txBox="1"/>
          <p:nvPr/>
        </p:nvSpPr>
        <p:spPr>
          <a:xfrm>
            <a:off x="454864" y="1540756"/>
            <a:ext cx="3553543" cy="4698497"/>
          </a:xfrm>
          <a:prstGeom prst="rect">
            <a:avLst/>
          </a:prstGeom>
          <a:noFill/>
          <a:ln>
            <a:noFill/>
          </a:ln>
        </p:spPr>
        <p:txBody>
          <a:bodyPr spcFirstLastPara="1" wrap="square" lIns="91425" tIns="45700" rIns="91425" bIns="45700" anchor="t" anchorCtr="0">
            <a:noAutofit/>
          </a:bodyPr>
          <a:lstStyle/>
          <a:p>
            <a:pPr marL="342900" indent="-342900">
              <a:buFont typeface="Arial" panose="020B0604020202020204" pitchFamily="34" charset="0"/>
              <a:buChar char="•"/>
            </a:pPr>
            <a:r>
              <a:rPr lang="en-CA" sz="2000" dirty="0"/>
              <a:t>Compared my implementation to MCUs used in current edge BCI deployments</a:t>
            </a:r>
          </a:p>
          <a:p>
            <a:pPr marL="342900" indent="-342900">
              <a:buFont typeface="Arial" panose="020B0604020202020204" pitchFamily="34" charset="0"/>
              <a:buChar char="•"/>
            </a:pPr>
            <a:r>
              <a:rPr lang="en-CA" sz="2000" dirty="0"/>
              <a:t>X Axis: Maximum frequency GRU steps can run, bigger is better</a:t>
            </a:r>
          </a:p>
          <a:p>
            <a:pPr marL="342900" indent="-342900">
              <a:buFont typeface="Arial" panose="020B0604020202020204" pitchFamily="34" charset="0"/>
              <a:buChar char="•"/>
            </a:pPr>
            <a:r>
              <a:rPr lang="en-CA" sz="2000" dirty="0"/>
              <a:t>Y Axis: Energy used per GRU step, smaller is better</a:t>
            </a:r>
          </a:p>
        </p:txBody>
      </p:sp>
      <p:pic>
        <p:nvPicPr>
          <p:cNvPr id="2" name="Picture 1">
            <a:extLst>
              <a:ext uri="{FF2B5EF4-FFF2-40B4-BE49-F238E27FC236}">
                <a16:creationId xmlns:a16="http://schemas.microsoft.com/office/drawing/2014/main" id="{86ED45CB-FDD8-5061-B490-FA141A2C1325}"/>
              </a:ext>
            </a:extLst>
          </p:cNvPr>
          <p:cNvPicPr>
            <a:picLocks noChangeAspect="1"/>
          </p:cNvPicPr>
          <p:nvPr/>
        </p:nvPicPr>
        <p:blipFill>
          <a:blip r:embed="rId3"/>
          <a:stretch>
            <a:fillRect/>
          </a:stretch>
        </p:blipFill>
        <p:spPr>
          <a:xfrm>
            <a:off x="4250152" y="1294930"/>
            <a:ext cx="7941848" cy="5563070"/>
          </a:xfrm>
          <a:prstGeom prst="rect">
            <a:avLst/>
          </a:prstGeom>
        </p:spPr>
      </p:pic>
    </p:spTree>
    <p:extLst>
      <p:ext uri="{BB962C8B-B14F-4D97-AF65-F5344CB8AC3E}">
        <p14:creationId xmlns:p14="http://schemas.microsoft.com/office/powerpoint/2010/main" val="32060308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0">
          <a:extLst>
            <a:ext uri="{FF2B5EF4-FFF2-40B4-BE49-F238E27FC236}">
              <a16:creationId xmlns:a16="http://schemas.microsoft.com/office/drawing/2014/main" id="{3251ECCE-F36D-2F59-EBBF-E494B3107754}"/>
            </a:ext>
          </a:extLst>
        </p:cNvPr>
        <p:cNvGrpSpPr/>
        <p:nvPr/>
      </p:nvGrpSpPr>
      <p:grpSpPr>
        <a:xfrm>
          <a:off x="0" y="0"/>
          <a:ext cx="0" cy="0"/>
          <a:chOff x="0" y="0"/>
          <a:chExt cx="0" cy="0"/>
        </a:xfrm>
      </p:grpSpPr>
      <p:sp>
        <p:nvSpPr>
          <p:cNvPr id="51" name="Google Shape;51;p9">
            <a:extLst>
              <a:ext uri="{FF2B5EF4-FFF2-40B4-BE49-F238E27FC236}">
                <a16:creationId xmlns:a16="http://schemas.microsoft.com/office/drawing/2014/main" id="{CFAE388F-B942-15AB-0AB9-830AF3941B4C}"/>
              </a:ext>
            </a:extLst>
          </p:cNvPr>
          <p:cNvSpPr txBox="1">
            <a:spLocks noGrp="1"/>
          </p:cNvSpPr>
          <p:nvPr>
            <p:ph type="ctrTitle"/>
          </p:nvPr>
        </p:nvSpPr>
        <p:spPr>
          <a:xfrm>
            <a:off x="1886850" y="480475"/>
            <a:ext cx="8418300" cy="861600"/>
          </a:xfrm>
          <a:prstGeom prst="rect">
            <a:avLst/>
          </a:prstGeom>
        </p:spPr>
        <p:txBody>
          <a:bodyPr spcFirstLastPara="1" wrap="square" lIns="91425" tIns="45700" rIns="91425" bIns="45700" anchor="b" anchorCtr="0">
            <a:normAutofit/>
          </a:bodyPr>
          <a:lstStyle/>
          <a:p>
            <a:pPr lvl="0" algn="ctr"/>
            <a:r>
              <a:rPr lang="en-CA" sz="4000" dirty="0"/>
              <a:t>Answer to RQ1</a:t>
            </a:r>
            <a:endParaRPr sz="4000" dirty="0"/>
          </a:p>
        </p:txBody>
      </p:sp>
      <p:sp>
        <p:nvSpPr>
          <p:cNvPr id="53" name="Google Shape;53;p9">
            <a:extLst>
              <a:ext uri="{FF2B5EF4-FFF2-40B4-BE49-F238E27FC236}">
                <a16:creationId xmlns:a16="http://schemas.microsoft.com/office/drawing/2014/main" id="{30339B22-A880-E1E8-C545-AF77BB64C655}"/>
              </a:ext>
            </a:extLst>
          </p:cNvPr>
          <p:cNvSpPr txBox="1"/>
          <p:nvPr/>
        </p:nvSpPr>
        <p:spPr>
          <a:xfrm>
            <a:off x="1886850" y="1529254"/>
            <a:ext cx="8418300" cy="4698497"/>
          </a:xfrm>
          <a:prstGeom prst="rect">
            <a:avLst/>
          </a:prstGeom>
          <a:noFill/>
          <a:ln>
            <a:noFill/>
          </a:ln>
        </p:spPr>
        <p:txBody>
          <a:bodyPr spcFirstLastPara="1" wrap="square" lIns="91425" tIns="45700" rIns="91425" bIns="45700" anchor="t" anchorCtr="0">
            <a:noAutofit/>
          </a:bodyPr>
          <a:lstStyle/>
          <a:p>
            <a:r>
              <a:rPr lang="en-CA" dirty="0"/>
              <a:t>How do FPGA-based feature classification models deployed on the edge compare to MCU-based models? </a:t>
            </a:r>
          </a:p>
          <a:p>
            <a:endParaRPr lang="en-CA" dirty="0"/>
          </a:p>
          <a:p>
            <a:pPr marL="285750" indent="-285750">
              <a:buFont typeface="Arial" panose="020B0604020202020204" pitchFamily="34" charset="0"/>
              <a:buChar char="•"/>
            </a:pPr>
            <a:r>
              <a:rPr lang="en-CA" dirty="0"/>
              <a:t>Generally more power efficient</a:t>
            </a:r>
          </a:p>
          <a:p>
            <a:pPr marL="742950" lvl="1" indent="-285750">
              <a:buFont typeface="Arial" panose="020B0604020202020204" pitchFamily="34" charset="0"/>
              <a:buChar char="•"/>
            </a:pPr>
            <a:r>
              <a:rPr lang="en-CA" dirty="0"/>
              <a:t>Allows easier edge deployment</a:t>
            </a:r>
          </a:p>
          <a:p>
            <a:pPr marL="742950" lvl="1" indent="-285750">
              <a:buFont typeface="Arial" panose="020B0604020202020204" pitchFamily="34" charset="0"/>
              <a:buChar char="•"/>
            </a:pPr>
            <a:r>
              <a:rPr lang="en-CA" dirty="0"/>
              <a:t>Longer lasting between charges</a:t>
            </a:r>
          </a:p>
          <a:p>
            <a:pPr marL="742950" lvl="1" indent="-285750">
              <a:buFont typeface="Arial" panose="020B0604020202020204" pitchFamily="34" charset="0"/>
              <a:buChar char="•"/>
            </a:pPr>
            <a:r>
              <a:rPr lang="en-CA" dirty="0"/>
              <a:t>Will probably generate less heat output than MCU’s due to less power used</a:t>
            </a:r>
          </a:p>
          <a:p>
            <a:pPr marL="285750" indent="-285750">
              <a:buFont typeface="Arial" panose="020B0604020202020204" pitchFamily="34" charset="0"/>
              <a:buChar char="•"/>
            </a:pPr>
            <a:r>
              <a:rPr lang="en-CA" dirty="0"/>
              <a:t>Always able to operate at a higher frequency</a:t>
            </a:r>
          </a:p>
          <a:p>
            <a:pPr marL="742950" lvl="1" indent="-285750">
              <a:buFont typeface="Arial" panose="020B0604020202020204" pitchFamily="34" charset="0"/>
              <a:buChar char="•"/>
            </a:pPr>
            <a:r>
              <a:rPr lang="en-CA" dirty="0"/>
              <a:t>Important for being able to run at the edge during deployment</a:t>
            </a:r>
          </a:p>
          <a:p>
            <a:pPr marL="742950" lvl="1" indent="-285750">
              <a:buFont typeface="Arial" panose="020B0604020202020204" pitchFamily="34" charset="0"/>
              <a:buChar char="•"/>
            </a:pPr>
            <a:r>
              <a:rPr lang="en-CA" dirty="0"/>
              <a:t>Probably holds true when scaling from motor imagery inputs (64 channels) to full Utah Array inputs (1024 channels)</a:t>
            </a:r>
          </a:p>
          <a:p>
            <a:pPr marL="285750" indent="-285750">
              <a:buFont typeface="Arial" panose="020B0604020202020204" pitchFamily="34" charset="0"/>
              <a:buChar char="•"/>
            </a:pPr>
            <a:r>
              <a:rPr lang="en-CA" dirty="0"/>
              <a:t>Much harder to program FPGA compared to MCU</a:t>
            </a:r>
          </a:p>
        </p:txBody>
      </p:sp>
    </p:spTree>
    <p:extLst>
      <p:ext uri="{BB962C8B-B14F-4D97-AF65-F5344CB8AC3E}">
        <p14:creationId xmlns:p14="http://schemas.microsoft.com/office/powerpoint/2010/main" val="6639917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0">
          <a:extLst>
            <a:ext uri="{FF2B5EF4-FFF2-40B4-BE49-F238E27FC236}">
              <a16:creationId xmlns:a16="http://schemas.microsoft.com/office/drawing/2014/main" id="{623DF431-ECA6-0688-D3C9-2D32ADAC2562}"/>
            </a:ext>
          </a:extLst>
        </p:cNvPr>
        <p:cNvGrpSpPr/>
        <p:nvPr/>
      </p:nvGrpSpPr>
      <p:grpSpPr>
        <a:xfrm>
          <a:off x="0" y="0"/>
          <a:ext cx="0" cy="0"/>
          <a:chOff x="0" y="0"/>
          <a:chExt cx="0" cy="0"/>
        </a:xfrm>
      </p:grpSpPr>
      <p:sp>
        <p:nvSpPr>
          <p:cNvPr id="51" name="Google Shape;51;p9">
            <a:extLst>
              <a:ext uri="{FF2B5EF4-FFF2-40B4-BE49-F238E27FC236}">
                <a16:creationId xmlns:a16="http://schemas.microsoft.com/office/drawing/2014/main" id="{8974B862-A369-C7A3-596D-AEFADB051A69}"/>
              </a:ext>
            </a:extLst>
          </p:cNvPr>
          <p:cNvSpPr txBox="1">
            <a:spLocks noGrp="1"/>
          </p:cNvSpPr>
          <p:nvPr>
            <p:ph type="ctrTitle"/>
          </p:nvPr>
        </p:nvSpPr>
        <p:spPr>
          <a:xfrm>
            <a:off x="1886850" y="480475"/>
            <a:ext cx="8418300" cy="861600"/>
          </a:xfrm>
          <a:prstGeom prst="rect">
            <a:avLst/>
          </a:prstGeom>
        </p:spPr>
        <p:txBody>
          <a:bodyPr spcFirstLastPara="1" wrap="square" lIns="91425" tIns="45700" rIns="91425" bIns="45700" anchor="b" anchorCtr="0">
            <a:normAutofit/>
          </a:bodyPr>
          <a:lstStyle/>
          <a:p>
            <a:pPr lvl="0" algn="ctr"/>
            <a:r>
              <a:rPr lang="en-CA" sz="4000" dirty="0"/>
              <a:t>Answer to RQ2</a:t>
            </a:r>
            <a:endParaRPr sz="4000" dirty="0"/>
          </a:p>
        </p:txBody>
      </p:sp>
      <p:sp>
        <p:nvSpPr>
          <p:cNvPr id="53" name="Google Shape;53;p9">
            <a:extLst>
              <a:ext uri="{FF2B5EF4-FFF2-40B4-BE49-F238E27FC236}">
                <a16:creationId xmlns:a16="http://schemas.microsoft.com/office/drawing/2014/main" id="{05F26167-E130-DE5F-62E2-EE0AE1A36B31}"/>
              </a:ext>
            </a:extLst>
          </p:cNvPr>
          <p:cNvSpPr txBox="1"/>
          <p:nvPr/>
        </p:nvSpPr>
        <p:spPr>
          <a:xfrm>
            <a:off x="1886850" y="1529254"/>
            <a:ext cx="8418300" cy="4698497"/>
          </a:xfrm>
          <a:prstGeom prst="rect">
            <a:avLst/>
          </a:prstGeom>
          <a:noFill/>
          <a:ln>
            <a:noFill/>
          </a:ln>
        </p:spPr>
        <p:txBody>
          <a:bodyPr spcFirstLastPara="1" wrap="square" lIns="91425" tIns="45700" rIns="91425" bIns="45700" anchor="t" anchorCtr="0">
            <a:noAutofit/>
          </a:bodyPr>
          <a:lstStyle/>
          <a:p>
            <a:r>
              <a:rPr lang="en-CA" dirty="0"/>
              <a:t>What effect does parallelization have on FPGA-based BCI feature classification models deployed on the edge?</a:t>
            </a:r>
          </a:p>
          <a:p>
            <a:endParaRPr lang="en-CA" dirty="0"/>
          </a:p>
          <a:p>
            <a:pPr marL="285750" indent="-285750">
              <a:buFont typeface="Arial" panose="020B0604020202020204" pitchFamily="34" charset="0"/>
              <a:buChar char="•"/>
            </a:pPr>
            <a:r>
              <a:rPr lang="en-CA" dirty="0"/>
              <a:t>Higher parallelization results in less clock cycles used but more hardware usage</a:t>
            </a:r>
          </a:p>
          <a:p>
            <a:pPr marL="285750" indent="-285750">
              <a:buFont typeface="Arial" panose="020B0604020202020204" pitchFamily="34" charset="0"/>
              <a:buChar char="•"/>
            </a:pPr>
            <a:r>
              <a:rPr lang="en-CA" dirty="0"/>
              <a:t>As expected, no change to accuracy</a:t>
            </a:r>
          </a:p>
          <a:p>
            <a:pPr marL="285750" indent="-285750">
              <a:buFont typeface="Arial" panose="020B0604020202020204" pitchFamily="34" charset="0"/>
              <a:buChar char="•"/>
            </a:pPr>
            <a:r>
              <a:rPr lang="en-CA" dirty="0"/>
              <a:t>Further hardware optimizations that were explored but not implemented could help offset hardware usage</a:t>
            </a:r>
          </a:p>
          <a:p>
            <a:pPr marL="285750" indent="-285750">
              <a:buFont typeface="Arial" panose="020B0604020202020204" pitchFamily="34" charset="0"/>
              <a:buChar char="•"/>
            </a:pPr>
            <a:r>
              <a:rPr lang="en-CA" dirty="0"/>
              <a:t>Super high parallelization not needed because of how fast the GRU runs compared to the incoming sample frequency (100MHz vs 40KHz)</a:t>
            </a:r>
          </a:p>
          <a:p>
            <a:pPr marL="285750" indent="-285750">
              <a:buFont typeface="Arial" panose="020B0604020202020204" pitchFamily="34" charset="0"/>
              <a:buChar char="•"/>
            </a:pPr>
            <a:r>
              <a:rPr lang="en-CA" dirty="0"/>
              <a:t>Low parallelization allows hardware reuse, which may become more important if going from 64 channels to 1024 channels</a:t>
            </a:r>
          </a:p>
          <a:p>
            <a:pPr marL="742950" lvl="1" indent="-285750">
              <a:buFont typeface="Arial" panose="020B0604020202020204" pitchFamily="34" charset="0"/>
              <a:buChar char="•"/>
            </a:pPr>
            <a:endParaRPr lang="en-CA" dirty="0"/>
          </a:p>
        </p:txBody>
      </p:sp>
    </p:spTree>
    <p:extLst>
      <p:ext uri="{BB962C8B-B14F-4D97-AF65-F5344CB8AC3E}">
        <p14:creationId xmlns:p14="http://schemas.microsoft.com/office/powerpoint/2010/main" val="16365654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0">
          <a:extLst>
            <a:ext uri="{FF2B5EF4-FFF2-40B4-BE49-F238E27FC236}">
              <a16:creationId xmlns:a16="http://schemas.microsoft.com/office/drawing/2014/main" id="{7F39CA32-4902-1BEB-5CD1-2A92265B7DF0}"/>
            </a:ext>
          </a:extLst>
        </p:cNvPr>
        <p:cNvGrpSpPr/>
        <p:nvPr/>
      </p:nvGrpSpPr>
      <p:grpSpPr>
        <a:xfrm>
          <a:off x="0" y="0"/>
          <a:ext cx="0" cy="0"/>
          <a:chOff x="0" y="0"/>
          <a:chExt cx="0" cy="0"/>
        </a:xfrm>
      </p:grpSpPr>
      <p:sp>
        <p:nvSpPr>
          <p:cNvPr id="51" name="Google Shape;51;p9">
            <a:extLst>
              <a:ext uri="{FF2B5EF4-FFF2-40B4-BE49-F238E27FC236}">
                <a16:creationId xmlns:a16="http://schemas.microsoft.com/office/drawing/2014/main" id="{EAE2F1E0-20D6-C8A2-A762-81279B3E9242}"/>
              </a:ext>
            </a:extLst>
          </p:cNvPr>
          <p:cNvSpPr txBox="1">
            <a:spLocks noGrp="1"/>
          </p:cNvSpPr>
          <p:nvPr>
            <p:ph type="ctrTitle"/>
          </p:nvPr>
        </p:nvSpPr>
        <p:spPr>
          <a:xfrm>
            <a:off x="1886850" y="480475"/>
            <a:ext cx="8418300" cy="861600"/>
          </a:xfrm>
          <a:prstGeom prst="rect">
            <a:avLst/>
          </a:prstGeom>
        </p:spPr>
        <p:txBody>
          <a:bodyPr spcFirstLastPara="1" wrap="square" lIns="91425" tIns="45700" rIns="91425" bIns="45700" anchor="b" anchorCtr="0">
            <a:normAutofit/>
          </a:bodyPr>
          <a:lstStyle/>
          <a:p>
            <a:pPr lvl="0" algn="ctr"/>
            <a:r>
              <a:rPr lang="en-CA" sz="4000" dirty="0"/>
              <a:t>Answer to RQ3</a:t>
            </a:r>
            <a:endParaRPr sz="4000" dirty="0"/>
          </a:p>
        </p:txBody>
      </p:sp>
      <p:sp>
        <p:nvSpPr>
          <p:cNvPr id="53" name="Google Shape;53;p9">
            <a:extLst>
              <a:ext uri="{FF2B5EF4-FFF2-40B4-BE49-F238E27FC236}">
                <a16:creationId xmlns:a16="http://schemas.microsoft.com/office/drawing/2014/main" id="{AEEF9EF0-C6B4-5ED3-742B-A4F13398B956}"/>
              </a:ext>
            </a:extLst>
          </p:cNvPr>
          <p:cNvSpPr txBox="1"/>
          <p:nvPr/>
        </p:nvSpPr>
        <p:spPr>
          <a:xfrm>
            <a:off x="1886850" y="1529254"/>
            <a:ext cx="8418300" cy="4698497"/>
          </a:xfrm>
          <a:prstGeom prst="rect">
            <a:avLst/>
          </a:prstGeom>
          <a:noFill/>
          <a:ln>
            <a:noFill/>
          </a:ln>
        </p:spPr>
        <p:txBody>
          <a:bodyPr spcFirstLastPara="1" wrap="square" lIns="91425" tIns="45700" rIns="91425" bIns="45700" anchor="t" anchorCtr="0">
            <a:noAutofit/>
          </a:bodyPr>
          <a:lstStyle/>
          <a:p>
            <a:r>
              <a:rPr lang="en-CA" sz="2000" dirty="0"/>
              <a:t>What effect does fractional bit width have on FPGA-based BCI feature classification models deployed on the edge?</a:t>
            </a:r>
          </a:p>
          <a:p>
            <a:pPr marL="342900" indent="-342900">
              <a:buFont typeface="Arial" panose="020B0604020202020204" pitchFamily="34" charset="0"/>
              <a:buChar char="•"/>
            </a:pPr>
            <a:endParaRPr lang="en-CA" sz="2000" dirty="0"/>
          </a:p>
          <a:p>
            <a:pPr marL="342900" indent="-342900">
              <a:buFont typeface="Arial" panose="020B0604020202020204" pitchFamily="34" charset="0"/>
              <a:buChar char="•"/>
            </a:pPr>
            <a:r>
              <a:rPr lang="en-CA" sz="2000" dirty="0"/>
              <a:t>Higher fractional bits is more accurate, but consumes more hardware resources</a:t>
            </a:r>
          </a:p>
          <a:p>
            <a:pPr marL="342900" indent="-342900">
              <a:buFont typeface="Arial" panose="020B0604020202020204" pitchFamily="34" charset="0"/>
              <a:buChar char="•"/>
            </a:pPr>
            <a:r>
              <a:rPr lang="en-CA" sz="2000" dirty="0"/>
              <a:t>Not much benefit after 7 bits of fractional bits, none after 9</a:t>
            </a:r>
          </a:p>
          <a:p>
            <a:pPr marL="342900" indent="-342900">
              <a:buFont typeface="Arial" panose="020B0604020202020204" pitchFamily="34" charset="0"/>
              <a:buChar char="•"/>
            </a:pPr>
            <a:r>
              <a:rPr lang="en-CA" sz="2000" dirty="0"/>
              <a:t>Affects clock period utilization but not cycle utilization.</a:t>
            </a:r>
          </a:p>
          <a:p>
            <a:pPr marL="342900" indent="-342900">
              <a:buFont typeface="Arial" panose="020B0604020202020204" pitchFamily="34" charset="0"/>
              <a:buChar char="•"/>
            </a:pPr>
            <a:r>
              <a:rPr lang="en-CA" sz="2000" dirty="0"/>
              <a:t>In retrospect, this is not an FPGA-specific metric, however it is specific to the GRU. Could have done these calculations in software and come to the same findings much faster.</a:t>
            </a:r>
          </a:p>
        </p:txBody>
      </p:sp>
    </p:spTree>
    <p:extLst>
      <p:ext uri="{BB962C8B-B14F-4D97-AF65-F5344CB8AC3E}">
        <p14:creationId xmlns:p14="http://schemas.microsoft.com/office/powerpoint/2010/main" val="40647127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0">
          <a:extLst>
            <a:ext uri="{FF2B5EF4-FFF2-40B4-BE49-F238E27FC236}">
              <a16:creationId xmlns:a16="http://schemas.microsoft.com/office/drawing/2014/main" id="{9C84AB09-CC8C-8210-EB8C-BDC0B4209657}"/>
            </a:ext>
          </a:extLst>
        </p:cNvPr>
        <p:cNvGrpSpPr/>
        <p:nvPr/>
      </p:nvGrpSpPr>
      <p:grpSpPr>
        <a:xfrm>
          <a:off x="0" y="0"/>
          <a:ext cx="0" cy="0"/>
          <a:chOff x="0" y="0"/>
          <a:chExt cx="0" cy="0"/>
        </a:xfrm>
      </p:grpSpPr>
      <p:sp>
        <p:nvSpPr>
          <p:cNvPr id="51" name="Google Shape;51;p9">
            <a:extLst>
              <a:ext uri="{FF2B5EF4-FFF2-40B4-BE49-F238E27FC236}">
                <a16:creationId xmlns:a16="http://schemas.microsoft.com/office/drawing/2014/main" id="{CA0BFA14-A0F3-BAC2-008F-614507E16705}"/>
              </a:ext>
            </a:extLst>
          </p:cNvPr>
          <p:cNvSpPr txBox="1">
            <a:spLocks noGrp="1"/>
          </p:cNvSpPr>
          <p:nvPr>
            <p:ph type="ctrTitle"/>
          </p:nvPr>
        </p:nvSpPr>
        <p:spPr>
          <a:xfrm>
            <a:off x="1886850" y="480475"/>
            <a:ext cx="8418300" cy="861600"/>
          </a:xfrm>
          <a:prstGeom prst="rect">
            <a:avLst/>
          </a:prstGeom>
        </p:spPr>
        <p:txBody>
          <a:bodyPr spcFirstLastPara="1" wrap="square" lIns="91425" tIns="45700" rIns="91425" bIns="45700" anchor="b" anchorCtr="0">
            <a:normAutofit/>
          </a:bodyPr>
          <a:lstStyle/>
          <a:p>
            <a:pPr lvl="0" algn="ctr"/>
            <a:r>
              <a:rPr lang="en-CA" sz="4000" dirty="0"/>
              <a:t>Key Insights</a:t>
            </a:r>
            <a:endParaRPr sz="4000" dirty="0"/>
          </a:p>
        </p:txBody>
      </p:sp>
      <p:sp>
        <p:nvSpPr>
          <p:cNvPr id="53" name="Google Shape;53;p9">
            <a:extLst>
              <a:ext uri="{FF2B5EF4-FFF2-40B4-BE49-F238E27FC236}">
                <a16:creationId xmlns:a16="http://schemas.microsoft.com/office/drawing/2014/main" id="{CEF54CB7-5DB3-296F-804D-BABE553E294B}"/>
              </a:ext>
            </a:extLst>
          </p:cNvPr>
          <p:cNvSpPr txBox="1"/>
          <p:nvPr/>
        </p:nvSpPr>
        <p:spPr>
          <a:xfrm>
            <a:off x="1886850" y="1529254"/>
            <a:ext cx="8418300" cy="4698497"/>
          </a:xfrm>
          <a:prstGeom prst="rect">
            <a:avLst/>
          </a:prstGeom>
          <a:noFill/>
          <a:ln>
            <a:noFill/>
          </a:ln>
        </p:spPr>
        <p:txBody>
          <a:bodyPr spcFirstLastPara="1" wrap="square" lIns="91425" tIns="45700" rIns="91425" bIns="45700" anchor="t" anchorCtr="0">
            <a:noAutofit/>
          </a:bodyPr>
          <a:lstStyle/>
          <a:p>
            <a:pPr marL="342900" indent="-342900">
              <a:buFont typeface="Arial" panose="020B0604020202020204" pitchFamily="34" charset="0"/>
              <a:buChar char="•"/>
            </a:pPr>
            <a:r>
              <a:rPr lang="en-CA" sz="2000" dirty="0"/>
              <a:t>FPGAs seem to be better than MCUs for GRU deployments of high-frequency BCI systems</a:t>
            </a:r>
          </a:p>
          <a:p>
            <a:pPr marL="342900" indent="-342900">
              <a:buFont typeface="Arial" panose="020B0604020202020204" pitchFamily="34" charset="0"/>
              <a:buChar char="•"/>
            </a:pPr>
            <a:r>
              <a:rPr lang="en-CA" sz="2000" dirty="0"/>
              <a:t>Further optimizations should focus on reducing hardware area and power usage rather than speeding up the algorithm, as this would be more useful for edge BCI systems</a:t>
            </a:r>
          </a:p>
          <a:p>
            <a:pPr marL="342900" indent="-342900">
              <a:buFont typeface="Arial" panose="020B0604020202020204" pitchFamily="34" charset="0"/>
              <a:buChar char="•"/>
            </a:pPr>
            <a:r>
              <a:rPr lang="en-CA" sz="2000" dirty="0"/>
              <a:t>7 fractional bits seems to be an optimal amount of fractional bits</a:t>
            </a:r>
          </a:p>
          <a:p>
            <a:pPr marL="342900" indent="-342900">
              <a:buFont typeface="Arial" panose="020B0604020202020204" pitchFamily="34" charset="0"/>
              <a:buChar char="•"/>
            </a:pPr>
            <a:endParaRPr lang="en-CA" sz="2000" dirty="0"/>
          </a:p>
        </p:txBody>
      </p:sp>
    </p:spTree>
    <p:extLst>
      <p:ext uri="{BB962C8B-B14F-4D97-AF65-F5344CB8AC3E}">
        <p14:creationId xmlns:p14="http://schemas.microsoft.com/office/powerpoint/2010/main" val="22012833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0">
          <a:extLst>
            <a:ext uri="{FF2B5EF4-FFF2-40B4-BE49-F238E27FC236}">
              <a16:creationId xmlns:a16="http://schemas.microsoft.com/office/drawing/2014/main" id="{9972ABD2-4F57-083F-7212-A1E8DFC53790}"/>
            </a:ext>
          </a:extLst>
        </p:cNvPr>
        <p:cNvGrpSpPr/>
        <p:nvPr/>
      </p:nvGrpSpPr>
      <p:grpSpPr>
        <a:xfrm>
          <a:off x="0" y="0"/>
          <a:ext cx="0" cy="0"/>
          <a:chOff x="0" y="0"/>
          <a:chExt cx="0" cy="0"/>
        </a:xfrm>
      </p:grpSpPr>
      <p:sp>
        <p:nvSpPr>
          <p:cNvPr id="51" name="Google Shape;51;p9">
            <a:extLst>
              <a:ext uri="{FF2B5EF4-FFF2-40B4-BE49-F238E27FC236}">
                <a16:creationId xmlns:a16="http://schemas.microsoft.com/office/drawing/2014/main" id="{03FAF6B0-7E87-A70A-3910-419E6DFA3B0A}"/>
              </a:ext>
            </a:extLst>
          </p:cNvPr>
          <p:cNvSpPr txBox="1">
            <a:spLocks noGrp="1"/>
          </p:cNvSpPr>
          <p:nvPr>
            <p:ph type="ctrTitle"/>
          </p:nvPr>
        </p:nvSpPr>
        <p:spPr>
          <a:xfrm>
            <a:off x="1886850" y="480475"/>
            <a:ext cx="8418300" cy="861600"/>
          </a:xfrm>
          <a:prstGeom prst="rect">
            <a:avLst/>
          </a:prstGeom>
        </p:spPr>
        <p:txBody>
          <a:bodyPr spcFirstLastPara="1" wrap="square" lIns="91425" tIns="45700" rIns="91425" bIns="45700" anchor="b" anchorCtr="0">
            <a:normAutofit/>
          </a:bodyPr>
          <a:lstStyle/>
          <a:p>
            <a:pPr lvl="0" algn="ctr"/>
            <a:r>
              <a:rPr lang="en-CA" sz="4000" dirty="0"/>
              <a:t>Limitations and Reflection</a:t>
            </a:r>
            <a:endParaRPr sz="4000" dirty="0"/>
          </a:p>
        </p:txBody>
      </p:sp>
      <p:sp>
        <p:nvSpPr>
          <p:cNvPr id="53" name="Google Shape;53;p9">
            <a:extLst>
              <a:ext uri="{FF2B5EF4-FFF2-40B4-BE49-F238E27FC236}">
                <a16:creationId xmlns:a16="http://schemas.microsoft.com/office/drawing/2014/main" id="{EB468A5F-10C6-C2E2-D842-32AA7CF1F3FA}"/>
              </a:ext>
            </a:extLst>
          </p:cNvPr>
          <p:cNvSpPr txBox="1"/>
          <p:nvPr/>
        </p:nvSpPr>
        <p:spPr>
          <a:xfrm>
            <a:off x="1886850" y="1529254"/>
            <a:ext cx="8418300" cy="4698497"/>
          </a:xfrm>
          <a:prstGeom prst="rect">
            <a:avLst/>
          </a:prstGeom>
          <a:noFill/>
          <a:ln>
            <a:noFill/>
          </a:ln>
        </p:spPr>
        <p:txBody>
          <a:bodyPr spcFirstLastPara="1" wrap="square" lIns="91425" tIns="45700" rIns="91425" bIns="45700" anchor="t" anchorCtr="0">
            <a:noAutofit/>
          </a:bodyPr>
          <a:lstStyle/>
          <a:p>
            <a:pPr marL="342900" indent="-342900">
              <a:buFont typeface="Arial" panose="020B0604020202020204" pitchFamily="34" charset="0"/>
              <a:buChar char="•"/>
            </a:pPr>
            <a:r>
              <a:rPr lang="en-CA" sz="2000" dirty="0"/>
              <a:t>Start with target BCI signal acquisition system and what the desired metrics are in mind</a:t>
            </a:r>
          </a:p>
          <a:p>
            <a:pPr marL="342900" indent="-342900">
              <a:buFont typeface="Arial" panose="020B0604020202020204" pitchFamily="34" charset="0"/>
              <a:buChar char="•"/>
            </a:pPr>
            <a:r>
              <a:rPr lang="en-CA" sz="2000" dirty="0"/>
              <a:t>Do more research on which machine learning architecture to explore</a:t>
            </a:r>
          </a:p>
          <a:p>
            <a:pPr marL="342900" indent="-342900">
              <a:buFont typeface="Arial" panose="020B0604020202020204" pitchFamily="34" charset="0"/>
              <a:buChar char="•"/>
            </a:pPr>
            <a:r>
              <a:rPr lang="en-CA" sz="2000" dirty="0"/>
              <a:t>If choosing a more used machine learning architecture, find the current leading MCU deployment and characterize it to figure out what problems it has. Then use FPGA to solve said problems if that makes sense.</a:t>
            </a:r>
          </a:p>
          <a:p>
            <a:pPr marL="342900" indent="-342900">
              <a:buFont typeface="Arial" panose="020B0604020202020204" pitchFamily="34" charset="0"/>
              <a:buChar char="•"/>
            </a:pPr>
            <a:r>
              <a:rPr lang="en-CA" sz="2000" dirty="0"/>
              <a:t>Accuracy calculations should have been software based, not hardware based</a:t>
            </a:r>
          </a:p>
          <a:p>
            <a:pPr marL="342900" indent="-342900">
              <a:buFont typeface="Arial" panose="020B0604020202020204" pitchFamily="34" charset="0"/>
              <a:buChar char="•"/>
            </a:pPr>
            <a:r>
              <a:rPr lang="en-CA" sz="2000" dirty="0"/>
              <a:t>Background research would go more in depth on design details (for each optimization, how is it actually done and how much would it theoretically improve each metric) so that the most optimal optimization is chosen</a:t>
            </a:r>
          </a:p>
        </p:txBody>
      </p:sp>
    </p:spTree>
    <p:extLst>
      <p:ext uri="{BB962C8B-B14F-4D97-AF65-F5344CB8AC3E}">
        <p14:creationId xmlns:p14="http://schemas.microsoft.com/office/powerpoint/2010/main" val="4986175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0">
          <a:extLst>
            <a:ext uri="{FF2B5EF4-FFF2-40B4-BE49-F238E27FC236}">
              <a16:creationId xmlns:a16="http://schemas.microsoft.com/office/drawing/2014/main" id="{FBF66D54-2EB8-FB3F-7E2D-92E54AA38DBF}"/>
            </a:ext>
          </a:extLst>
        </p:cNvPr>
        <p:cNvGrpSpPr/>
        <p:nvPr/>
      </p:nvGrpSpPr>
      <p:grpSpPr>
        <a:xfrm>
          <a:off x="0" y="0"/>
          <a:ext cx="0" cy="0"/>
          <a:chOff x="0" y="0"/>
          <a:chExt cx="0" cy="0"/>
        </a:xfrm>
      </p:grpSpPr>
      <p:sp>
        <p:nvSpPr>
          <p:cNvPr id="51" name="Google Shape;51;p9">
            <a:extLst>
              <a:ext uri="{FF2B5EF4-FFF2-40B4-BE49-F238E27FC236}">
                <a16:creationId xmlns:a16="http://schemas.microsoft.com/office/drawing/2014/main" id="{C24724C3-EF88-566F-22D4-AADA6B120D4F}"/>
              </a:ext>
            </a:extLst>
          </p:cNvPr>
          <p:cNvSpPr txBox="1">
            <a:spLocks noGrp="1"/>
          </p:cNvSpPr>
          <p:nvPr>
            <p:ph type="ctrTitle"/>
          </p:nvPr>
        </p:nvSpPr>
        <p:spPr>
          <a:xfrm>
            <a:off x="1886850" y="480475"/>
            <a:ext cx="8418300" cy="861600"/>
          </a:xfrm>
          <a:prstGeom prst="rect">
            <a:avLst/>
          </a:prstGeom>
        </p:spPr>
        <p:txBody>
          <a:bodyPr spcFirstLastPara="1" wrap="square" lIns="91425" tIns="45700" rIns="91425" bIns="45700" anchor="b" anchorCtr="0">
            <a:normAutofit/>
          </a:bodyPr>
          <a:lstStyle/>
          <a:p>
            <a:pPr lvl="0" algn="ctr"/>
            <a:r>
              <a:rPr lang="en-CA" sz="4000" dirty="0"/>
              <a:t>Demonstration</a:t>
            </a:r>
            <a:endParaRPr sz="4000" dirty="0"/>
          </a:p>
        </p:txBody>
      </p:sp>
      <p:sp>
        <p:nvSpPr>
          <p:cNvPr id="53" name="Google Shape;53;p9">
            <a:extLst>
              <a:ext uri="{FF2B5EF4-FFF2-40B4-BE49-F238E27FC236}">
                <a16:creationId xmlns:a16="http://schemas.microsoft.com/office/drawing/2014/main" id="{A356757A-E59B-EC95-C43A-A84299957FD7}"/>
              </a:ext>
            </a:extLst>
          </p:cNvPr>
          <p:cNvSpPr txBox="1"/>
          <p:nvPr/>
        </p:nvSpPr>
        <p:spPr>
          <a:xfrm>
            <a:off x="1886850" y="1529254"/>
            <a:ext cx="8418300" cy="4698497"/>
          </a:xfrm>
          <a:prstGeom prst="rect">
            <a:avLst/>
          </a:prstGeom>
          <a:noFill/>
          <a:ln>
            <a:noFill/>
          </a:ln>
        </p:spPr>
        <p:txBody>
          <a:bodyPr spcFirstLastPara="1" wrap="square" lIns="91425" tIns="45700" rIns="91425" bIns="45700" anchor="t" anchorCtr="0">
            <a:noAutofit/>
          </a:bodyPr>
          <a:lstStyle/>
          <a:p>
            <a:pPr marL="342900" indent="-342900">
              <a:buFont typeface="Arial" panose="020B0604020202020204" pitchFamily="34" charset="0"/>
              <a:buChar char="•"/>
            </a:pPr>
            <a:r>
              <a:rPr lang="en-CA" sz="2000" dirty="0"/>
              <a:t>CPU Implementation</a:t>
            </a:r>
          </a:p>
          <a:p>
            <a:pPr marL="342900" indent="-342900">
              <a:buFont typeface="Arial" panose="020B0604020202020204" pitchFamily="34" charset="0"/>
              <a:buChar char="•"/>
            </a:pPr>
            <a:r>
              <a:rPr lang="en-CA" sz="2000" dirty="0"/>
              <a:t>Simulation code</a:t>
            </a:r>
          </a:p>
          <a:p>
            <a:pPr marL="342900" indent="-342900">
              <a:buFont typeface="Arial" panose="020B0604020202020204" pitchFamily="34" charset="0"/>
              <a:buChar char="•"/>
            </a:pPr>
            <a:endParaRPr lang="en-CA" sz="2000" dirty="0"/>
          </a:p>
        </p:txBody>
      </p:sp>
    </p:spTree>
    <p:extLst>
      <p:ext uri="{BB962C8B-B14F-4D97-AF65-F5344CB8AC3E}">
        <p14:creationId xmlns:p14="http://schemas.microsoft.com/office/powerpoint/2010/main" val="40760540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1456</TotalTime>
  <Words>2113</Words>
  <Application>Microsoft Office PowerPoint</Application>
  <PresentationFormat>Widescreen</PresentationFormat>
  <Paragraphs>227</Paragraphs>
  <Slides>31</Slides>
  <Notes>31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Aptos</vt:lpstr>
      <vt:lpstr>Aptos Display</vt:lpstr>
      <vt:lpstr>Arial</vt:lpstr>
      <vt:lpstr>Calibri</vt:lpstr>
      <vt:lpstr>Times New Roman</vt:lpstr>
      <vt:lpstr>Office Theme</vt:lpstr>
      <vt:lpstr>Final Presentation and Demo</vt:lpstr>
      <vt:lpstr>Literature Review – Architecture of a BCI System</vt:lpstr>
      <vt:lpstr>Literature Review – GRU</vt:lpstr>
      <vt:lpstr>Literature Review – FPGA</vt:lpstr>
      <vt:lpstr>Literature Review – FPGA</vt:lpstr>
      <vt:lpstr>Literature Review – Hardware Acceleration of GRUs</vt:lpstr>
      <vt:lpstr>Introduction – Research Questions</vt:lpstr>
      <vt:lpstr>Experiment Overview</vt:lpstr>
      <vt:lpstr>Software Implementation - Methodology</vt:lpstr>
      <vt:lpstr>Software Implementation – Results and Discussion</vt:lpstr>
      <vt:lpstr>Hardware Implementation – Platform Characteristics</vt:lpstr>
      <vt:lpstr>Hardware Implementation – Platform Characteristics</vt:lpstr>
      <vt:lpstr>Hardware Implementation – Platform Characteristics</vt:lpstr>
      <vt:lpstr>Hardware Implementation – Platform Characteristics</vt:lpstr>
      <vt:lpstr>Hardware Implementation – Input Data</vt:lpstr>
      <vt:lpstr>Hardware Implementation – Input Data</vt:lpstr>
      <vt:lpstr>Hardware Implementation – Methodology</vt:lpstr>
      <vt:lpstr>Hardware Implementation – Design Space</vt:lpstr>
      <vt:lpstr>Hardware Implementation – Design Space</vt:lpstr>
      <vt:lpstr>Hardware Implementation – Design Space</vt:lpstr>
      <vt:lpstr>Hardware Implementation – Analysis and Discussion</vt:lpstr>
      <vt:lpstr>Hardware Implementation – Analysis and Discussion</vt:lpstr>
      <vt:lpstr>Title</vt:lpstr>
      <vt:lpstr>System Integration - Methodology</vt:lpstr>
      <vt:lpstr>System Integration – Analysis and Discussion</vt:lpstr>
      <vt:lpstr>Answer to RQ1</vt:lpstr>
      <vt:lpstr>Answer to RQ2</vt:lpstr>
      <vt:lpstr>Answer to RQ3</vt:lpstr>
      <vt:lpstr>Key Insights</vt:lpstr>
      <vt:lpstr>Limitations and Reflection</vt:lpstr>
      <vt:lpstr>Demonstration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Aleksander Berezowski</dc:creator>
  <cp:lastModifiedBy>Aleksander Berezowski</cp:lastModifiedBy>
  <cp:revision>17</cp:revision>
  <dcterms:created xsi:type="dcterms:W3CDTF">2026-03-10T01:58:54Z</dcterms:created>
  <dcterms:modified xsi:type="dcterms:W3CDTF">2026-03-18T23:33:25Z</dcterms:modified>
</cp:coreProperties>
</file>