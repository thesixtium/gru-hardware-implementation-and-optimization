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301" r:id="rId3"/>
    <p:sldId id="302" r:id="rId4"/>
    <p:sldId id="305" r:id="rId5"/>
    <p:sldId id="303" r:id="rId6"/>
    <p:sldId id="304" r:id="rId7"/>
    <p:sldId id="306" r:id="rId8"/>
    <p:sldId id="307" r:id="rId9"/>
    <p:sldId id="309" r:id="rId10"/>
    <p:sldId id="310" r:id="rId11"/>
    <p:sldId id="3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C8A5B-6CE0-490A-A6C0-FE2A2EE727BC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BC09-1D36-4CF0-BB1B-6967CD773D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88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BE771C49-43C4-1E0E-CC19-A60FDCF6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A12C2960-DAB6-2A64-291A-4079CF2AF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0A6532A3-381B-7144-49D1-B385A60A6D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0C1710B9-6B70-629B-60BE-8E060A90A0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069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76025ED-82A9-815F-103B-79994276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5EA3152B-3195-6A95-B458-54D63910E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8B023B82-514C-89EF-4EE1-D3840B552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1FC4CEAE-B968-7B37-4992-690D58A66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2123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4331147-83D5-1BA1-3391-915A238A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122EE596-AFC6-73EF-C748-E5A00B500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64B73F1A-DD93-4114-24ED-F31105C67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8F4DBABD-CC17-178E-0BDF-02520CB556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109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3F861F5-098D-57CE-6902-ED526B49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076EBA11-2D15-9468-7B5A-B14CE90A3C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56F211E4-EB11-33D7-33F3-524EFC746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E5B79A88-BB2F-CC2C-ED4B-F07811DF40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5945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F996837-200D-0AA2-8CE0-4E7FFE39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AD6FA88C-2AA4-CFF4-3A0F-469883AA4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BD8A9AD5-0516-DC7D-E42A-6FF667D16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A9D482C9-6839-CA36-F512-03DF1D5A1B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5881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7F5BF04-9369-6BEC-B0E1-817C490F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2AC23B83-234A-6DC0-AB0E-D046C7446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D758E452-452A-504D-21B9-1F2519527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7F59D1EA-CC51-5E97-80C3-C016CFB10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9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37D688F-AF95-2F86-5B10-16762E0D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9D6BF599-BB9F-E90D-9F3E-50F454D52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C5A9F8F2-99F8-3E70-24FD-EE4D0C534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4E837B08-5D1B-76F3-55B9-17E49A97BF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496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AE0CA78-553F-937E-5160-8EBE6CC5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82242AA4-8839-FCF8-4CE9-2DF604E56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34F369C3-232D-EF29-1BDC-AE44ADCC6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052A5431-82AF-BAF5-45AA-EC17207D8A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8392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8A6CC74-8EEA-815D-815E-30154EAE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8ED53083-376B-8B26-C019-797E25B30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BDA3D0F0-3D02-F8C5-95F4-DAE142281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013C49BA-36D3-8556-6E6B-05FEB22765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054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E170956-B78A-3D6B-BF88-E795EAF9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7BA4F9C6-DB33-0887-B8DF-CA19C3CC9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510504C6-F4B1-4FC5-30A6-A6D72F7BF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D669F721-909E-7844-DD9F-D1C013BDDC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398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53EF-942A-019F-A8AE-E073763C3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B516C-1D57-45B4-B9FD-D0520C4D7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7091-093F-8844-1F87-402CF98C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AE09-A0FC-F9BB-2E9B-87B27BF1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9C86-3C88-254E-92B1-7316866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211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FF00-2700-C6EB-F9E9-436AF4C9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E7595-951C-2661-3546-411C14A3B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AE9ED-3F17-E820-457A-DB1DDB09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0FD4-F3AE-25A3-2999-EC1290C1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EECBE-892C-EEA7-C4E7-6409A50E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990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33C3-2854-A681-CC60-E242AD0D3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E578C-813E-202A-2C7B-F6D028C6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90EED-9340-2869-D85D-7D9281F9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7380A-961B-F3B5-271C-173A72A6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01B71-6969-44CE-F1DC-9FCB7206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08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6F2E-144B-C1EF-5077-DF3E0AB3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4742-D1A3-8EC7-3E15-5480A9E5D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468A-EAC9-BEC8-7F37-6D5DB2046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A7218-CF3F-B478-6EA7-5465B2AD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FF9C2-6D0B-E695-D366-C0514CC8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4DC1B-33E8-B682-2449-905053E3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57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6674-71DE-5E43-2F30-A651AA14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7FB0-177C-483A-A022-1F106F191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B08AD-E101-ACCB-6A38-80D5F72F0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8FEAC-F226-37F7-9E57-AF3278F43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D3A30-7E90-D5BB-35FE-46D5A9792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B29C0-EF29-984C-78EE-E0D21A8A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318DD-949A-473F-8918-4F5DA986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08305D-E838-E7ED-D454-9F7ED92C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606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AAEC-9B00-0F3E-DE19-58BE1AFB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9F85E-8090-F4B1-812C-E006128E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B85DF-FB6D-29B7-C737-751BEDFE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CC6FF-698A-997A-3E85-7A15ACEF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525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5B6BB-3F6B-ED5C-85BE-11835ACA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5D2A5-72C7-724A-C756-E6CEEF38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3A04A-769B-1D1E-2846-25425EBD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187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D3AC-D363-EF04-777E-837C61DA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89CC-2AC2-DD50-8BA8-E0510F5F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A89D6-8AC1-DA25-4E8E-F7E569F3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8669C-39C5-640D-7456-ECC4DBDF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3642C-E9AA-387D-3561-71E24712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7D016-3E1C-F6BC-DCF4-40FFEC0F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250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4332-A7C9-05CE-1BE3-5C1E6A4A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D7EEE-A69A-C86B-ACD6-F2DA3AAC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F45DE-8080-F028-2B6D-0B54C32D0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9F278-1FFF-FF3B-EFBA-602713B2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6B457-362C-F17F-CA84-6408059F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506DD-6E60-9938-183A-E5920F1D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714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B9C0-07FF-B6AE-EB45-CB9F447C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93687-87C6-CC16-698E-0B6ED24B1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FAA3B-C2F1-7D8C-FD5E-FB2CA1C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3EA18-1035-44D9-DDB4-2326B697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60EFD-61B9-1F2B-91E5-0D7118CA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700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74A3A-7099-C3D0-4CDE-E607E877E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731CF-9290-D428-3694-EA27A3EB3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2863D-60BD-B818-FCA3-0132DD51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64A4A-DF77-C692-939F-0799B909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EF97-3224-9689-1B7C-A207FA09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327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91909" y="1051240"/>
            <a:ext cx="6896023" cy="234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91909" y="3393929"/>
            <a:ext cx="7841294" cy="71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1191909" y="4398461"/>
            <a:ext cx="7841294" cy="1125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3"/>
          </p:nvPr>
        </p:nvSpPr>
        <p:spPr>
          <a:xfrm>
            <a:off x="1191909" y="5530413"/>
            <a:ext cx="6586081" cy="521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5771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ctrTitle"/>
          </p:nvPr>
        </p:nvSpPr>
        <p:spPr>
          <a:xfrm>
            <a:off x="1578279" y="1577649"/>
            <a:ext cx="8418337" cy="192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1578279" y="3521318"/>
            <a:ext cx="8418337" cy="78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1578279" y="4317516"/>
            <a:ext cx="8418337" cy="146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93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64580-E7DC-FB81-EFFE-D3169799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7F037-94B0-296E-57AD-9FA54412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91364-C080-CDD7-A21B-BA2A68D80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53733-03CD-4C94-AC3B-1554B331B698}" type="datetimeFigureOut">
              <a:rPr lang="en-CA" smtClean="0"/>
              <a:t>2025-11-23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3D03-EB8D-CFF4-51F9-7E36CA5FD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45467-2BFB-C5D2-935E-C8F2A3C08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D21AF-D830-4811-A4B7-341484E515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12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1191909" y="1051240"/>
            <a:ext cx="7841294" cy="234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CA" dirty="0"/>
              <a:t>Design Demonstration</a:t>
            </a:r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191909" y="3393929"/>
            <a:ext cx="7841294" cy="71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CA" dirty="0"/>
              <a:t>Implementing Gated Recurrent Units on FPGAs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1191909" y="4398461"/>
            <a:ext cx="7841294" cy="41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Aleksander Berezowski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BD948075-321C-4450-A3B7-090A5A07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46101A77-F586-5ACD-075C-8FAF9E68CD2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Contents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C498D518-9C0C-35F3-02AF-BAB7C3DAA897}"/>
              </a:ext>
            </a:extLst>
          </p:cNvPr>
          <p:cNvSpPr txBox="1"/>
          <p:nvPr/>
        </p:nvSpPr>
        <p:spPr>
          <a:xfrm>
            <a:off x="4966199" y="1950926"/>
            <a:ext cx="2727374" cy="307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Design Methodology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Demonstration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Prototype Analysis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Data Output Analysis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21459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50E193B9-9CAE-D72E-BC3C-A7A6AC90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32555C47-770F-9C63-4417-3A4BAE11DCA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Introduction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FBEB3105-0D08-F782-17F6-23C154571316}"/>
              </a:ext>
            </a:extLst>
          </p:cNvPr>
          <p:cNvSpPr txBox="1"/>
          <p:nvPr/>
        </p:nvSpPr>
        <p:spPr>
          <a:xfrm>
            <a:off x="1886850" y="1529254"/>
            <a:ext cx="8418300" cy="469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How would hardware-specific optimizations of brain-computer interface machine learning models deployed on field-programmable gate arrays affect their inference time, power consumption, and accuracy in comparison to current hardware and software implementations?</a:t>
            </a:r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Project Scope: Develop an evaluation system to compare different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SystemVerilog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GRUs across varying design parameters. The prototype starts with three design parameters: input size, hidden state size, and word length. 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Starts to establish empirical relationships between different design parameters the resulting inference time, power consumption, and accuracy.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Prototype provides a foundation to then implement hardware-specific optimizations.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563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3FC80EB1-BB13-AFDA-F4AA-82C64E77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C82E2556-0792-4575-383A-6AEA667CD8F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Design Methodology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F80B10E6-B611-CB93-1495-30B326AC28CC}"/>
              </a:ext>
            </a:extLst>
          </p:cNvPr>
          <p:cNvSpPr txBox="1"/>
          <p:nvPr/>
        </p:nvSpPr>
        <p:spPr>
          <a:xfrm>
            <a:off x="2443685" y="1982455"/>
            <a:ext cx="7304629" cy="370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Technical Specifications and Requirements: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Generate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SystemVerilog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GRUs based on design parameters: input size, hidden state size, and word length.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Generate top-level modules and testbenches based on the generated GRU modules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Simulate GRU modules using the testbench modules generated to evaluate accuracy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Lint, synthesize, and implement the GRU modules to generate metrics such as power consumption and WNS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Extract quantitative metrics from implementation results</a:t>
            </a: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212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84315B5-3C1C-E674-63F3-54E30A16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B80EF209-FA6F-ED83-6743-EEA86B53725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Design Methodology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5CD5F1B8-94F2-97DA-3410-F79BC6C5E36C}"/>
              </a:ext>
            </a:extLst>
          </p:cNvPr>
          <p:cNvSpPr txBox="1"/>
          <p:nvPr/>
        </p:nvSpPr>
        <p:spPr>
          <a:xfrm>
            <a:off x="2554685" y="1539458"/>
            <a:ext cx="7082629" cy="406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Iterative and Incremental Development: Break project into smaller incremental pieces and refines them through repeated iterations.</a:t>
            </a:r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Incremental Pieces: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Generate top_level.sv via a Python script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Generate gru.sv via a Python script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Generate gru_tb.sv via a Python script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Hardcoded parametrized sigmoid and tanh modules in </a:t>
            </a:r>
            <a:r>
              <a:rPr lang="en-CA" sz="2000" dirty="0" err="1">
                <a:latin typeface="Calibri"/>
                <a:ea typeface="Calibri"/>
                <a:cs typeface="Calibri"/>
                <a:sym typeface="Calibri"/>
              </a:rPr>
              <a:t>SystemVerilog</a:t>
            </a:r>
            <a:endParaRPr lang="en-CA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Run simulation, l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inter, synthesis, and implementation</a:t>
            </a: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 via a TCL script 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Extract metrics from simulation via a Python script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Run all incremental pieces via a Python script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094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44EE2A2-1F90-9D95-3319-D686C552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6F19D479-F7E4-75BA-8B25-3762566FACB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2567400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Demonstration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180223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8C46BFF6-7E4F-E70D-ACEE-862D1785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22E29810-F5B1-BD94-DDEA-0C903759C60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Prototype Analysis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D9CD2422-A2DD-7167-BA4E-980913572B07}"/>
              </a:ext>
            </a:extLst>
          </p:cNvPr>
          <p:cNvSpPr txBox="1"/>
          <p:nvPr/>
        </p:nvSpPr>
        <p:spPr>
          <a:xfrm>
            <a:off x="1208235" y="1772361"/>
            <a:ext cx="9775530" cy="307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The system operates as a minimum viable product demonstrating core functionality.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Certain designs are too large to implement on an FPGA board, resulting in implementation failures. Suggests bit serial structures could be very valuable to research.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The current accuracy evaluation methodology utilizes the highest-resolution fixed-point implementation as a reference baseline. More thought should be put into if using floating-point calculations as the ground truth would be better or worse.</a:t>
            </a:r>
            <a:endParaRPr lang="en-CA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Anecdotal evidence suggests larger designs take multiple hours to generate and analyze.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The prototype is currently single threaded. While running multiple threads would speed up analysis, it wasn’t implemented because analysis speed wasn’t a priority, although it may become one when searching larger action spaces.</a:t>
            </a:r>
          </a:p>
        </p:txBody>
      </p:sp>
    </p:spTree>
    <p:extLst>
      <p:ext uri="{BB962C8B-B14F-4D97-AF65-F5344CB8AC3E}">
        <p14:creationId xmlns:p14="http://schemas.microsoft.com/office/powerpoint/2010/main" val="402261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75B06CC5-6C48-B0DF-D398-0BA6B86A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2D3B655F-04C5-45C4-F7B4-A8E317289E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-10285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 Output Analysis</a:t>
            </a:r>
            <a:endParaRPr sz="4000" dirty="0"/>
          </a:p>
        </p:txBody>
      </p:sp>
      <p:pic>
        <p:nvPicPr>
          <p:cNvPr id="7" name="Picture 6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818A2FB6-8478-B5E5-A641-27DDC6CF5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596" y="758745"/>
            <a:ext cx="9078807" cy="84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9140D6FD-03AC-4B91-EE92-CC01B6F49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D6B80EAB-6899-8359-6B23-DE96ED4546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 Output Analysis</a:t>
            </a:r>
            <a:endParaRPr sz="4000" dirty="0"/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834155C8-B275-9AA3-1079-F3A42E602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0" y="2436022"/>
            <a:ext cx="12018539" cy="294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81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7AE4BDAF-ED16-E9FF-A73D-C3C42897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1;p9">
            <a:extLst>
              <a:ext uri="{FF2B5EF4-FFF2-40B4-BE49-F238E27FC236}">
                <a16:creationId xmlns:a16="http://schemas.microsoft.com/office/drawing/2014/main" id="{03172034-C065-7BE4-703E-08DF14D352DF}"/>
              </a:ext>
            </a:extLst>
          </p:cNvPr>
          <p:cNvSpPr txBox="1">
            <a:spLocks/>
          </p:cNvSpPr>
          <p:nvPr/>
        </p:nvSpPr>
        <p:spPr>
          <a:xfrm>
            <a:off x="1886850" y="480475"/>
            <a:ext cx="8418300" cy="86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/>
          </a:bodyPr>
          <a:lstStyle>
            <a:lvl1pPr marR="0" lvl="0" algn="l" defTabSz="914400" rtl="0" eaLnBrk="1" latinLnBrk="0" hangingPunct="1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sz="3600" b="1" i="0" u="none" strike="noStrike" kern="12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algn="ctr"/>
            <a:r>
              <a:rPr lang="en-US" sz="4000"/>
              <a:t>Data Output Analysis</a:t>
            </a:r>
            <a:endParaRPr lang="en-US" sz="4000" dirty="0"/>
          </a:p>
        </p:txBody>
      </p:sp>
      <p:pic>
        <p:nvPicPr>
          <p:cNvPr id="10" name="Picture 9" descr="A chart with red and blue squares&#10;&#10;AI-generated content may be incorrect.">
            <a:extLst>
              <a:ext uri="{FF2B5EF4-FFF2-40B4-BE49-F238E27FC236}">
                <a16:creationId xmlns:a16="http://schemas.microsoft.com/office/drawing/2014/main" id="{2A996F80-03A5-ABF2-55EE-90C51ED35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50" y="1342075"/>
            <a:ext cx="8433833" cy="537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FD10D7E4-82D4-D92A-4F00-F2F37299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083FDB07-5036-7C49-4579-6E9EC7173F7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Future Work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556B9A7C-CB39-F4E6-AE49-027F392CE5E1}"/>
              </a:ext>
            </a:extLst>
          </p:cNvPr>
          <p:cNvSpPr txBox="1"/>
          <p:nvPr/>
        </p:nvSpPr>
        <p:spPr>
          <a:xfrm>
            <a:off x="2740724" y="1893804"/>
            <a:ext cx="6710552" cy="307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In chronological order: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Prepare thesis proposal and deliver a defense of it.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Fix the accuracy bug in the </a:t>
            </a:r>
            <a:r>
              <a:rPr lang="en-CA" sz="2000">
                <a:latin typeface="Calibri"/>
                <a:ea typeface="Calibri"/>
                <a:cs typeface="Calibri"/>
                <a:sym typeface="Calibri"/>
              </a:rPr>
              <a:t>prototype.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>
                <a:latin typeface="Calibri"/>
                <a:ea typeface="Calibri"/>
                <a:cs typeface="Calibri"/>
                <a:sym typeface="Calibri"/>
              </a:rPr>
              <a:t>Rerun </a:t>
            </a: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experiment with a larger action space and conduct further analysis on experiment results.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Write and submit a conference manuscript for The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Annual International Conference of the IEEE Engineering in Medicine and Biology Society.</a:t>
            </a:r>
            <a:endParaRPr lang="en-CA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>
                <a:latin typeface="Calibri"/>
                <a:ea typeface="Calibri"/>
                <a:cs typeface="Calibri"/>
                <a:sym typeface="Calibri"/>
              </a:rPr>
              <a:t>Implement a hardware-specific optimization and evaluate it compared to the baseline implementation.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804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2933</TotalTime>
  <Words>504</Words>
  <Application>Microsoft Office PowerPoint</Application>
  <PresentationFormat>Widescreen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Design Demonstration</vt:lpstr>
      <vt:lpstr>Contents</vt:lpstr>
      <vt:lpstr>Introduction</vt:lpstr>
      <vt:lpstr>Design Methodology</vt:lpstr>
      <vt:lpstr>Design Methodology</vt:lpstr>
      <vt:lpstr>Demonstration</vt:lpstr>
      <vt:lpstr>Prototype Analysis</vt:lpstr>
      <vt:lpstr>Data Output Analysis</vt:lpstr>
      <vt:lpstr>Data Output Analysis</vt:lpstr>
      <vt:lpstr>PowerPoint Presentation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Berezowski</dc:creator>
  <cp:lastModifiedBy>Aleksander Berezowski</cp:lastModifiedBy>
  <cp:revision>8</cp:revision>
  <dcterms:created xsi:type="dcterms:W3CDTF">2025-11-19T22:05:30Z</dcterms:created>
  <dcterms:modified xsi:type="dcterms:W3CDTF">2025-11-24T04:31:09Z</dcterms:modified>
</cp:coreProperties>
</file>