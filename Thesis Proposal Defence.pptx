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20" r:id="rId2"/>
    <p:sldId id="310" r:id="rId3"/>
    <p:sldId id="311" r:id="rId4"/>
    <p:sldId id="308" r:id="rId5"/>
    <p:sldId id="309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75" d="100"/>
          <a:sy n="75" d="100"/>
        </p:scale>
        <p:origin x="124" y="17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8C320-1D1B-4A01-A637-3E15027DC91A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09C17-9C4A-44AD-A755-6D02BE76F2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6525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9C5A72D-34BE-83D4-C090-DDBB486D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36FC8F0A-8C32-6410-7AF3-76A3217CF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65781D02-D4FC-7068-20F8-DF38B8EB1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D8139EDA-C94B-E95E-FAFD-C8FCB3B3E8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1314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DEC5F04-412D-0D4C-645D-6A26A560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A6D828A5-976A-7311-45AF-925D898DBC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18B6E365-B34C-196A-F20C-31E9A84BE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5702A271-EA69-AA24-DE20-31D2881AAE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0724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7C26C5FD-05FF-D1EF-850B-825BD529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B2FFA51D-78FA-0735-6A05-BDD5B1890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8FEF380B-E5BB-1893-6D63-C73309B49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DFFBDA22-1245-F1B9-8D98-A102FF7B62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56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965C1632-FEEA-D360-E13D-201EDA9FA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E112C1C9-0954-091B-35BC-32D446F24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1240C703-B7E1-597B-6D0A-AFD7D6928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D0F8ECB3-DFD5-4057-C97D-B114DED5A7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414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43AD98F-F849-D265-3311-8D3746EDD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EC7A4665-1DE5-B1FF-F0B3-DBEDE50E7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19FDFDE6-5B90-423B-F3C0-B97A79A54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E2767218-CCB8-3909-3F21-334E3D1968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2442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188F041F-1BAB-7CB9-227B-40865812D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F5703A47-CD3C-D729-9233-02082C71D4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9C70F761-E569-4CFE-FF58-804B19D90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6DE7F3A4-D3AC-A648-CC88-B5C2ED7D20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621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3B7AC93C-3906-6E1D-9A58-67FFFA50E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A1778504-2104-71B5-C0E5-57E35D55E6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363B83C6-95D4-4541-A0EB-EF8BBE33C2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5466D80D-25B4-DDDE-0C8F-B0E282BB5C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920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9F05EB17-FBFE-CE84-FF9B-9A28BE3A2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92346ACA-219F-2444-0823-13DD9DB46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AF46781A-CF8E-E757-16A6-8C29B69BD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59325FBE-E492-4E78-D5BC-480A0B4884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323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156CC356-AA7B-DC6F-33FC-C6BEF58B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D6CDD78E-5117-966C-A6A5-03E30F21DD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F260CF8B-72F2-CE0D-3730-D4FEEA112E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E27D8A84-EE84-D495-0EC2-137B3971EC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7718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81936E02-0A72-25A1-1C8A-8857FE57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42E196FF-E7F7-F8FA-7A59-44AEE3882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832F0EED-7F12-3406-4B73-9709A532A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9546C0B7-DB40-9253-7B19-7695A1BBBF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1845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7A8853F-53FD-8D14-62E5-7C94549A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1613B360-4229-3BCE-CB24-D49C5C7D8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836C8CAE-1E05-1FC3-FEAB-FA9171A3B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198E880C-0E7C-6CCE-ED91-E7600F7979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9501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1B56B90-433F-C6E1-B363-B3C4EBBEA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6bd409b32_4_0:notes">
            <a:extLst>
              <a:ext uri="{FF2B5EF4-FFF2-40B4-BE49-F238E27FC236}">
                <a16:creationId xmlns:a16="http://schemas.microsoft.com/office/drawing/2014/main" id="{EA238CE0-46AC-02AA-C02D-DA237C0F3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46bd409b32_4_0:notes">
            <a:extLst>
              <a:ext uri="{FF2B5EF4-FFF2-40B4-BE49-F238E27FC236}">
                <a16:creationId xmlns:a16="http://schemas.microsoft.com/office/drawing/2014/main" id="{9B682367-6E17-E0C0-25D4-E8FF8ECC85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46bd409b32_4_0:notes">
            <a:extLst>
              <a:ext uri="{FF2B5EF4-FFF2-40B4-BE49-F238E27FC236}">
                <a16:creationId xmlns:a16="http://schemas.microsoft.com/office/drawing/2014/main" id="{AC824E74-AA5A-2F8F-1583-1C2BC6A81C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053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C62F-6101-A73B-305D-446FAD444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E1D5D-578D-6AAA-92CA-5022CC6A2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99381-BDB0-287D-BD3A-A4F6F67B6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22CC5-7F0F-01AA-622E-A72822C7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EE294-8734-667A-4CC1-33F1828A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0307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5B90-3DAB-B402-6B3D-F21DA43C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98A7F-DBC0-9331-9DCF-B46F6885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628D3-B07D-5EB3-AF6B-CC60FFC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3763B-D07D-A9F6-8769-B9BFAC8EF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E6C91-479E-E2DF-091B-D959C481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274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6EF0-EF65-3101-044D-CF48BAD3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0FF0-EFC3-0CA5-9355-523891386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52C45-AF55-9A71-9E5E-3E73764D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54C65-D087-3DF5-A098-CEFE78E6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F6ED3-E99E-4D54-9E77-309B5A5AC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432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AAA32-2975-4511-E628-E3AC861E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C1685-F9B0-69B8-88A7-11EF2FC47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16F1A-4880-4F2D-FBA5-C6160A4A8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71599-6C8A-80BE-739E-F65DF090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DD288-CA8F-1455-671F-C794A9AC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48B4D-747D-D3EA-F385-CF038E85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587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AA93-958C-9BA8-7F74-EFA24F90F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9DCC9-724F-4352-2B30-B789FDE7F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B0436-4196-7A40-C499-B5C57AB76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8F888-82A5-8167-7F97-C474D744A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46BBBA-6674-F249-7B4B-6718D0CCA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F2864-1078-2E38-55F0-020492A2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62E1C-971D-0F80-C6CC-887D0DE0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876C3F-BFF9-8F4B-4246-3B86E2D9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363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158E-F6F5-C0D7-52C8-3DF861A4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A60FC-EFEC-EDD5-626A-04B94C576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F0E68-5100-2041-B687-E417082B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157DB-A83A-C356-FF0B-F8D34618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425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882-E111-D9DD-2A59-FF43BA48C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9273CE-5EE7-5C39-99DB-F0336B0F2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CF3EF-B866-EBFF-47DB-4C8EC308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14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FE8B-38C2-ED97-FCEE-23EEA094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D525A-6C74-49DB-D696-7A65B1C49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B6F77-E803-9527-3EE8-FF9F03F6F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6A95B-D706-F33E-ED5C-EE2A65BC3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FC7CA-2C96-AA17-F3FD-81C85F32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912E7-2315-7583-38C0-30A95464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793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B693-E2CB-1E1E-2A55-6A8D122F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A6E32-E018-3593-7573-BABEB831F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387C6-59EB-D0FD-37DA-1E723C7B5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4646C-6889-0DB6-9011-CF35EAC4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4CEA3-9E01-58D0-4C5F-A0A4D1FB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275D9-4D13-3B54-F246-7557D99D8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017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32BD-3480-78A8-872D-4603FE78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3981E-EE22-AFCA-081D-0E14C5837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1C62F-0268-25B0-1A33-E88DD4923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4254B-800B-6241-E0F1-0E8F70BF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C8C1B-2BAB-3799-A7E4-19AC6DA0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303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721A5-CBCB-87EC-D91D-339B60561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E98F0-24D3-7825-2AA7-19BA4FD90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34B4C-336A-7800-1851-DE5CA467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03C6C-DC62-14C5-BB21-D675B743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161B4-AA5F-A1A0-2885-444AFF5F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2526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ctrTitle"/>
          </p:nvPr>
        </p:nvSpPr>
        <p:spPr>
          <a:xfrm>
            <a:off x="1578279" y="1577649"/>
            <a:ext cx="8418337" cy="192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ubTitle" idx="1"/>
          </p:nvPr>
        </p:nvSpPr>
        <p:spPr>
          <a:xfrm>
            <a:off x="1578279" y="3521318"/>
            <a:ext cx="8418337" cy="78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1578279" y="4317516"/>
            <a:ext cx="8418337" cy="146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3210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91909" y="1051240"/>
            <a:ext cx="6896023" cy="234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91909" y="3393929"/>
            <a:ext cx="7841294" cy="71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1191909" y="4398461"/>
            <a:ext cx="7841294" cy="1125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3"/>
          </p:nvPr>
        </p:nvSpPr>
        <p:spPr>
          <a:xfrm>
            <a:off x="1191909" y="5530413"/>
            <a:ext cx="6586081" cy="521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8716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72E72-4B31-84A1-3666-FEBD63F8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3EC08-4D55-CD23-BDDD-D8E957715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B1814-D1FE-5023-8C37-4B4608C15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D8958-4744-4512-A73A-B7842DF6E36C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F094A-298F-FDFA-4D91-6588A271D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3672-D3D0-7929-56D0-B59094E2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93F15-B846-4730-BCA4-E2B24E6D47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6927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ctrTitle"/>
          </p:nvPr>
        </p:nvSpPr>
        <p:spPr>
          <a:xfrm>
            <a:off x="1191909" y="1051240"/>
            <a:ext cx="8011358" cy="234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CA" dirty="0"/>
              <a:t>Thesis Proposal Defence</a:t>
            </a:r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1191909" y="3393929"/>
            <a:ext cx="7841294" cy="71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CA" dirty="0"/>
              <a:t>Brain-Computer Interface Applications with Hardware Specific Optimizations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1191909" y="4398461"/>
            <a:ext cx="7841294" cy="41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Aleksander Berezowski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41ADB208-624C-BEFE-132D-DE5C94B3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7240D1BF-18A6-0086-A2F3-56C32DECFB5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1005408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Contents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22BFA106-D1A1-FBB2-E065-16FD2B5FCAE7}"/>
              </a:ext>
            </a:extLst>
          </p:cNvPr>
          <p:cNvSpPr txBox="1"/>
          <p:nvPr/>
        </p:nvSpPr>
        <p:spPr>
          <a:xfrm>
            <a:off x="4587036" y="2124740"/>
            <a:ext cx="3769564" cy="26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Research Question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Literature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Preliminary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Proposed Chapter Headings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Next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604380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B21076B0-E035-62EA-F0E2-6D14015C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D6FCED5B-A637-9B65-D2E7-11EFC57FDF9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1005408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Research Question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7A7F66F9-5150-3EFD-1EB1-4B7C2A478E4D}"/>
              </a:ext>
            </a:extLst>
          </p:cNvPr>
          <p:cNvSpPr txBox="1"/>
          <p:nvPr/>
        </p:nvSpPr>
        <p:spPr>
          <a:xfrm>
            <a:off x="1073369" y="2310613"/>
            <a:ext cx="10045262" cy="142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CA" sz="2000" dirty="0"/>
              <a:t>How does input size, hidden state size, word size, and the usage of shift-and-add multiplication affect resource usage, inference time, power consumption, and accuracy of brain-computer interface gated recurrent unit machine learning models deployed on field-programmable gate arrays compared to current hardware and software implementations?</a:t>
            </a:r>
          </a:p>
        </p:txBody>
      </p:sp>
    </p:spTree>
    <p:extLst>
      <p:ext uri="{BB962C8B-B14F-4D97-AF65-F5344CB8AC3E}">
        <p14:creationId xmlns:p14="http://schemas.microsoft.com/office/powerpoint/2010/main" val="1887851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E71F492A-6FB2-5E6E-023D-A7C71D8B1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6F62018C-E7F1-E48F-3B9B-C6EEC01FC54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Literature Review: Main Finding 1</a:t>
            </a:r>
            <a:br>
              <a:rPr lang="en-US" sz="4000" dirty="0"/>
            </a:br>
            <a:r>
              <a:rPr lang="en-US" sz="4000" dirty="0"/>
              <a:t>Lack of GRU Hardware Implementations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EB685895-A4F3-81BC-D2DF-950268795FC2}"/>
              </a:ext>
            </a:extLst>
          </p:cNvPr>
          <p:cNvSpPr txBox="1"/>
          <p:nvPr/>
        </p:nvSpPr>
        <p:spPr>
          <a:xfrm>
            <a:off x="4464934" y="1895745"/>
            <a:ext cx="7028128" cy="398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Hardware implementations of GRUs are scarce, with only two documented implementations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Zaghloul et al. [1] first implemented an FPGA-based GRU, demonstrating equivalent performance to LSTMs across multiple time-series datasets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Rizwan et al. [2] reimplemented GRUs with a focus on detecting breast cancer (multivariate classification) 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No prior work has explored GRU hardware optimization or hardware GRUs applied to BCI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Limited implementations due to GRUs being new and less used compared to LSTMs [3]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diagram of a flowchart&#10;&#10;AI-generated content may be incorrect.">
            <a:extLst>
              <a:ext uri="{FF2B5EF4-FFF2-40B4-BE49-F238E27FC236}">
                <a16:creationId xmlns:a16="http://schemas.microsoft.com/office/drawing/2014/main" id="{089A60D3-FAE6-0441-686C-392085E0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0448"/>
            <a:ext cx="4366415" cy="30205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1B82AA-2F31-2DCC-6F78-AEAF47E662F0}"/>
              </a:ext>
            </a:extLst>
          </p:cNvPr>
          <p:cNvSpPr txBox="1"/>
          <p:nvPr/>
        </p:nvSpPr>
        <p:spPr>
          <a:xfrm>
            <a:off x="0" y="5957754"/>
            <a:ext cx="121920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1. Z. S. Zaghloul and N. Elsayed, "The FPGA Hardware Implementation of the Gated Recurrent Unit Architecture," </a:t>
            </a:r>
            <a:r>
              <a:rPr lang="en-US" sz="1050" dirty="0" err="1"/>
              <a:t>SoutheastCon</a:t>
            </a:r>
            <a:r>
              <a:rPr lang="en-US" sz="1050" dirty="0"/>
              <a:t> 2021, Atlanta, GA, USA, 2021, pp. 1-5, </a:t>
            </a:r>
            <a:r>
              <a:rPr lang="en-US" sz="1050" dirty="0" err="1"/>
              <a:t>doi</a:t>
            </a:r>
            <a:r>
              <a:rPr lang="en-US" sz="1050" dirty="0"/>
              <a:t>: 10.1109/SoutheastCon45413.2021.9401819.</a:t>
            </a:r>
          </a:p>
          <a:p>
            <a:r>
              <a:rPr lang="en-US" sz="1050" dirty="0"/>
              <a:t>2. </a:t>
            </a:r>
            <a:r>
              <a:rPr lang="en-CA" sz="1050" dirty="0"/>
              <a:t>K. S. Mohammed Rizwan, S. Nikhil Gowda, S. Yashwanth and K. </a:t>
            </a:r>
            <a:r>
              <a:rPr lang="en-CA" sz="1050" dirty="0" err="1"/>
              <a:t>Anuros</a:t>
            </a:r>
            <a:r>
              <a:rPr lang="en-CA" sz="1050" dirty="0"/>
              <a:t> Thomas, "Custom Hardware Architecture for FPGA-Based Gated Recurrent Unit," 2025 IEEE 14th International Conference on Communications, Circuits and Systems (ICCCAS), Wuhan, China, 2025, pp. 81-86, </a:t>
            </a:r>
            <a:r>
              <a:rPr lang="en-CA" sz="1050" dirty="0" err="1"/>
              <a:t>doi</a:t>
            </a:r>
            <a:r>
              <a:rPr lang="en-CA" sz="1050" dirty="0"/>
              <a:t>: 10.1109/ICCCAS65806.2025.11102499.</a:t>
            </a:r>
          </a:p>
          <a:p>
            <a:r>
              <a:rPr lang="en-CA" sz="1050" dirty="0"/>
              <a:t>3. </a:t>
            </a:r>
            <a:r>
              <a:rPr lang="en-US" sz="1050" dirty="0"/>
              <a:t>J. Chung, C. </a:t>
            </a:r>
            <a:r>
              <a:rPr lang="en-US" sz="1050" dirty="0" err="1"/>
              <a:t>Gulcehre</a:t>
            </a:r>
            <a:r>
              <a:rPr lang="en-US" sz="1050" dirty="0"/>
              <a:t>, K. Cho, and Y. Bengio, “Empirical evaluation of gated recurrent neural networks on sequence modeling,” </a:t>
            </a:r>
            <a:r>
              <a:rPr lang="en-US" sz="1050" dirty="0" err="1"/>
              <a:t>arXiv</a:t>
            </a:r>
            <a:r>
              <a:rPr lang="en-US" sz="1050" dirty="0"/>
              <a:t> preprint arXiv:1412.3555, 2014</a:t>
            </a:r>
            <a:endParaRPr lang="en-CA" sz="1050" dirty="0"/>
          </a:p>
        </p:txBody>
      </p:sp>
    </p:spTree>
    <p:extLst>
      <p:ext uri="{BB962C8B-B14F-4D97-AF65-F5344CB8AC3E}">
        <p14:creationId xmlns:p14="http://schemas.microsoft.com/office/powerpoint/2010/main" val="23203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B4A33510-2F5E-172C-D6F5-8539FAECE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888BA978-07CD-44D7-0881-01BD429EF6C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/>
            <a:r>
              <a:rPr lang="en-US" sz="4000" dirty="0"/>
              <a:t>Literature Review: Main Finding 2</a:t>
            </a:r>
            <a:br>
              <a:rPr lang="en-US" sz="4000" dirty="0"/>
            </a:br>
            <a:r>
              <a:rPr lang="en-US" sz="4000" dirty="0"/>
              <a:t>Potential Hardware Optimizations</a:t>
            </a:r>
            <a:endParaRPr sz="4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22D7BC-EE43-BF5B-30CA-2B62ED9FB983}"/>
              </a:ext>
            </a:extLst>
          </p:cNvPr>
          <p:cNvGraphicFramePr>
            <a:graphicFrameLocks noGrp="1"/>
          </p:cNvGraphicFramePr>
          <p:nvPr/>
        </p:nvGraphicFramePr>
        <p:xfrm>
          <a:off x="928194" y="1774613"/>
          <a:ext cx="10335611" cy="4152900"/>
        </p:xfrm>
        <a:graphic>
          <a:graphicData uri="http://schemas.openxmlformats.org/drawingml/2006/table">
            <a:tbl>
              <a:tblPr firstRow="1" firstCol="1" bandRow="1"/>
              <a:tblGrid>
                <a:gridCol w="3683220">
                  <a:extLst>
                    <a:ext uri="{9D8B030D-6E8A-4147-A177-3AD203B41FA5}">
                      <a16:colId xmlns:a16="http://schemas.microsoft.com/office/drawing/2014/main" val="4182636720"/>
                    </a:ext>
                  </a:extLst>
                </a:gridCol>
                <a:gridCol w="6652391">
                  <a:extLst>
                    <a:ext uri="{9D8B030D-6E8A-4147-A177-3AD203B41FA5}">
                      <a16:colId xmlns:a16="http://schemas.microsoft.com/office/drawing/2014/main" val="1985014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Optimization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Summary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4932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Shift-And-Add Multiplication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Substitution of conventional multipliers with lower-complexity shift and addition/subtraction operations</a:t>
                      </a:r>
                      <a:endParaRPr lang="en-CA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399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Bit Serial Structures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Transformation of parallel arithmetic operations executed in single clock cycles into serial arithmetic operations distributed across multiple clock cycles</a:t>
                      </a:r>
                      <a:endParaRPr lang="en-CA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755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Distributed Arithmetic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Replacement of runtime multiplication operations with precomputed partial sum lookup mechanisms</a:t>
                      </a:r>
                      <a:endParaRPr lang="en-CA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912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Mixed Precision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Utilization of variable bit-width numerical representations to optimize resource allocation</a:t>
                      </a:r>
                      <a:endParaRPr lang="en-CA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7906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Alternative Implementation of Sigmoid and Hyperbolic Tangent Functions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Substitution of piecewise linear approximation (PLA) implementations of sigmoid and hyperbolic tangent functions with lookup table (LUT) architectures</a:t>
                      </a:r>
                      <a:endParaRPr lang="en-CA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3209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37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3456A69D-D68C-6FD0-8BEF-AF7E15FDB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FD4414C0-7930-8F9D-7C06-DEAEB636EF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Methodology: Experimental Design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0EA55545-E45D-2C16-7FA6-E33C63743490}"/>
              </a:ext>
            </a:extLst>
          </p:cNvPr>
          <p:cNvSpPr txBox="1"/>
          <p:nvPr/>
        </p:nvSpPr>
        <p:spPr>
          <a:xfrm>
            <a:off x="876300" y="1582478"/>
            <a:ext cx="10439400" cy="398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CA" sz="2000" dirty="0"/>
              <a:t>The experimental system comprises several interconnected Python modules and a TCL script that automate the entire design, implementation, and analysis pipeline: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Python scripts (generate_gru_sv.py, generate_top_level_sv.py, generate_gru_tb_sv.py) automatically generate SystemVerilog code for the GRU module, top-level wrapper, and testbench based on specified parameters.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A TCL script (</a:t>
            </a:r>
            <a:r>
              <a:rPr lang="en-CA" sz="2000" dirty="0" err="1"/>
              <a:t>run_vivado.tcl</a:t>
            </a:r>
            <a:r>
              <a:rPr lang="en-CA" sz="2000" dirty="0"/>
              <a:t>) orchestrates the Xilinx Vivado tool to perform simulation, synthesis, optimization, placement, and routing while generating detailed reports.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Python scripts (extract_metrics.py, float_to_fixed_point.py) parse Vivado-generated reports and simulation outputs to extract hardware metrics and calculate accuracy measurements.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The main orchestration script (main.py) coordinates all phases, collects results, calculates Mean Absolute Error (MAE) metrics, and compiles data into a structured format for analysis.</a:t>
            </a:r>
          </a:p>
        </p:txBody>
      </p:sp>
    </p:spTree>
    <p:extLst>
      <p:ext uri="{BB962C8B-B14F-4D97-AF65-F5344CB8AC3E}">
        <p14:creationId xmlns:p14="http://schemas.microsoft.com/office/powerpoint/2010/main" val="222460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095B71A0-6ECE-BE08-04F9-3428563C3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151F4B76-6AA9-6524-14A0-25C637CADB7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Methodology: Trial Execution Flow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8DA7F7FB-B4FC-B384-8129-ECAAEE019922}"/>
              </a:ext>
            </a:extLst>
          </p:cNvPr>
          <p:cNvSpPr txBox="1"/>
          <p:nvPr/>
        </p:nvSpPr>
        <p:spPr>
          <a:xfrm>
            <a:off x="592667" y="1582478"/>
            <a:ext cx="11514665" cy="446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CA" dirty="0"/>
              <a:t>Each experimental trial follows a structured sequence to ensure consistency and data integrity: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Environment Initialization: The system clears previous results and initializes a tracking file to monitor progress through the large design space.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Parameter Configuration: For each combination of INT_WIDTH, FRAC_WIDTH, d, and h, the system sets these values as constants in the code generation scripts.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RTL Generation: Generate all the SystemVerilog script needed.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Vivado Execution: The TCL script (</a:t>
            </a:r>
            <a:r>
              <a:rPr lang="en-CA" dirty="0" err="1"/>
              <a:t>run_vivado.tcl</a:t>
            </a:r>
            <a:r>
              <a:rPr lang="en-CA" dirty="0"/>
              <a:t>) performs the following operations: Creates a Vivado project, adds all generated SystemVerilog files, applies timing constraints, runs simulation, executes synthesis, performs placement and routing, generates detailed reports on utilization, timing, and power consumption.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Data Capture: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extract_metrics.py parses multiple report formats using regular expressions to extract hardware metrics (LUTs, registers, BRAMs, DSPs, WNS, power consumption).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Simulation outputs are written to text files containing fixed-point binary representations of GRU predictions.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Accuracy Calculation: For each group sharing the same d, h, a ground truth is calculated using floating point numbers. MAE is computed between all other configurations and this reference using </a:t>
            </a:r>
            <a:r>
              <a:rPr lang="en-CA" dirty="0" err="1"/>
              <a:t>calculate_mae_metrics</a:t>
            </a:r>
            <a:r>
              <a:rPr lang="en-CA" dirty="0"/>
              <a:t>(). </a:t>
            </a:r>
          </a:p>
        </p:txBody>
      </p:sp>
    </p:spTree>
    <p:extLst>
      <p:ext uri="{BB962C8B-B14F-4D97-AF65-F5344CB8AC3E}">
        <p14:creationId xmlns:p14="http://schemas.microsoft.com/office/powerpoint/2010/main" val="2681078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A080DA9F-D8FD-0566-B9A0-F9832EA2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FE679A43-B061-98AC-DB0D-89C51E0915C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Preliminary Findings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BCDE1675-A125-824D-78A2-F481D48E13A5}"/>
              </a:ext>
            </a:extLst>
          </p:cNvPr>
          <p:cNvSpPr txBox="1"/>
          <p:nvPr/>
        </p:nvSpPr>
        <p:spPr>
          <a:xfrm>
            <a:off x="2171700" y="1607878"/>
            <a:ext cx="7848599" cy="446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Searched the following reduced action space: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INT_WIDTH: 6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FRAC_WIDTH: 4, 9, 14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d: 4, 8, 16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h: 4, 6,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Simulations and implementations took about 1 day to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To run the entire action space, will run on a desktop better suited for Vivado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CPU with a better single core performance and higher clock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Larger amount of and higher frequency 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Linux system instead of Windows</a:t>
            </a:r>
          </a:p>
        </p:txBody>
      </p:sp>
    </p:spTree>
    <p:extLst>
      <p:ext uri="{BB962C8B-B14F-4D97-AF65-F5344CB8AC3E}">
        <p14:creationId xmlns:p14="http://schemas.microsoft.com/office/powerpoint/2010/main" val="113448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622086CF-1F7C-2FEC-4F61-3FB666C7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0B4AAA05-B818-3B5C-D4BC-36E1519C0C0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Preliminary Findings</a:t>
            </a:r>
            <a:endParaRPr sz="4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3877C9-ABBC-B472-ACD9-A45A0B2AB9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06" y="1690688"/>
            <a:ext cx="11192387" cy="4372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6059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4D14C17E-32FE-9C67-B70F-315A8BE43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1B000D13-DBBF-69DF-2530-96851BF8EF2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480475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Preliminary Findings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544F62-2088-E3F4-FDE5-95D2E2E2C7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989" y="2037690"/>
            <a:ext cx="5119255" cy="3808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CC12EC-ECBA-3F28-552E-D530BD01CA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37691"/>
            <a:ext cx="5162099" cy="3808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1132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827CE79F-FF6D-1686-5FBC-CAA64F55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065F42B9-BF00-B13D-3A9C-DCBD8848D77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1555742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Proposed Chapter Headings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14C86166-3910-6663-89B1-71AD05A5208A}"/>
              </a:ext>
            </a:extLst>
          </p:cNvPr>
          <p:cNvSpPr txBox="1"/>
          <p:nvPr/>
        </p:nvSpPr>
        <p:spPr>
          <a:xfrm>
            <a:off x="4400550" y="2451209"/>
            <a:ext cx="3390900" cy="258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Chapter 1: Abstract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Chapter 2: 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Chapter 3: 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Chapter 4: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Chapter 5: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Chapter 6: Discussion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Chapter 7: 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Chapter 8: 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Chapter 9: References</a:t>
            </a:r>
          </a:p>
        </p:txBody>
      </p:sp>
    </p:spTree>
    <p:extLst>
      <p:ext uri="{BB962C8B-B14F-4D97-AF65-F5344CB8AC3E}">
        <p14:creationId xmlns:p14="http://schemas.microsoft.com/office/powerpoint/2010/main" val="3284379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F7774E69-BF92-8429-2EE7-95D05536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A8FD38BD-139B-CE6F-8697-DC299A28377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1250939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Next Steps</a:t>
            </a:r>
            <a:endParaRPr sz="4000" dirty="0"/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EEE314A1-085B-CA1E-22BF-83B9DE3CD5A6}"/>
              </a:ext>
            </a:extLst>
          </p:cNvPr>
          <p:cNvSpPr txBox="1"/>
          <p:nvPr/>
        </p:nvSpPr>
        <p:spPr>
          <a:xfrm>
            <a:off x="2958041" y="2112539"/>
            <a:ext cx="6275917" cy="346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Rerun simulation with bigger action space - December 16</a:t>
            </a:r>
            <a:r>
              <a:rPr lang="en-CA" baseline="30000" dirty="0"/>
              <a:t>th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Analyze Results - December 18</a:t>
            </a:r>
            <a:r>
              <a:rPr lang="en-CA" baseline="30000" dirty="0"/>
              <a:t>th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Write conference paper for EMBC - January 1</a:t>
            </a:r>
            <a:r>
              <a:rPr lang="en-CA" baseline="30000" dirty="0"/>
              <a:t>st</a:t>
            </a:r>
            <a:r>
              <a:rPr lang="en-CA" dirty="0"/>
              <a:t> 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Submit to EMBC - January 23</a:t>
            </a:r>
            <a:r>
              <a:rPr lang="en-CA" baseline="30000" dirty="0"/>
              <a:t>rd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Implement Shift-Add Multiplication - February 13</a:t>
            </a:r>
            <a:r>
              <a:rPr lang="en-CA" baseline="30000" dirty="0"/>
              <a:t>th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Conduct Simulation - February 20</a:t>
            </a:r>
            <a:r>
              <a:rPr lang="en-CA" baseline="30000" dirty="0"/>
              <a:t>th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Analyze Data - March 2</a:t>
            </a:r>
            <a:r>
              <a:rPr lang="en-CA" baseline="30000" dirty="0"/>
              <a:t>nd</a:t>
            </a:r>
            <a:r>
              <a:rPr lang="en-CA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Write Thesis - April 2</a:t>
            </a:r>
            <a:r>
              <a:rPr lang="en-CA" baseline="30000" dirty="0"/>
              <a:t>nd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Present Thesis - April 14</a:t>
            </a:r>
            <a:r>
              <a:rPr lang="en-CA" baseline="30000" dirty="0"/>
              <a:t>th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Find Conference to Submit To - April 14</a:t>
            </a:r>
            <a:r>
              <a:rPr lang="en-CA" baseline="30000" dirty="0"/>
              <a:t>th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Submit To Conference - April 30</a:t>
            </a:r>
            <a:r>
              <a:rPr lang="en-CA" baseline="30000" dirty="0"/>
              <a:t>th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3546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4DEBBEE8-6BEB-84F5-A4C4-BA08E568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B3B91A8F-D3A2-6A40-AC6C-1BDFB8B8F7A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6850" y="2724139"/>
            <a:ext cx="8418300" cy="86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en-CA" sz="4000" dirty="0"/>
              <a:t>Q&amp;A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4022220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1049</Words>
  <Application>Microsoft Office PowerPoint</Application>
  <PresentationFormat>Widescreen</PresentationFormat>
  <Paragraphs>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Thesis Proposal Defence</vt:lpstr>
      <vt:lpstr>Contents</vt:lpstr>
      <vt:lpstr>Research Question</vt:lpstr>
      <vt:lpstr>Literature Review: Main Finding 1 Lack of GRU Hardware Implementations</vt:lpstr>
      <vt:lpstr>Literature Review: Main Finding 2 Potential Hardware Optimizations</vt:lpstr>
      <vt:lpstr>Methodology: Experimental Design</vt:lpstr>
      <vt:lpstr>Methodology: Trial Execution Flow</vt:lpstr>
      <vt:lpstr>Preliminary Findings</vt:lpstr>
      <vt:lpstr>Preliminary Findings</vt:lpstr>
      <vt:lpstr>Preliminary Findings</vt:lpstr>
      <vt:lpstr>Proposed Chapter Headings</vt:lpstr>
      <vt:lpstr>Next Steps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Aleksander Berezowski</dc:creator>
  <cp:lastModifiedBy>Aleksander Berezowski</cp:lastModifiedBy>
  <cp:revision>2</cp:revision>
  <dcterms:created xsi:type="dcterms:W3CDTF">2025-11-29T20:44:58Z</dcterms:created>
  <dcterms:modified xsi:type="dcterms:W3CDTF">2025-11-29T22:14:53Z</dcterms:modified>
</cp:coreProperties>
</file>