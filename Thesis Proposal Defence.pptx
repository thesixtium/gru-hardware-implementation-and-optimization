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20" r:id="rId2"/>
    <p:sldId id="310" r:id="rId3"/>
    <p:sldId id="311" r:id="rId4"/>
    <p:sldId id="308" r:id="rId5"/>
    <p:sldId id="309" r:id="rId6"/>
    <p:sldId id="312" r:id="rId7"/>
    <p:sldId id="313" r:id="rId8"/>
    <p:sldId id="314" r:id="rId9"/>
    <p:sldId id="315" r:id="rId10"/>
    <p:sldId id="316" r:id="rId11"/>
    <p:sldId id="317" r:id="rId12"/>
    <p:sldId id="318" r:id="rId13"/>
    <p:sldId id="31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72" y="17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8C320-1D1B-4A01-A637-3E15027DC91A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09C17-9C4A-44AD-A755-6D02BE76F22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6525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9C5A72D-34BE-83D4-C090-DDBB486D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36FC8F0A-8C32-6410-7AF3-76A3217CF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5781D02-D4FC-7068-20F8-DF38B8EB1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8139EDA-C94B-E95E-FAFD-C8FCB3B3E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31314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DEC5F04-412D-0D4C-645D-6A26A560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6D828A5-976A-7311-45AF-925D898DB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8B6E365-B34C-196A-F20C-31E9A84BE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702A271-EA69-AA24-DE20-31D2881AA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0724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7C26C5FD-05FF-D1EF-850B-825BD529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B2FFA51D-78FA-0735-6A05-BDD5B1890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FEF380B-E5BB-1893-6D63-C73309B49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FFBDA22-1245-F1B9-8D98-A102FF7B62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56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65C1632-FEEA-D360-E13D-201EDA9F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112C1C9-0954-091B-35BC-32D446F24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240C703-B7E1-597B-6D0A-AFD7D6928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0F8ECB3-DFD5-4057-C97D-B114DED5A7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6414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543AD98F-F849-D265-3311-8D3746ED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C7A4665-1DE5-B1FF-F0B3-DBEDE50E7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9FDFDE6-5B90-423B-F3C0-B97A79A54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67218-CCB8-3909-3F21-334E3D1968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24428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88F041F-1BAB-7CB9-227B-40865812D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F5703A47-CD3C-D729-9233-02082C71D4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C70F761-E569-4CFE-FF58-804B19D90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6DE7F3A4-D3AC-A648-CC88-B5C2ED7D2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621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B7AC93C-3906-6E1D-9A58-67FFFA50E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778504-2104-71B5-C0E5-57E35D55E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63B83C6-95D4-4541-A0EB-EF8BBE33C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466D80D-25B4-DDDE-0C8F-B0E282BB5C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920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F05EB17-FBFE-CE84-FF9B-9A28BE3A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2346ACA-219F-2444-0823-13DD9DB46A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AF46781A-CF8E-E757-16A6-8C29B69BD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9325FBE-E492-4E78-D5BC-480A0B4884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323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56CC356-AA7B-DC6F-33FC-C6BEF58B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D6CDD78E-5117-966C-A6A5-03E30F21DD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F260CF8B-72F2-CE0D-3730-D4FEEA112E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D8A84-EE84-D495-0EC2-137B3971EC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77184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81936E02-0A72-25A1-1C8A-8857FE571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42E196FF-E7F7-F8FA-7A59-44AEE3882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2F0EED-7F12-3406-4B73-9709A532AA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9546C0B7-DB40-9253-7B19-7695A1BBBF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18455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7A8853F-53FD-8D14-62E5-7C94549A2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613B360-4229-3BCE-CB24-D49C5C7D87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6C8CAE-1E05-1FC3-FEAB-FA9171A3B7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98E880C-0E7C-6CCE-ED91-E7600F7979D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501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1B56B90-433F-C6E1-B363-B3C4EBBE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A238CE0-46AC-02AA-C02D-DA237C0F3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B682367-6E17-E0C0-25D4-E8FF8ECC85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C824E74-AA5A-2F8F-1583-1C2BC6A81C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3053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0C62F-6101-A73B-305D-446FAD444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0E1D5D-578D-6AAA-92CA-5022CC6A2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99381-BDB0-287D-BD3A-A4F6F67B6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22CC5-7F0F-01AA-622E-A72822C7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EE294-8734-667A-4CC1-33F1828A2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0307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5B90-3DAB-B402-6B3D-F21DA43CA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98A7F-DBC0-9331-9DCF-B46F68853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628D3-B07D-5EB3-AF6B-CC60FFC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3763B-D07D-A9F6-8769-B9BFAC8EF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6C91-479E-E2DF-091B-D959C481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274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6EF0-EF65-3101-044D-CF48BAD30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70FF0-EFC3-0CA5-9355-523891386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52C45-AF55-9A71-9E5E-3E73764DE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54C65-D087-3DF5-A098-CEFE78E6C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F6ED3-E99E-4D54-9E77-309B5A5AC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32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AA32-2975-4511-E628-E3AC861E1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C1685-F9B0-69B8-88A7-11EF2FC47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16F1A-4880-4F2D-FBA5-C6160A4A8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1599-6C8A-80BE-739E-F65DF090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DD288-CA8F-1455-671F-C794A9AC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A48B4D-747D-D3EA-F385-CF038E85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5873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AA93-958C-9BA8-7F74-EFA24F90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9DCC9-724F-4352-2B30-B789FDE7F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B0436-4196-7A40-C499-B5C57AB76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98F888-82A5-8167-7F97-C474D744AC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46BBBA-6674-F249-7B4B-6718D0CCA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2F2864-1078-2E38-55F0-020492A2B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62E1C-971D-0F80-C6CC-887D0DE0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876C3F-BFF9-8F4B-4246-3B86E2D9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363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158E-F6F5-C0D7-52C8-3DF861A4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A60FC-EFEC-EDD5-626A-04B94C576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F0E68-5100-2041-B687-E417082B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157DB-A83A-C356-FF0B-F8D34618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425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59A882-E111-D9DD-2A59-FF43BA48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273CE-5EE7-5C39-99DB-F0336B0F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CF3EF-B866-EBFF-47DB-4C8EC308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14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E8B-38C2-ED97-FCEE-23EEA0944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D525A-6C74-49DB-D696-7A65B1C49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B6F77-E803-9527-3EE8-FF9F03F6F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6A95B-D706-F33E-ED5C-EE2A65BC3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FC7CA-2C96-AA17-F3FD-81C85F32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912E7-2315-7583-38C0-30A95464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7935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B693-E2CB-1E1E-2A55-6A8D122F5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1A6E32-E018-3593-7573-BABEB831F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4387C6-59EB-D0FD-37DA-1E723C7B5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4646C-6889-0DB6-9011-CF35EAC43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4CEA3-9E01-58D0-4C5F-A0A4D1FBC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F275D9-4D13-3B54-F246-7557D99D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0173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332BD-3480-78A8-872D-4603FE780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3981E-EE22-AFCA-081D-0E14C5837D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1C62F-0268-25B0-1A33-E88DD4923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4254B-800B-6241-E0F1-0E8F70BFB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CC8C1B-2BAB-3799-A7E4-19AC6DA0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03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C721A5-CBCB-87EC-D91D-339B60561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DE98F0-24D3-7825-2AA7-19BA4FD902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34B4C-336A-7800-1851-DE5CA467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03C6C-DC62-14C5-BB21-D675B7433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161B4-AA5F-A1A0-2885-444AFF5F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52526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32101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8716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72E72-4B31-84A1-3666-FEBD63F8B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3EC08-4D55-CD23-BDDD-D8E957715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B1814-D1FE-5023-8C37-4B4608C152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D8958-4744-4512-A73A-B7842DF6E36C}" type="datetimeFigureOut">
              <a:rPr lang="en-CA" smtClean="0"/>
              <a:t>2025-12-02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F094A-298F-FDFA-4D91-6588A271D6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3672-D3D0-7929-56D0-B59094E2CA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692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8011358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Thesis Proposal Defence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Brain-Computer Interface Applications with Hardware Specific Optimizations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1ADB208-624C-BEFE-132D-DE5C94B3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7240D1BF-18A6-0086-A2F3-56C32DECFB5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22BFA106-D1A1-FBB2-E065-16FD2B5FCAE7}"/>
              </a:ext>
            </a:extLst>
          </p:cNvPr>
          <p:cNvSpPr txBox="1"/>
          <p:nvPr/>
        </p:nvSpPr>
        <p:spPr>
          <a:xfrm>
            <a:off x="4587036" y="2124740"/>
            <a:ext cx="3769564" cy="260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Research Question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Literature Review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Preliminary Findings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Proposed Chapter Headings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Next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604380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21076B0-E035-62EA-F0E2-6D14015C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FCED5B-A637-9B65-D2E7-11EFC57FDF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Research Question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7A7F66F9-5150-3EFD-1EB1-4B7C2A478E4D}"/>
              </a:ext>
            </a:extLst>
          </p:cNvPr>
          <p:cNvSpPr txBox="1"/>
          <p:nvPr/>
        </p:nvSpPr>
        <p:spPr>
          <a:xfrm>
            <a:off x="1073369" y="2005812"/>
            <a:ext cx="10045262" cy="1423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How does input size, hidden state size, word size, and the usage of shift-and-add multiplication affect resource usage, inference time, power consumption, and accuracy of brain-computer interface gated recurrent unit machine learning models deployed on field-programmable gate arrays compared to current hardware and software implementations?</a:t>
            </a:r>
          </a:p>
        </p:txBody>
      </p:sp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FC1E974C-766A-4495-81CB-8A1FE2D3FA57}"/>
              </a:ext>
            </a:extLst>
          </p:cNvPr>
          <p:cNvSpPr txBox="1"/>
          <p:nvPr/>
        </p:nvSpPr>
        <p:spPr>
          <a:xfrm>
            <a:off x="1073369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Independent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Input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Hidden State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Word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Usage of Shift-and-Add Multiplication</a:t>
            </a:r>
          </a:p>
        </p:txBody>
      </p:sp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CF3A054F-A3DA-0E83-1994-ED6D48165B03}"/>
              </a:ext>
            </a:extLst>
          </p:cNvPr>
          <p:cNvSpPr txBox="1"/>
          <p:nvPr/>
        </p:nvSpPr>
        <p:spPr>
          <a:xfrm>
            <a:off x="6096000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Resource Usage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Inference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Power Consumption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87851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E71F492A-6FB2-5E6E-023D-A7C71D8B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62018C-E7F1-E48F-3B9B-C6EEC01FC5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Literature Review: Main Finding 1</a:t>
            </a:r>
            <a:br>
              <a:rPr lang="en-US" sz="4000" dirty="0"/>
            </a:br>
            <a:r>
              <a:rPr lang="en-US" sz="4000" dirty="0"/>
              <a:t>Limited GRU Hardware Implementations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B685895-A4F3-81BC-D2DF-950268795FC2}"/>
              </a:ext>
            </a:extLst>
          </p:cNvPr>
          <p:cNvSpPr txBox="1"/>
          <p:nvPr/>
        </p:nvSpPr>
        <p:spPr>
          <a:xfrm>
            <a:off x="4464934" y="1895745"/>
            <a:ext cx="7028128" cy="398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Hardware implementations of GRUs are scarce, with only two documented implementations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Zaghloul et al. [1] first implemented an FPGA-based GRU, demonstrating equivalent performance to LSTMs across multiple time-series datasets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Rizwan et al. [2] reimplemented GRUs with a focus on detecting breast cancer (multivariate classification)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No prior work has explored GRU hardware optimization or hardware GRUs applied to BCI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Limited implementations due to GRUs being new and less used compared to LSTMs [3]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diagram of a flowchart&#10;&#10;AI-generated content may be incorrect.">
            <a:extLst>
              <a:ext uri="{FF2B5EF4-FFF2-40B4-BE49-F238E27FC236}">
                <a16:creationId xmlns:a16="http://schemas.microsoft.com/office/drawing/2014/main" id="{089A60D3-FAE6-0441-686C-392085E0D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20448"/>
            <a:ext cx="4366415" cy="3020514"/>
          </a:xfrm>
          <a:prstGeom prst="rect">
            <a:avLst/>
          </a:prstGeom>
        </p:spPr>
      </p:pic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F227C2E2-C885-0B1C-8528-ED497B9C17C6}"/>
              </a:ext>
            </a:extLst>
          </p:cNvPr>
          <p:cNvSpPr txBox="1"/>
          <p:nvPr/>
        </p:nvSpPr>
        <p:spPr>
          <a:xfrm>
            <a:off x="624905" y="5182327"/>
            <a:ext cx="3116604" cy="4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Unraveled GRU Architecture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03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4A33510-2F5E-172C-D6F5-8539FAECE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888BA978-07CD-44D7-0881-01BD429EF6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85454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 algn="ctr"/>
            <a:r>
              <a:rPr lang="en-US" sz="4000" dirty="0"/>
              <a:t>Literature Review: Main Finding 2</a:t>
            </a:r>
            <a:br>
              <a:rPr lang="en-US" sz="4000" dirty="0"/>
            </a:br>
            <a:r>
              <a:rPr lang="en-US" sz="4000" dirty="0"/>
              <a:t>Potential Hardware Optimizations</a:t>
            </a:r>
            <a:endParaRPr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22D7BC-EE43-BF5B-30CA-2B62ED9FB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534461"/>
              </p:ext>
            </p:extLst>
          </p:nvPr>
        </p:nvGraphicFramePr>
        <p:xfrm>
          <a:off x="928194" y="1948118"/>
          <a:ext cx="10335611" cy="4152900"/>
        </p:xfrm>
        <a:graphic>
          <a:graphicData uri="http://schemas.openxmlformats.org/drawingml/2006/table">
            <a:tbl>
              <a:tblPr firstRow="1" firstCol="1" bandRow="1"/>
              <a:tblGrid>
                <a:gridCol w="3683220">
                  <a:extLst>
                    <a:ext uri="{9D8B030D-6E8A-4147-A177-3AD203B41FA5}">
                      <a16:colId xmlns:a16="http://schemas.microsoft.com/office/drawing/2014/main" val="4182636720"/>
                    </a:ext>
                  </a:extLst>
                </a:gridCol>
                <a:gridCol w="6652391">
                  <a:extLst>
                    <a:ext uri="{9D8B030D-6E8A-4147-A177-3AD203B41FA5}">
                      <a16:colId xmlns:a16="http://schemas.microsoft.com/office/drawing/2014/main" val="1985014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Optimization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Summary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4932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Shift-And-Add Multiplication [4]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conventional multipliers with lower-complexity shift and addition/subtraction operations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3998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 Serial Structures [5]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Transformation of parallel arithmetic operations executed in single clock cycles into serial arithmetic operations distributed across multiple clock cycles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88755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Distributed Arithmetic [6]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Replacement of runtime multiplication operations with precomputed partial sum lookup mechanisms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91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Mixed Precision [7]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Utilization of variable bit-width numerical representations to optimize resource allocation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7906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Alternative Implementation of Sigmoid and Hyperbolic Tangent Functions [8]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piecewise linear approximation (PLA) implementations of sigmoid and hyperbolic tangent functions with lookup table (LUT) architectures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3209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37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456A69D-D68C-6FD0-8BEF-AF7E15FDB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D4414C0-7930-8F9D-7C06-DEAEB636EF3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Experimental Design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0EA55545-E45D-2C16-7FA6-E33C63743490}"/>
              </a:ext>
            </a:extLst>
          </p:cNvPr>
          <p:cNvSpPr txBox="1"/>
          <p:nvPr/>
        </p:nvSpPr>
        <p:spPr>
          <a:xfrm>
            <a:off x="876300" y="1582478"/>
            <a:ext cx="10439400" cy="398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The experimental system comprises several interconnected Python modules and a </a:t>
            </a:r>
            <a:r>
              <a:rPr lang="en-CA" sz="2000" dirty="0" err="1"/>
              <a:t>Tcl</a:t>
            </a:r>
            <a:r>
              <a:rPr lang="en-CA" sz="2000" dirty="0"/>
              <a:t> script that automate the entire design, implementation, and analysis pipeline: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CA" sz="2000" dirty="0"/>
              <a:t>Python scripts automatically generate SystemVerilog code for the GRU module, top-level wrapper, and testbench based on specified parameters.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CA" sz="2000" dirty="0"/>
              <a:t>A </a:t>
            </a:r>
            <a:r>
              <a:rPr lang="en-CA" sz="2000" dirty="0" err="1"/>
              <a:t>Tcl</a:t>
            </a:r>
            <a:r>
              <a:rPr lang="en-CA" sz="2000" dirty="0"/>
              <a:t> script orchestrates the Xilinx Vivado tool to perform simulation, synthesis, optimization, placement, and routing while generating detailed reports.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CA" sz="2000" dirty="0"/>
              <a:t>Python scripts parse Vivado-generated reports and simulation outputs to extract hardware metrics and calculate accuracy measurements.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CA" sz="2000" dirty="0"/>
              <a:t>The main script coordinates all phases, collects results, calculates Mean Absolute Error (MAE), and compiles data into a structured format for analysis.</a:t>
            </a:r>
          </a:p>
        </p:txBody>
      </p:sp>
    </p:spTree>
    <p:extLst>
      <p:ext uri="{BB962C8B-B14F-4D97-AF65-F5344CB8AC3E}">
        <p14:creationId xmlns:p14="http://schemas.microsoft.com/office/powerpoint/2010/main" val="222460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95B71A0-6ECE-BE08-04F9-3428563C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51F4B76-6AA9-6524-14A0-25C637CADB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Trial Execution Flow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8DA7F7FB-B4FC-B384-8129-ECAAEE019922}"/>
              </a:ext>
            </a:extLst>
          </p:cNvPr>
          <p:cNvSpPr txBox="1"/>
          <p:nvPr/>
        </p:nvSpPr>
        <p:spPr>
          <a:xfrm>
            <a:off x="592667" y="1582478"/>
            <a:ext cx="11514665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Each experimental trial follows a structured sequence to ensure consistency and data integrity: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Environment Initialization: The system clears previous results and initializes a tracking file to monitor progress through the large design space.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Parameter Configuration: For each combination of INT_WIDTH, FRAC_WIDTH, d, and h, the system sets these values as constants in the code generation scripts.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RTL Generation: Generate all the SystemVerilog script needed.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Vivado Execution: The TCL script (</a:t>
            </a:r>
            <a:r>
              <a:rPr lang="en-CA" dirty="0" err="1"/>
              <a:t>run_vivado.tcl</a:t>
            </a:r>
            <a:r>
              <a:rPr lang="en-CA" dirty="0"/>
              <a:t>) performs the following operations: Creates a Vivado project, adds all generated SystemVerilog files, applies timing constraints, runs simulation, executes synthesis, performs placement and routing, generates detailed reports on utilization, timing, and power consumption.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Data Capture: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extract_metrics.py parses multiple report formats using regular expressions to extract hardware metrics (LUTs, registers, BRAMs, DSPs, WNS, power consumption).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Simulation outputs are written to text files containing fixed-point binary representations of GRU predictions.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Accuracy Calculation: For each group sharing the same d, h, a ground truth is calculated using floating point numbers. MAE is computed between all other configurations and this reference using </a:t>
            </a:r>
            <a:r>
              <a:rPr lang="en-CA" dirty="0" err="1"/>
              <a:t>calculate_mae_metrics</a:t>
            </a:r>
            <a:r>
              <a:rPr lang="en-CA" dirty="0"/>
              <a:t>(). </a:t>
            </a:r>
          </a:p>
        </p:txBody>
      </p:sp>
    </p:spTree>
    <p:extLst>
      <p:ext uri="{BB962C8B-B14F-4D97-AF65-F5344CB8AC3E}">
        <p14:creationId xmlns:p14="http://schemas.microsoft.com/office/powerpoint/2010/main" val="2681078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A080DA9F-D8FD-0566-B9A0-F9832EA2E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E679A43-B061-98AC-DB0D-89C51E0915C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BCDE1675-A125-824D-78A2-F481D48E13A5}"/>
              </a:ext>
            </a:extLst>
          </p:cNvPr>
          <p:cNvSpPr txBox="1"/>
          <p:nvPr/>
        </p:nvSpPr>
        <p:spPr>
          <a:xfrm>
            <a:off x="2171700" y="1607878"/>
            <a:ext cx="7848599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Searched the following reduced action space: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INT_WIDTH: 6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FRAC_WIDTH: 4, 9, 14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d: 4, 8, 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h: 4, 6, 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Simulations and implementations took about 1 day to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To run the entire action space, will run on a desktop better suited for Vivado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CPU with a better single core performance and higher clock rate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Larger amount of and higher frequency RAM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Linux system instead of Windows</a:t>
            </a:r>
          </a:p>
        </p:txBody>
      </p:sp>
    </p:spTree>
    <p:extLst>
      <p:ext uri="{BB962C8B-B14F-4D97-AF65-F5344CB8AC3E}">
        <p14:creationId xmlns:p14="http://schemas.microsoft.com/office/powerpoint/2010/main" val="113448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622086CF-1F7C-2FEC-4F61-3FB666C7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B4AAA05-B818-3B5C-D4BC-36E1519C0C0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pic>
        <p:nvPicPr>
          <p:cNvPr id="4" name="Picture 3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9233DEE2-3111-8C7C-C7A0-25CABF89B8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88" y="1912196"/>
            <a:ext cx="11430023" cy="446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59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14C17E-32FE-9C67-B70F-315A8BE43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B000D13-DBBF-69DF-2530-96851BF8EF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Questions</a:t>
            </a:r>
            <a:endParaRPr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44F62-2088-E3F4-FDE5-95D2E2E2C7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8989" y="2819088"/>
            <a:ext cx="5119255" cy="380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CC12EC-ECBA-3F28-552E-D530BD01CA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19089"/>
            <a:ext cx="5162099" cy="380806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4FD926B7-9B81-1344-56FA-35BDDDA44E1D}"/>
              </a:ext>
            </a:extLst>
          </p:cNvPr>
          <p:cNvSpPr txBox="1"/>
          <p:nvPr/>
        </p:nvSpPr>
        <p:spPr>
          <a:xfrm>
            <a:off x="941363" y="1415564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two distinct groups of points? A third of point are much higher than the rest. Hypothesized that all the highest points have the lowest fractional bits, but then why aren’t there 3 groups? </a:t>
            </a:r>
          </a:p>
        </p:txBody>
      </p:sp>
      <p:sp>
        <p:nvSpPr>
          <p:cNvPr id="5" name="Google Shape;53;p9">
            <a:extLst>
              <a:ext uri="{FF2B5EF4-FFF2-40B4-BE49-F238E27FC236}">
                <a16:creationId xmlns:a16="http://schemas.microsoft.com/office/drawing/2014/main" id="{586661B3-B4A3-7C30-6144-7809EAE6E8FF}"/>
              </a:ext>
            </a:extLst>
          </p:cNvPr>
          <p:cNvSpPr txBox="1"/>
          <p:nvPr/>
        </p:nvSpPr>
        <p:spPr>
          <a:xfrm>
            <a:off x="6540730" y="1415563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multiple results where no DSPs are used? What causes DSPs not to be used, and is there a shared characteristic between all the designs with 0 DSPs? Are LUT based multipliers being used instead?</a:t>
            </a:r>
          </a:p>
        </p:txBody>
      </p:sp>
    </p:spTree>
    <p:extLst>
      <p:ext uri="{BB962C8B-B14F-4D97-AF65-F5344CB8AC3E}">
        <p14:creationId xmlns:p14="http://schemas.microsoft.com/office/powerpoint/2010/main" val="308113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27CE79F-FF6D-1686-5FBC-CAA64F55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65F42B9-BF00-B13D-3A9C-DCBD8848D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555742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Proposed Chapter Headings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14C86166-3910-6663-89B1-71AD05A5208A}"/>
              </a:ext>
            </a:extLst>
          </p:cNvPr>
          <p:cNvSpPr txBox="1"/>
          <p:nvPr/>
        </p:nvSpPr>
        <p:spPr>
          <a:xfrm>
            <a:off x="4400550" y="2451209"/>
            <a:ext cx="3390900" cy="258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1: Abstract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2: 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3: Literature 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4: Methodology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5: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6: Discussion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7: Future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8: 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Chapter 9: References</a:t>
            </a:r>
          </a:p>
        </p:txBody>
      </p:sp>
    </p:spTree>
    <p:extLst>
      <p:ext uri="{BB962C8B-B14F-4D97-AF65-F5344CB8AC3E}">
        <p14:creationId xmlns:p14="http://schemas.microsoft.com/office/powerpoint/2010/main" val="328437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7774E69-BF92-8429-2EE7-95D055368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A8FD38BD-139B-CE6F-8697-DC299A28377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250939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Future Milestones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EE314A1-085B-CA1E-22BF-83B9DE3CD5A6}"/>
              </a:ext>
            </a:extLst>
          </p:cNvPr>
          <p:cNvSpPr txBox="1"/>
          <p:nvPr/>
        </p:nvSpPr>
        <p:spPr>
          <a:xfrm>
            <a:off x="2958041" y="2112539"/>
            <a:ext cx="6275917" cy="3466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Rerun simulation with bigger action space - December 16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Results - December 18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conference paper for EMBC - January 1</a:t>
            </a:r>
            <a:r>
              <a:rPr lang="en-CA" baseline="30000" dirty="0"/>
              <a:t>st</a:t>
            </a:r>
            <a:r>
              <a:rPr lang="en-CA" dirty="0"/>
              <a:t>  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EMBC - January 23</a:t>
            </a:r>
            <a:r>
              <a:rPr lang="en-CA" baseline="30000" dirty="0"/>
              <a:t>rd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Implement Shift-Add Multiplication - February 13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Conduct Simulation - February 20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Data - March 2</a:t>
            </a:r>
            <a:r>
              <a:rPr lang="en-CA" baseline="30000" dirty="0"/>
              <a:t>nd</a:t>
            </a:r>
            <a:r>
              <a:rPr lang="en-CA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Thesis - April 2</a:t>
            </a:r>
            <a:r>
              <a:rPr lang="en-CA" baseline="30000" dirty="0"/>
              <a:t>nd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Present Thesis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Find Conference to Submit To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Conference - April 30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3546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EBBEE8-6BEB-84F5-A4C4-BA08E568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3B91A8F-D3A2-6A40-AC6C-1BDFB8B8F7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762337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References</a:t>
            </a:r>
            <a:endParaRPr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86716-253F-DB6E-4BC4-3C6D1BA4C968}"/>
              </a:ext>
            </a:extLst>
          </p:cNvPr>
          <p:cNvSpPr txBox="1"/>
          <p:nvPr/>
        </p:nvSpPr>
        <p:spPr>
          <a:xfrm>
            <a:off x="518160" y="1660143"/>
            <a:ext cx="1115568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Z. S. Zaghloul and N. Elsayed, "The FPGA Hardware Implementation of the Gated Recurrent Unit Architecture," </a:t>
            </a:r>
            <a:r>
              <a:rPr lang="en-US" sz="1600" dirty="0" err="1"/>
              <a:t>SoutheastCon</a:t>
            </a:r>
            <a:r>
              <a:rPr lang="en-US" sz="1600" dirty="0"/>
              <a:t> 2021, Atlanta, GA, USA, 2021, pp. 1-5, </a:t>
            </a:r>
            <a:r>
              <a:rPr lang="en-US" sz="1600" dirty="0" err="1"/>
              <a:t>doi</a:t>
            </a:r>
            <a:r>
              <a:rPr lang="en-US" sz="1600" dirty="0"/>
              <a:t>: 10.1109/SoutheastCon45413.2021.9401819.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K. S. Mohammed Rizwan, S. Nikhil Gowda, S. Yashwanth and K. </a:t>
            </a:r>
            <a:r>
              <a:rPr lang="en-CA" sz="1600" dirty="0" err="1"/>
              <a:t>Anuros</a:t>
            </a:r>
            <a:r>
              <a:rPr lang="en-CA" sz="1600" dirty="0"/>
              <a:t> Thomas, "Custom Hardware Architecture for FPGA-Based Gated Recurrent Unit," 2025 IEEE 14th International Conference on Communications, Circuits and Systems (ICCCAS), Wuhan, China, 2025, pp. 81-86, </a:t>
            </a:r>
            <a:r>
              <a:rPr lang="en-CA" sz="1600" dirty="0" err="1"/>
              <a:t>doi</a:t>
            </a:r>
            <a:r>
              <a:rPr lang="en-CA" sz="1600" dirty="0"/>
              <a:t>: 10.1109/ICCCAS65806.2025.11102499.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J. Chung, C. </a:t>
            </a:r>
            <a:r>
              <a:rPr lang="en-US" sz="1600" dirty="0" err="1"/>
              <a:t>Gulcehre</a:t>
            </a:r>
            <a:r>
              <a:rPr lang="en-US" sz="1600" dirty="0"/>
              <a:t>, K. Cho, and Y. Bengio, “Empirical evaluation of gated recurrent neural networks on sequence modeling,” </a:t>
            </a:r>
            <a:r>
              <a:rPr lang="en-US" sz="1600" dirty="0" err="1"/>
              <a:t>arXiv</a:t>
            </a:r>
            <a:r>
              <a:rPr lang="en-US" sz="1600" dirty="0"/>
              <a:t> preprint arXiv:1412.3555, 2014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R. Garcia and A. Volkova, "Toward the Multiple Constant Multiplication at Minimal Hardware Cost," in IEEE Transactions on Circuits and Systems I: Regular Papers, vol. 70, no. 5, pp. 1976-1988, May 2023, </a:t>
            </a:r>
            <a:r>
              <a:rPr lang="en-CA" sz="1600" dirty="0" err="1"/>
              <a:t>doi</a:t>
            </a:r>
            <a:r>
              <a:rPr lang="en-CA" sz="1600" dirty="0"/>
              <a:t>: 10.1109/TCSI.2023.3241859.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TAKAMAEDA-YAMAZAKI, H. NAKATSUKA, Y. TANAKA, and K. KISE, “Ultrasmall: A Tiny Soft processor architecture with multi-bit serial </a:t>
            </a:r>
            <a:r>
              <a:rPr lang="en-CA" sz="1600" dirty="0" err="1"/>
              <a:t>datapaths</a:t>
            </a:r>
            <a:r>
              <a:rPr lang="en-CA" sz="1600" dirty="0"/>
              <a:t> for </a:t>
            </a:r>
            <a:r>
              <a:rPr lang="en-CA" sz="1600" dirty="0" err="1"/>
              <a:t>fpgas</a:t>
            </a:r>
            <a:r>
              <a:rPr lang="en-CA" sz="1600" dirty="0"/>
              <a:t>,” </a:t>
            </a:r>
            <a:r>
              <a:rPr lang="en-CA" sz="1600" i="1" dirty="0"/>
              <a:t>IEICE Transactions on Information and Systems</a:t>
            </a:r>
            <a:r>
              <a:rPr lang="en-CA" sz="1600" dirty="0"/>
              <a:t>, vol. E98.D, no. 12, pp. 2150–2158, 2015.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A. White, "Applications of distributed arithmetic to digital signal processing: a tutorial review," in IEEE ASSP Magazine, vol. 6, no. 3, pp. 4-19, July 1989, </a:t>
            </a:r>
            <a:r>
              <a:rPr lang="en-CA" sz="1600" dirty="0" err="1"/>
              <a:t>doi</a:t>
            </a:r>
            <a:r>
              <a:rPr lang="en-CA" sz="1600" dirty="0"/>
              <a:t>: 10.1109/53.29648.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A. </a:t>
            </a:r>
            <a:r>
              <a:rPr lang="en-CA" sz="1600" dirty="0" err="1"/>
              <a:t>Shawahna</a:t>
            </a:r>
            <a:r>
              <a:rPr lang="en-CA" sz="1600" dirty="0"/>
              <a:t>, S. M. Sait, and A. El-Maleh, “FPGA-based accelerators of deep learning networks for learning and classification: A Review,” </a:t>
            </a:r>
            <a:r>
              <a:rPr lang="en-CA" sz="1600" i="1" dirty="0"/>
              <a:t>IEEE Access</a:t>
            </a:r>
            <a:r>
              <a:rPr lang="en-CA" sz="1600" dirty="0"/>
              <a:t>, vol. 7, pp. 7823–7859, 2019. doi:10.1109/access.2018.2890150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</a:t>
            </a:r>
            <a:r>
              <a:rPr lang="en-CA" sz="1600" dirty="0" err="1"/>
              <a:t>Sorayaasa</a:t>
            </a:r>
            <a:r>
              <a:rPr lang="en-CA" sz="1600" dirty="0"/>
              <a:t>, “Different Implementation Methods of TANH on FPGAs For Neural Networks Application,” thesis, 2022 </a:t>
            </a:r>
          </a:p>
        </p:txBody>
      </p:sp>
    </p:spTree>
    <p:extLst>
      <p:ext uri="{BB962C8B-B14F-4D97-AF65-F5344CB8AC3E}">
        <p14:creationId xmlns:p14="http://schemas.microsoft.com/office/powerpoint/2010/main" val="4022220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1325</Words>
  <Application>Microsoft Office PowerPoint</Application>
  <PresentationFormat>Widescreen</PresentationFormat>
  <Paragraphs>117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Thesis Proposal Defence</vt:lpstr>
      <vt:lpstr>Contents</vt:lpstr>
      <vt:lpstr>Research Question</vt:lpstr>
      <vt:lpstr>Literature Review: Main Finding 1 Limited GRU Hardware Implementations</vt:lpstr>
      <vt:lpstr>Literature Review: Main Finding 2 Potential Hardware Optimizations</vt:lpstr>
      <vt:lpstr>Methodology: Experimental Design</vt:lpstr>
      <vt:lpstr>Methodology: Trial Execution Flow</vt:lpstr>
      <vt:lpstr>Preliminary Findings</vt:lpstr>
      <vt:lpstr>Preliminary Findings</vt:lpstr>
      <vt:lpstr>Preliminary Questions</vt:lpstr>
      <vt:lpstr>Proposed Chapter Headings</vt:lpstr>
      <vt:lpstr>Future Milestones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5</cp:revision>
  <dcterms:created xsi:type="dcterms:W3CDTF">2025-11-29T20:44:58Z</dcterms:created>
  <dcterms:modified xsi:type="dcterms:W3CDTF">2025-12-03T18:41:47Z</dcterms:modified>
</cp:coreProperties>
</file>